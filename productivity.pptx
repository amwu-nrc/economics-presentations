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Default Extension="png" ContentType="image/png"/>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0.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Objects="1">
      <p:cViewPr varScale="1">
        <p:scale>
          <a:sx d="100" n="147"/>
          <a:sy d="100" n="147"/>
        </p:scale>
        <p:origin x="564" y="12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180000" cy="1800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notesMaster" Target="notesMasters/notesMaster1.xml" /><Relationship Id="rId17" Type="http://schemas.openxmlformats.org/officeDocument/2006/relationships/viewProps" Target="viewProps.xml" /><Relationship Id="rId16" Type="http://schemas.openxmlformats.org/officeDocument/2006/relationships/presProps" Target="presProps.xml" /><Relationship Id="rId1" Type="http://schemas.openxmlformats.org/officeDocument/2006/relationships/slideMaster" Target="slideMasters/slideMaster1.xml" /><Relationship Id="rId19" Type="http://schemas.openxmlformats.org/officeDocument/2006/relationships/tableStyles" Target="tableStyles.xml" /><Relationship Id="rId1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3/4/2026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need to understand productivity - how it’s measured, and how bosses talk about it - because it is simultaneously misunderstood and over-emphasised in the media.</a:t>
            </a:r>
          </a:p>
          <a:p>
            <a:pPr lvl="0" indent="0" marL="0">
              <a:buNone/>
            </a:pPr>
          </a:p>
          <a:p>
            <a:pPr lvl="0" indent="0" marL="0">
              <a:buNone/>
            </a:pPr>
            <a:r>
              <a:rPr/>
              <a:t>The newly elected government has set its focus on productivity, and productivity growth, and has got the Productivity Commission in on the action.</a:t>
            </a:r>
          </a:p>
          <a:p>
            <a:pPr lvl="0" indent="0" marL="0">
              <a:buNone/>
            </a:pPr>
          </a:p>
          <a:p>
            <a:pPr lvl="0" indent="0" marL="0">
              <a:buNone/>
            </a:pPr>
            <a:r>
              <a:rPr/>
              <a:t>The Productivity Commission by the way, should be seen as a complete joke. It was created by the Howard government in the 1990s, and sits within the Treasury department.</a:t>
            </a:r>
          </a:p>
          <a:p>
            <a:pPr lvl="0" indent="0" marL="0">
              <a:buNone/>
            </a:pPr>
          </a:p>
          <a:p>
            <a:pPr lvl="0" indent="0" marL="0">
              <a:buNone/>
            </a:pPr>
            <a:r>
              <a:rPr/>
              <a:t>In a FWC hearing in 2025, the chief economist of the Australian Chamber of Commerce and Industry (also a joke) was asked “what factors drove productivity”. He answered that “the Productivity Commission was currently examining those factors”. 35 years since their establishment, and the Productivity Commission is still examining what productivity even is!!!</a:t>
            </a:r>
          </a:p>
          <a:p>
            <a:pPr lvl="0" indent="0" marL="0">
              <a:buNone/>
            </a:pPr>
          </a:p>
          <a:p>
            <a:pPr lvl="0" indent="0" marL="0">
              <a:buNone/>
            </a:pPr>
            <a:r>
              <a:rPr/>
              <a:t>For example, you could lose output in Agriculture from bad weather destroying a crop. Similarly, you could gain output in Mining because high prices make some difficult deposits worth mining.</a:t>
            </a:r>
          </a:p>
          <a:p>
            <a:pPr lvl="0" indent="0" marL="0">
              <a:buNone/>
            </a:pPr>
          </a:p>
          <a:p>
            <a:pPr lvl="0" indent="0" marL="0">
              <a:buNone/>
            </a:pPr>
            <a:r>
              <a:rPr/>
              <a:t>Labour productivity is the most commonly reported productivity. It is relatively simple to measure and describe.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non-market sector includes the Education and Health Care sectors. How is output measured in these sectors? Students graduating? Patients discharged? What would productivity look like? Students graduating per teacher? A measure like that would mean that productivity in the Education sector could be improved by fewer teachers and bigger classes. Anyone who works in Education would say that is not realistic.</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GDP per hour worked, with June 1991 set as the base or reference year.</a:t>
            </a:r>
          </a:p>
          <a:p>
            <a:pPr lvl="0" indent="0" marL="0">
              <a:buNone/>
            </a:pPr>
          </a:p>
          <a:p>
            <a:pPr lvl="0"/>
            <a:r>
              <a:rPr/>
              <a:t>Growth was slowing prior to 2020 anyway, with the increases seen during then probably due to the pandemic.</a:t>
            </a:r>
          </a:p>
          <a:p>
            <a:pPr lvl="0" indent="0" marL="0">
              <a:buNone/>
            </a:pPr>
          </a:p>
          <a:p>
            <a:pPr lvl="0"/>
            <a:r>
              <a:rPr/>
              <a:t>This has been called a productivity ‘bubble’ which I think I agree with.</a:t>
            </a:r>
          </a:p>
          <a:p>
            <a:pPr lvl="0" indent="0" marL="0">
              <a:buNone/>
            </a:pPr>
          </a:p>
          <a:p>
            <a:pPr lvl="0"/>
            <a:r>
              <a:rPr/>
              <a:t>Periods of slow growth have been occurring since the 2000s really.</a:t>
            </a:r>
          </a:p>
          <a:p>
            <a:pPr lvl="0" indent="0" marL="0">
              <a:buNone/>
            </a:pPr>
          </a:p>
          <a:p>
            <a:pPr lvl="0"/>
            <a:r>
              <a:rPr/>
              <a:t>The market sector includes industries like manufacturing, mining, construction, and some services. Things that are produced and sold in the market.</a:t>
            </a:r>
          </a:p>
          <a:p>
            <a:pPr lvl="0" indent="0" marL="0">
              <a:buNone/>
            </a:pPr>
          </a:p>
          <a:p>
            <a:pPr lvl="0"/>
            <a:r>
              <a:rPr/>
              <a:t>The non-market sector</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Productivity is a volatile measure. It is better to measure it across a long time period.</a:t>
            </a:r>
          </a:p>
          <a:p>
            <a:pPr lvl="0" indent="0" marL="0">
              <a:buNone/>
            </a:pPr>
          </a:p>
          <a:p>
            <a:pPr lvl="0" indent="0" marL="0">
              <a:buNone/>
            </a:pPr>
            <a:r>
              <a:rPr/>
              <a:t>The ABS uses a 20 year average “compound average growth rate” formula.</a:t>
            </a:r>
          </a:p>
          <a:p>
            <a:pPr lvl="0" indent="0" marL="0">
              <a:buNone/>
            </a:pPr>
          </a:p>
          <a:p>
            <a:pPr lvl="0"/>
            <a:r>
              <a:rPr/>
              <a:t>Clearly not a new problem</a:t>
            </a:r>
          </a:p>
          <a:p>
            <a:pPr lvl="0" indent="0" marL="0">
              <a:buNone/>
            </a:pPr>
          </a:p>
          <a:p>
            <a:pPr lvl="0"/>
            <a:r>
              <a:rPr/>
              <a:t>20-year average productivity growth was pretty stable up until about 2013</a:t>
            </a:r>
          </a:p>
          <a:p>
            <a:pPr lvl="0" indent="0" marL="0">
              <a:buNone/>
            </a:pPr>
          </a:p>
          <a:p>
            <a:pPr lvl="0"/>
            <a:r>
              <a:rPr/>
              <a:t>Significant declines since then. Covid rebound probably an illusion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Productivity is measured as GDP per hour worked. So we need to look at what is happening with hours worked, and with GDP.</a:t>
            </a:r>
          </a:p>
          <a:p>
            <a:pPr lvl="0" indent="0" marL="0">
              <a:buNone/>
            </a:pPr>
          </a:p>
          <a:p>
            <a:pPr lvl="0" indent="0" marL="0">
              <a:buNone/>
            </a:pPr>
            <a:r>
              <a:rPr/>
              <a:t>I don’t know about you but the increase in hours worked looks like it’s pretty steep.</a:t>
            </a:r>
          </a:p>
          <a:p>
            <a:pPr lvl="0" indent="0" marL="0">
              <a:buNone/>
            </a:pPr>
          </a:p>
          <a:p>
            <a:pPr lvl="0" indent="0" marL="0">
              <a:buNone/>
            </a:pPr>
            <a:r>
              <a:rPr/>
              <a:t>What do we think could have caused that? Are you working more hours? Do you know people who are working more hours? Why?</a:t>
            </a:r>
          </a:p>
          <a:p>
            <a:pPr lvl="0" indent="0" marL="0">
              <a:buNone/>
            </a:pPr>
          </a:p>
          <a:p>
            <a:pPr lvl="0" indent="0" marL="0">
              <a:buNone/>
            </a:pPr>
            <a:r>
              <a:rPr/>
              <a:t>Could it be people working more hours because they’re struggling to make ends meet because of inflation?</a:t>
            </a:r>
          </a:p>
          <a:p>
            <a:pPr lvl="0" indent="0" marL="0">
              <a:buNone/>
            </a:pPr>
          </a:p>
          <a:p>
            <a:pPr lvl="0" indent="0" marL="0">
              <a:buNone/>
            </a:pPr>
            <a:r>
              <a:rPr/>
              <a:t>Even the Productivity Commission recognise that high hours worked is pulling productivity down</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Damn.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Some sectors have experienced productivity growth, and others productivity declines.</a:t>
            </a:r>
          </a:p>
          <a:p>
            <a:pPr lvl="0" indent="0" marL="0">
              <a:buNone/>
            </a:pPr>
          </a:p>
          <a:p>
            <a:pPr lvl="0" indent="0" marL="0">
              <a:buNone/>
            </a:pPr>
            <a:r>
              <a:rPr/>
              <a:t>The Mining sector tends to be a real drag on productivity.</a:t>
            </a:r>
          </a:p>
          <a:p>
            <a:pPr lvl="0" indent="0" marL="0">
              <a:buNone/>
            </a:pPr>
          </a:p>
          <a:p>
            <a:pPr lvl="0" indent="0" marL="0">
              <a:buNone/>
            </a:pPr>
            <a:r>
              <a:rPr/>
              <a:t>Manufacturing outperforms the average.</a:t>
            </a:r>
          </a:p>
          <a:p>
            <a:pPr lvl="0" indent="0" marL="0">
              <a:buNone/>
            </a:pPr>
          </a:p>
          <a:p>
            <a:pPr lvl="0" indent="0" marL="0">
              <a:buNone/>
            </a:pPr>
            <a:r>
              <a:rPr/>
              <a:t>Big productivity improvements in Information media and telecommunications, and Agriculture.</a:t>
            </a:r>
          </a:p>
          <a:p>
            <a:pPr lvl="0" indent="0" marL="0">
              <a:buNone/>
            </a:pPr>
          </a:p>
          <a:p>
            <a:pPr lvl="0" indent="0" marL="0">
              <a:buNone/>
            </a:pPr>
            <a:r>
              <a:rPr/>
              <a:t>Productivity laggards? Non-market sector, like Health Care, Education, Real estate services.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85800" y="2020490"/>
            <a:ext cx="7772400" cy="1102519"/>
          </a:xfrm>
        </p:spPr>
        <p:txBody>
          <a:bodyPr/>
          <a:lstStyle>
            <a:lvl1pPr>
              <a:defRPr sz="4000" b="1" i="0" cap="none" baseline="0">
                <a:solidFill>
                  <a:schemeClr val="tx2"/>
                </a:solidFill>
                <a:latin typeface="Stag" panose="02000603060000020004" pitchFamily="2" charset="0"/>
              </a:defRPr>
            </a:lvl1pPr>
          </a:lstStyle>
          <a:p>
            <a:r>
              <a:rPr lang="en-US" dirty="0"/>
              <a:t>Click to edit master title style</a:t>
            </a:r>
          </a:p>
        </p:txBody>
      </p:sp>
      <p:sp>
        <p:nvSpPr>
          <p:cNvPr id="3" name="Subtitle 2"/>
          <p:cNvSpPr>
            <a:spLocks noGrp="1"/>
          </p:cNvSpPr>
          <p:nvPr>
            <p:ph type="subTitle" idx="1"/>
          </p:nvPr>
        </p:nvSpPr>
        <p:spPr>
          <a:xfrm>
            <a:off x="1512000" y="3529538"/>
            <a:ext cx="6400800" cy="508533"/>
          </a:xfrm>
        </p:spPr>
        <p:txBody>
          <a:bodyPr/>
          <a:lstStyle>
            <a:lvl1pPr marL="0" indent="0" algn="ctr">
              <a:buNone/>
              <a:defRPr sz="2200" b="1" i="0" cap="all" baseline="0">
                <a:solidFill>
                  <a:schemeClr val="tx2"/>
                </a:solidFill>
                <a:latin typeface="Helvetica" pitchFamily="2"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dirty="0"/>
              <a:t>Click to edit Master subtitle style</a:t>
            </a:r>
          </a:p>
        </p:txBody>
      </p:sp>
      <p:pic>
        <p:nvPicPr>
          <p:cNvPr id="7" name="Picture 6" descr="A black and blue logo&#10;&#10;AI-generated content may be incorrect.">
            <a:extLst>
              <a:ext uri="{FF2B5EF4-FFF2-40B4-BE49-F238E27FC236}">
                <a16:creationId xmlns:a16="http://schemas.microsoft.com/office/drawing/2014/main" id="{FE5328CA-2CF8-7AA1-BFBF-639DE8A51604}"/>
              </a:ext>
            </a:extLst>
          </p:cNvPr>
          <p:cNvPicPr>
            <a:picLocks noChangeAspect="1"/>
          </p:cNvPicPr>
          <p:nvPr userDrawn="1"/>
        </p:nvPicPr>
        <p:blipFill>
          <a:blip r:embed="rId3"/>
          <a:srcRect l="1" t="17400" r="-676" b="16465"/>
          <a:stretch>
            <a:fillRect/>
          </a:stretch>
        </p:blipFill>
        <p:spPr>
          <a:xfrm>
            <a:off x="2412000" y="0"/>
            <a:ext cx="3780000" cy="1359694"/>
          </a:xfrm>
          <a:prstGeom prst="rect">
            <a:avLst/>
          </a:prstGeom>
        </p:spPr>
      </p:pic>
      <p:sp>
        <p:nvSpPr>
          <p:cNvPr id="4" name="AutoShape 2">
            <a:extLst>
              <a:ext uri="{FF2B5EF4-FFF2-40B4-BE49-F238E27FC236}">
                <a16:creationId xmlns:a16="http://schemas.microsoft.com/office/drawing/2014/main" id="{BA7A2B98-05DA-985B-02B4-7BF429D6FC88}"/>
              </a:ext>
            </a:extLst>
          </p:cNvPr>
          <p:cNvSpPr/>
          <p:nvPr userDrawn="1"/>
        </p:nvSpPr>
        <p:spPr>
          <a:xfrm rot="10800000">
            <a:off x="4102963" y="3291750"/>
            <a:ext cx="938074" cy="0"/>
          </a:xfrm>
          <a:prstGeom prst="line">
            <a:avLst/>
          </a:prstGeom>
          <a:ln w="28575" cap="flat">
            <a:solidFill>
              <a:srgbClr val="FF5800"/>
            </a:solidFill>
            <a:prstDash val="solid"/>
            <a:headEnd type="none" w="sm" len="sm"/>
            <a:tailEnd type="none" w="sm" len="sm"/>
          </a:ln>
        </p:spPr>
        <p:txBody>
          <a:bodyPr/>
          <a:lstStyle/>
          <a:p>
            <a:endParaRPr lang="en-AU"/>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noAutofit/>
          </a:bodyPr>
          <a:lstStyle>
            <a:lvl1pPr>
              <a:defRPr sz="2400"/>
            </a:lvl1pPr>
          </a:lstStyle>
          <a:p>
            <a:r>
              <a:rPr lang="en-US" dirty="0"/>
              <a:t>Click to edit Master title style</a:t>
            </a:r>
          </a:p>
        </p:txBody>
      </p:sp>
      <p:sp>
        <p:nvSpPr>
          <p:cNvPr id="3" name="Content Placeholder 2"/>
          <p:cNvSpPr>
            <a:spLocks noGrp="1"/>
          </p:cNvSpPr>
          <p:nvPr>
            <p:ph idx="1"/>
          </p:nvPr>
        </p:nvSpPr>
        <p:spPr>
          <a:xfrm>
            <a:off x="457200" y="1587600"/>
            <a:ext cx="8229600" cy="3388923"/>
          </a:xfrm>
        </p:spPr>
        <p:txBody>
          <a:bodyPr>
            <a:normAutofit/>
          </a:bodyPr>
          <a:lstStyle>
            <a:lvl1pPr>
              <a:defRPr sz="1800"/>
            </a:lvl1pPr>
            <a:lvl2pPr>
              <a:defRPr sz="1800"/>
            </a:lvl2pPr>
            <a:lvl3pPr>
              <a:defRPr sz="14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reeform 3" descr="A black and white logo&#10;&#10;AI-generated content may be incorrect.">
            <a:extLst>
              <a:ext uri="{FF2B5EF4-FFF2-40B4-BE49-F238E27FC236}">
                <a16:creationId xmlns:a16="http://schemas.microsoft.com/office/drawing/2014/main" id="{FE1CDE46-3A4A-2014-8F77-5556E9DC868E}"/>
              </a:ext>
            </a:extLst>
          </p:cNvPr>
          <p:cNvSpPr/>
          <p:nvPr userDrawn="1"/>
        </p:nvSpPr>
        <p:spPr>
          <a:xfrm>
            <a:off x="6942719" y="-242685"/>
            <a:ext cx="2110375" cy="1161419"/>
          </a:xfrm>
          <a:custGeom>
            <a:avLst/>
            <a:gdLst/>
            <a:ahLst/>
            <a:cxnLst/>
            <a:rect l="l" t="t" r="r" b="b"/>
            <a:pathLst>
              <a:path w="6533562" h="3675128">
                <a:moveTo>
                  <a:pt x="0" y="0"/>
                </a:moveTo>
                <a:lnTo>
                  <a:pt x="6533562" y="0"/>
                </a:lnTo>
                <a:lnTo>
                  <a:pt x="6533562" y="3675129"/>
                </a:lnTo>
                <a:lnTo>
                  <a:pt x="0" y="3675129"/>
                </a:lnTo>
                <a:lnTo>
                  <a:pt x="0" y="0"/>
                </a:lnTo>
                <a:close/>
              </a:path>
            </a:pathLst>
          </a:custGeom>
          <a:blipFill>
            <a:blip r:embed="rId3"/>
            <a:stretch>
              <a:fillRect/>
            </a:stretch>
          </a:blipFill>
        </p:spPr>
        <p:txBody>
          <a:bodyPr/>
          <a:lstStyle/>
          <a:p>
            <a:endParaRPr lang="en-AU" dirty="0"/>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nchor="t"/>
          <a:lstStyle>
            <a:lvl1pPr algn="ctr">
              <a:defRPr sz="3000" b="1" i="0" cap="none" baseline="0"/>
            </a:lvl1pPr>
          </a:lstStyle>
          <a:p>
            <a:r>
              <a:rPr lang="en-US" dirty="0"/>
              <a:t>Click to edit Master title style</a:t>
            </a:r>
          </a:p>
        </p:txBody>
      </p:sp>
      <p:sp>
        <p:nvSpPr>
          <p:cNvPr id="3" name="Text Placeholder 2"/>
          <p:cNvSpPr>
            <a:spLocks noGrp="1"/>
          </p:cNvSpPr>
          <p:nvPr>
            <p:ph type="body" idx="1"/>
          </p:nvPr>
        </p:nvSpPr>
        <p:spPr>
          <a:xfrm>
            <a:off x="579303" y="2997122"/>
            <a:ext cx="7772400" cy="1125140"/>
          </a:xfrm>
        </p:spPr>
        <p:txBody>
          <a:bodyPr anchor="ctr"/>
          <a:lstStyle>
            <a:lvl1pPr marL="0" indent="0" algn="ctr">
              <a:buNone/>
              <a:defRPr sz="1500" b="1" i="0" cap="all" baseline="0">
                <a:solidFill>
                  <a:schemeClr val="tx2"/>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dirty="0"/>
              <a:t>Click to edit Master text styles</a:t>
            </a:r>
          </a:p>
        </p:txBody>
      </p:sp>
      <p:sp>
        <p:nvSpPr>
          <p:cNvPr id="7" name="AutoShape 2">
            <a:extLst>
              <a:ext uri="{FF2B5EF4-FFF2-40B4-BE49-F238E27FC236}">
                <a16:creationId xmlns:a16="http://schemas.microsoft.com/office/drawing/2014/main" id="{72358C08-E3A7-86ED-0094-0406B22E75B3}"/>
              </a:ext>
            </a:extLst>
          </p:cNvPr>
          <p:cNvSpPr/>
          <p:nvPr userDrawn="1"/>
        </p:nvSpPr>
        <p:spPr>
          <a:xfrm rot="10800000">
            <a:off x="4102963" y="2571750"/>
            <a:ext cx="938074" cy="0"/>
          </a:xfrm>
          <a:prstGeom prst="line">
            <a:avLst/>
          </a:prstGeom>
          <a:ln w="28575" cap="flat">
            <a:solidFill>
              <a:srgbClr val="FF5800"/>
            </a:solidFill>
            <a:prstDash val="solid"/>
            <a:headEnd type="none" w="sm" len="sm"/>
            <a:tailEnd type="none" w="sm" len="sm"/>
          </a:ln>
        </p:spPr>
        <p:txBody>
          <a:bodyPr/>
          <a:lstStyle/>
          <a:p>
            <a:endParaRPr lang="en-AU"/>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200"/>
            </a:lvl1pPr>
          </a:lstStyle>
          <a:p>
            <a:r>
              <a:rPr lang="en-US" dirty="0"/>
              <a:t>Click to edit Master title style</a:t>
            </a:r>
          </a:p>
        </p:txBody>
      </p:sp>
      <p:sp>
        <p:nvSpPr>
          <p:cNvPr id="3" name="Content Placeholder 2"/>
          <p:cNvSpPr>
            <a:spLocks noGrp="1"/>
          </p:cNvSpPr>
          <p:nvPr>
            <p:ph sz="half" idx="1"/>
          </p:nvPr>
        </p:nvSpPr>
        <p:spPr>
          <a:xfrm>
            <a:off x="457200" y="1200151"/>
            <a:ext cx="4038600" cy="387120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87120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dirty="0"/>
              <a:t>Click to edit Master title style</a:t>
            </a:r>
          </a:p>
        </p:txBody>
      </p:sp>
      <p:sp>
        <p:nvSpPr>
          <p:cNvPr id="4" name="Content Placeholder 3"/>
          <p:cNvSpPr>
            <a:spLocks noGrp="1"/>
          </p:cNvSpPr>
          <p:nvPr>
            <p:ph sz="half" idx="2"/>
          </p:nvPr>
        </p:nvSpPr>
        <p:spPr>
          <a:xfrm>
            <a:off x="458787" y="1170712"/>
            <a:ext cx="4040188" cy="3881185"/>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4645026" y="1170712"/>
            <a:ext cx="4041775" cy="388118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312000" y="168869"/>
            <a:ext cx="5611236" cy="871538"/>
          </a:xfrm>
        </p:spPr>
        <p:txBody>
          <a:bodyPr anchor="ctr"/>
          <a:lstStyle>
            <a:lvl1pPr algn="l">
              <a:defRPr sz="1500" b="1">
                <a:solidFill>
                  <a:schemeClr val="bg1"/>
                </a:solidFill>
              </a:defRPr>
            </a:lvl1pPr>
          </a:lstStyle>
          <a:p>
            <a:r>
              <a:rPr kumimoji="0" lang="en-US" sz="3300" b="1" i="0" u="none" strike="noStrike" kern="1200" cap="all" spc="0" normalizeH="0" baseline="0" noProof="0" dirty="0">
                <a:ln>
                  <a:noFill/>
                </a:ln>
                <a:solidFill>
                  <a:srgbClr val="0E2841"/>
                </a:solidFill>
                <a:effectLst/>
                <a:uLnTx/>
                <a:uFillTx/>
                <a:latin typeface="Stag" panose="02000603060000020004" pitchFamily="2" charset="0"/>
                <a:ea typeface="+mj-ea"/>
                <a:cs typeface="+mj-cs"/>
              </a:rPr>
              <a:t>Click to edit Master title style</a:t>
            </a:r>
            <a:endParaRPr lang="en-US" dirty="0"/>
          </a:p>
        </p:txBody>
      </p:sp>
      <p:sp>
        <p:nvSpPr>
          <p:cNvPr id="3" name="Content Placeholder 2"/>
          <p:cNvSpPr>
            <a:spLocks noGrp="1"/>
          </p:cNvSpPr>
          <p:nvPr>
            <p:ph idx="1"/>
          </p:nvPr>
        </p:nvSpPr>
        <p:spPr>
          <a:xfrm>
            <a:off x="3294434" y="1131750"/>
            <a:ext cx="5611236" cy="385529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38330" y="1702342"/>
            <a:ext cx="2592420" cy="2309408"/>
          </a:xfrm>
        </p:spPr>
        <p:txBody>
          <a:bodyPr>
            <a:normAutofit/>
          </a:bodyPr>
          <a:lstStyle>
            <a:lvl1pPr marL="0" indent="0">
              <a:buNone/>
              <a:defRPr sz="1400" b="1">
                <a:solidFill>
                  <a:schemeClr val="bg1"/>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AutoShape 2">
            <a:extLst>
              <a:ext uri="{FF2B5EF4-FFF2-40B4-BE49-F238E27FC236}">
                <a16:creationId xmlns:a16="http://schemas.microsoft.com/office/drawing/2014/main" id="{C7E92F9F-AFB1-6054-535D-E0F54FB6A585}"/>
              </a:ext>
            </a:extLst>
          </p:cNvPr>
          <p:cNvSpPr/>
          <p:nvPr userDrawn="1"/>
        </p:nvSpPr>
        <p:spPr>
          <a:xfrm rot="10800000">
            <a:off x="238329" y="1444279"/>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6" name="AutoShape 2">
            <a:extLst>
              <a:ext uri="{FF2B5EF4-FFF2-40B4-BE49-F238E27FC236}">
                <a16:creationId xmlns:a16="http://schemas.microsoft.com/office/drawing/2014/main" id="{806FC455-F5B4-2827-0E48-1D1A25236EBA}"/>
              </a:ext>
            </a:extLst>
          </p:cNvPr>
          <p:cNvSpPr/>
          <p:nvPr userDrawn="1"/>
        </p:nvSpPr>
        <p:spPr>
          <a:xfrm rot="10800000">
            <a:off x="252000" y="4371750"/>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7" name="Freeform 3" descr="A black and white logo&#10;&#10;AI-generated content may be incorrect.">
            <a:extLst>
              <a:ext uri="{FF2B5EF4-FFF2-40B4-BE49-F238E27FC236}">
                <a16:creationId xmlns:a16="http://schemas.microsoft.com/office/drawing/2014/main" id="{BA2BBF0F-DC0E-6D99-B6BB-6631CDE6C2A7}"/>
              </a:ext>
            </a:extLst>
          </p:cNvPr>
          <p:cNvSpPr/>
          <p:nvPr userDrawn="1"/>
        </p:nvSpPr>
        <p:spPr>
          <a:xfrm>
            <a:off x="64238" y="-59565"/>
            <a:ext cx="2780182" cy="1530039"/>
          </a:xfrm>
          <a:custGeom>
            <a:avLst/>
            <a:gdLst/>
            <a:ahLst/>
            <a:cxnLst/>
            <a:rect l="l" t="t" r="r" b="b"/>
            <a:pathLst>
              <a:path w="6533562" h="3675128">
                <a:moveTo>
                  <a:pt x="0" y="0"/>
                </a:moveTo>
                <a:lnTo>
                  <a:pt x="6533562" y="0"/>
                </a:lnTo>
                <a:lnTo>
                  <a:pt x="6533562" y="3675129"/>
                </a:lnTo>
                <a:lnTo>
                  <a:pt x="0" y="3675129"/>
                </a:lnTo>
                <a:lnTo>
                  <a:pt x="0" y="0"/>
                </a:lnTo>
                <a:close/>
              </a:path>
            </a:pathLst>
          </a:custGeom>
          <a:blipFill>
            <a:blip r:embed="rId3"/>
            <a:stretch>
              <a:fillRect/>
            </a:stretch>
          </a:blipFill>
        </p:spPr>
        <p:txBody>
          <a:bodyPr/>
          <a:lstStyle/>
          <a:p>
            <a:endParaRPr lang="en-AU"/>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Picture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312000" y="168869"/>
            <a:ext cx="5611236" cy="871538"/>
          </a:xfrm>
        </p:spPr>
        <p:txBody>
          <a:bodyPr anchor="ctr"/>
          <a:lstStyle>
            <a:lvl1pPr algn="l">
              <a:defRPr sz="1500" b="1">
                <a:solidFill>
                  <a:schemeClr val="bg1"/>
                </a:solidFill>
              </a:defRPr>
            </a:lvl1pPr>
          </a:lstStyle>
          <a:p>
            <a:r>
              <a:rPr kumimoji="0" lang="en-US" sz="3300" b="1" i="0" u="none" strike="noStrike" kern="1200" cap="all" spc="0" normalizeH="0" baseline="0" noProof="0" dirty="0">
                <a:ln>
                  <a:noFill/>
                </a:ln>
                <a:solidFill>
                  <a:srgbClr val="0E2841"/>
                </a:solidFill>
                <a:effectLst/>
                <a:uLnTx/>
                <a:uFillTx/>
                <a:latin typeface="Stag" panose="02000603060000020004" pitchFamily="2" charset="0"/>
                <a:ea typeface="+mj-ea"/>
                <a:cs typeface="+mj-cs"/>
              </a:rPr>
              <a:t>Click to edit Master title style</a:t>
            </a:r>
            <a:endParaRPr lang="en-US" dirty="0"/>
          </a:p>
        </p:txBody>
      </p:sp>
      <p:sp>
        <p:nvSpPr>
          <p:cNvPr id="3" name="Content Placeholder 2"/>
          <p:cNvSpPr>
            <a:spLocks noGrp="1"/>
          </p:cNvSpPr>
          <p:nvPr>
            <p:ph idx="1"/>
          </p:nvPr>
        </p:nvSpPr>
        <p:spPr>
          <a:xfrm>
            <a:off x="3294434" y="1131750"/>
            <a:ext cx="5611236" cy="385529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38330" y="1702342"/>
            <a:ext cx="2592420" cy="2309408"/>
          </a:xfrm>
        </p:spPr>
        <p:txBody>
          <a:bodyPr>
            <a:normAutofit/>
          </a:bodyPr>
          <a:lstStyle>
            <a:lvl1pPr marL="0" indent="0">
              <a:buNone/>
              <a:defRPr sz="1400" b="1">
                <a:solidFill>
                  <a:schemeClr val="bg1"/>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AutoShape 2">
            <a:extLst>
              <a:ext uri="{FF2B5EF4-FFF2-40B4-BE49-F238E27FC236}">
                <a16:creationId xmlns:a16="http://schemas.microsoft.com/office/drawing/2014/main" id="{C7E92F9F-AFB1-6054-535D-E0F54FB6A585}"/>
              </a:ext>
            </a:extLst>
          </p:cNvPr>
          <p:cNvSpPr/>
          <p:nvPr userDrawn="1"/>
        </p:nvSpPr>
        <p:spPr>
          <a:xfrm rot="10800000">
            <a:off x="238329" y="1444279"/>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6" name="AutoShape 2">
            <a:extLst>
              <a:ext uri="{FF2B5EF4-FFF2-40B4-BE49-F238E27FC236}">
                <a16:creationId xmlns:a16="http://schemas.microsoft.com/office/drawing/2014/main" id="{806FC455-F5B4-2827-0E48-1D1A25236EBA}"/>
              </a:ext>
            </a:extLst>
          </p:cNvPr>
          <p:cNvSpPr/>
          <p:nvPr userDrawn="1"/>
        </p:nvSpPr>
        <p:spPr>
          <a:xfrm rot="10800000">
            <a:off x="252000" y="4371750"/>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7" name="Freeform 3" descr="A black and white logo&#10;&#10;AI-generated content may be incorrect.">
            <a:extLst>
              <a:ext uri="{FF2B5EF4-FFF2-40B4-BE49-F238E27FC236}">
                <a16:creationId xmlns:a16="http://schemas.microsoft.com/office/drawing/2014/main" id="{BA2BBF0F-DC0E-6D99-B6BB-6631CDE6C2A7}"/>
              </a:ext>
            </a:extLst>
          </p:cNvPr>
          <p:cNvSpPr/>
          <p:nvPr userDrawn="1"/>
        </p:nvSpPr>
        <p:spPr>
          <a:xfrm>
            <a:off x="64238" y="-59565"/>
            <a:ext cx="2780182" cy="1530039"/>
          </a:xfrm>
          <a:custGeom>
            <a:avLst/>
            <a:gdLst/>
            <a:ahLst/>
            <a:cxnLst/>
            <a:rect l="l" t="t" r="r" b="b"/>
            <a:pathLst>
              <a:path w="6533562" h="3675128">
                <a:moveTo>
                  <a:pt x="0" y="0"/>
                </a:moveTo>
                <a:lnTo>
                  <a:pt x="6533562" y="0"/>
                </a:lnTo>
                <a:lnTo>
                  <a:pt x="6533562" y="3675129"/>
                </a:lnTo>
                <a:lnTo>
                  <a:pt x="0" y="3675129"/>
                </a:lnTo>
                <a:lnTo>
                  <a:pt x="0" y="0"/>
                </a:lnTo>
                <a:close/>
              </a:path>
            </a:pathLst>
          </a:custGeom>
          <a:blipFill>
            <a:blip r:embed="rId3"/>
            <a:stretch>
              <a:fillRect/>
            </a:stretch>
          </a:blipFill>
        </p:spPr>
        <p:txBody>
          <a:bodyPr/>
          <a:lstStyle/>
          <a:p>
            <a:endParaRPr lang="en-AU"/>
          </a:p>
        </p:txBody>
      </p:sp>
    </p:spTree>
    <p:extLst>
      <p:ext uri="{BB962C8B-B14F-4D97-AF65-F5344CB8AC3E}">
        <p14:creationId xmlns:p14="http://schemas.microsoft.com/office/powerpoint/2010/main" val="38603622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media/image1.png" Type="http://schemas.openxmlformats.org/officeDocument/2006/relationships/imag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737370"/>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61" r:id="rId9"/>
    <p:sldLayoutId id="2147483658" r:id="rId10"/>
    <p:sldLayoutId id="2147483659" r:id="rId11"/>
  </p:sldLayoutIdLst>
  <p:txStyles>
    <p:titleStyle>
      <a:lvl1pPr algn="ctr" defTabSz="342900" eaLnBrk="1" hangingPunct="1" latinLnBrk="0" rtl="0">
        <a:spcBef>
          <a:spcPct val="0"/>
        </a:spcBef>
        <a:buNone/>
        <a:defRPr b="1" baseline="0" cap="all" i="0" kern="1200" sz="3300">
          <a:solidFill>
            <a:schemeClr val="tx2"/>
          </a:solidFill>
          <a:latin charset="0" panose="02000603060000020004" pitchFamily="2" typeface="Stag"/>
          <a:ea typeface="+mj-ea"/>
          <a:cs typeface="+mj-cs"/>
        </a:defRPr>
      </a:lvl1pPr>
    </p:titleStyle>
    <p:bodyStyle>
      <a:lvl1pPr algn="l" defTabSz="342900" eaLnBrk="1" hangingPunct="1" indent="-342900" latinLnBrk="0" marL="342900" rtl="0">
        <a:spcBef>
          <a:spcPct val="20000"/>
        </a:spcBef>
        <a:buFont typeface="Arial"/>
        <a:buChar char="•"/>
        <a:defRPr baseline="0" kern="1200" sz="2400">
          <a:solidFill>
            <a:schemeClr val="tx1"/>
          </a:solidFill>
          <a:latin charset="0" pitchFamily="2" typeface="Helvetica"/>
          <a:ea typeface="+mn-ea"/>
          <a:cs typeface="+mn-cs"/>
        </a:defRPr>
      </a:lvl1pPr>
      <a:lvl2pPr algn="l" defTabSz="342900" eaLnBrk="1" hangingPunct="1" indent="-342900" latinLnBrk="0" marL="685800" rtl="0">
        <a:spcBef>
          <a:spcPct val="20000"/>
        </a:spcBef>
        <a:buFont typeface="Arial"/>
        <a:buChar char="–"/>
        <a:defRPr baseline="0" kern="1200" sz="2100">
          <a:solidFill>
            <a:schemeClr val="tx1"/>
          </a:solidFill>
          <a:latin charset="0" pitchFamily="2" typeface="Helvetica"/>
          <a:ea typeface="+mn-ea"/>
          <a:cs typeface="+mn-cs"/>
        </a:defRPr>
      </a:lvl2pPr>
      <a:lvl3pPr algn="l" defTabSz="342900" eaLnBrk="1" hangingPunct="1" indent="-342900" latinLnBrk="0" marL="1028700" rtl="0">
        <a:spcBef>
          <a:spcPct val="20000"/>
        </a:spcBef>
        <a:buFont typeface="Arial"/>
        <a:buChar char="•"/>
        <a:defRPr baseline="0" kern="1200" sz="1800">
          <a:solidFill>
            <a:schemeClr val="tx1"/>
          </a:solidFill>
          <a:latin charset="0" pitchFamily="2" typeface="Helvetica"/>
          <a:ea typeface="+mn-ea"/>
          <a:cs typeface="+mn-cs"/>
        </a:defRPr>
      </a:lvl3pPr>
      <a:lvl4pPr algn="l" defTabSz="342900" eaLnBrk="1" hangingPunct="1" indent="-342900" latinLnBrk="0" marL="1371600" rtl="0">
        <a:spcBef>
          <a:spcPct val="20000"/>
        </a:spcBef>
        <a:buFont typeface="Arial"/>
        <a:buChar char="–"/>
        <a:defRPr baseline="0" kern="1200" sz="1500">
          <a:solidFill>
            <a:schemeClr val="tx1"/>
          </a:solidFill>
          <a:latin charset="0" pitchFamily="2" typeface="Helvetica"/>
          <a:ea typeface="+mn-ea"/>
          <a:cs typeface="+mn-cs"/>
        </a:defRPr>
      </a:lvl4pPr>
      <a:lvl5pPr algn="l" defTabSz="342900" eaLnBrk="1" hangingPunct="1" indent="-342900" latinLnBrk="0" marL="1714500" rtl="0">
        <a:spcBef>
          <a:spcPct val="20000"/>
        </a:spcBef>
        <a:buFont typeface="Arial"/>
        <a:buChar char="»"/>
        <a:defRPr baseline="0" kern="1200" sz="1500">
          <a:solidFill>
            <a:schemeClr val="tx1"/>
          </a:solidFill>
          <a:latin charset="0" pitchFamily="2" typeface="Helvetica"/>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nocookie.com/watch?v=00npeUY_1V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 Id="rId3" Type="http://schemas.openxmlformats.org/officeDocument/2006/relationships/image" Target="../media/image6.sv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7.sv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3" Type="http://schemas.openxmlformats.org/officeDocument/2006/relationships/image" Target="../media/image8.sv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9.sv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 Id="rId3" Type="http://schemas.openxmlformats.org/officeDocument/2006/relationships/image" Target="../media/image10.sv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image" Target="../media/image11.sv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ctrTitle"/>
          </p:nvPr>
        </p:nvSpPr>
        <p:spPr>
          <a:xfrm>
            <a:off x="685800" y="2020490"/>
            <a:ext cx="7772400" cy="1102519"/>
          </a:xfrm>
        </p:spPr>
        <p:txBody>
          <a:bodyPr/>
          <a:lstStyle/>
          <a:p>
            <a:pPr lvl="0" indent="0" marL="0">
              <a:buNone/>
            </a:pPr>
            <a:r>
              <a:rPr/>
              <a:t>Productivity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Productivity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Productivity</a:t>
            </a:r>
          </a:p>
        </p:txBody>
      </p:sp>
      <p:sp>
        <p:nvSpPr>
          <p:cNvPr id="3" name="Content Placeholder 2"/>
          <p:cNvSpPr>
            <a:spLocks noGrp="1"/>
          </p:cNvSpPr>
          <p:nvPr>
            <p:ph idx="1"/>
          </p:nvPr>
        </p:nvSpPr>
        <p:spPr/>
        <p:txBody>
          <a:bodyPr/>
          <a:lstStyle/>
          <a:p>
            <a:pPr lvl="0" indent="0" marL="0">
              <a:buNone/>
            </a:pPr>
            <a:r>
              <a:rPr>
                <a:hlinkClick r:id="rId2"/>
              </a:rPr>
              <a:t>https://www.youtube-nocookie.com/watch?v=00npeUY_1Vg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Productivity (or, output per hour worked)</a:t>
            </a:r>
          </a:p>
        </p:txBody>
      </p:sp>
      <p:sp>
        <p:nvSpPr>
          <p:cNvPr id="3" name="Content Placeholder 2"/>
          <p:cNvSpPr>
            <a:spLocks noGrp="1"/>
          </p:cNvSpPr>
          <p:nvPr>
            <p:ph idx="1"/>
          </p:nvPr>
        </p:nvSpPr>
        <p:spPr/>
        <p:txBody>
          <a:bodyPr/>
          <a:lstStyle/>
          <a:p>
            <a:pPr lvl="0"/>
            <a:r>
              <a:rPr b="1"/>
              <a:t>Labour</a:t>
            </a:r>
            <a:r>
              <a:rPr/>
              <a:t> Productivity is a measure of Gross Domestic Product per hour worked.</a:t>
            </a:r>
          </a:p>
          <a:p>
            <a:pPr lvl="0"/>
            <a:r>
              <a:rPr/>
              <a:t>But there are other inputs into production besides labour, including capital</a:t>
            </a:r>
          </a:p>
          <a:p>
            <a:pPr lvl="0"/>
            <a:r>
              <a:rPr/>
              <a:t>Changes in output can occur even without changes to input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Measuring Productivity</a:t>
            </a:r>
          </a:p>
        </p:txBody>
      </p:sp>
      <p:sp>
        <p:nvSpPr>
          <p:cNvPr id="3" name="Content Placeholder 2"/>
          <p:cNvSpPr>
            <a:spLocks noGrp="1"/>
          </p:cNvSpPr>
          <p:nvPr>
            <p:ph idx="1"/>
          </p:nvPr>
        </p:nvSpPr>
        <p:spPr/>
        <p:txBody>
          <a:bodyPr/>
          <a:lstStyle/>
          <a:p>
            <a:pPr lvl="0"/>
            <a:r>
              <a:rPr/>
              <a:t>It is relatively easy to measure and describe output per worker.</a:t>
            </a:r>
          </a:p>
          <a:p>
            <a:pPr lvl="0"/>
            <a:r>
              <a:rPr/>
              <a:t>Measuring output per unit of labour </a:t>
            </a:r>
            <a:r>
              <a:rPr b="1"/>
              <a:t>and</a:t>
            </a:r>
            <a:r>
              <a:rPr/>
              <a:t> capital is much more complicated, and questionable.</a:t>
            </a:r>
          </a:p>
          <a:p>
            <a:pPr lvl="1"/>
            <a:r>
              <a:rPr/>
              <a:t>What is a unit of labour-capital?</a:t>
            </a:r>
          </a:p>
          <a:p>
            <a:pPr lvl="0"/>
            <a:r>
              <a:rPr/>
              <a:t>You should be sceptical of people (especially economists) who talk about productivity in the non-market sector.</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Productivity Trends</a:t>
            </a:r>
          </a:p>
        </p:txBody>
      </p:sp>
      <p:pic>
        <p:nvPicPr>
          <p:cNvPr descr="productivity_files/figure-pptx/unnamed-chunk-1-1.sv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Productivity Trends</a:t>
            </a:r>
          </a:p>
        </p:txBody>
      </p:sp>
      <p:pic>
        <p:nvPicPr>
          <p:cNvPr descr="productivity_files/figure-pptx/unnamed-chunk-2-1.sv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Hours Worked</a:t>
            </a:r>
          </a:p>
        </p:txBody>
      </p:sp>
      <p:pic>
        <p:nvPicPr>
          <p:cNvPr descr="productivity_files/figure-pptx/unnamed-chunk-3-1.sv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GDP</a:t>
            </a:r>
          </a:p>
        </p:txBody>
      </p:sp>
      <p:pic>
        <p:nvPicPr>
          <p:cNvPr descr="productivity_files/figure-pptx/unnamed-chunk-4-1.svg" id="0" name="Picture 1"/>
          <p:cNvPicPr>
            <a:picLocks noGrp="1" noChangeAspect="1"/>
          </p:cNvPicPr>
          <p:nvPr/>
        </p:nvPicPr>
        <p:blipFill>
          <a:blip r:embed="rId2"/>
          <a:stretch>
            <a:fillRect/>
          </a:stretch>
        </p:blipFill>
        <p:spPr bwMode="auto">
          <a:xfrm>
            <a:off x="1193800" y="1587500"/>
            <a:ext cx="6756400" cy="3378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Workers Share</a:t>
            </a:r>
          </a:p>
        </p:txBody>
      </p:sp>
      <p:sp>
        <p:nvSpPr>
          <p:cNvPr id="3" name="Content Placeholder 2"/>
          <p:cNvSpPr>
            <a:spLocks noGrp="1"/>
          </p:cNvSpPr>
          <p:nvPr>
            <p:ph idx="1"/>
          </p:nvPr>
        </p:nvSpPr>
        <p:spPr/>
        <p:txBody>
          <a:bodyPr/>
          <a:lstStyle/>
          <a:p>
            <a:pPr lvl="0"/>
            <a:r>
              <a:rPr/>
              <a:t>If productivity is a measure of output per hour, it would only be fair to compare that with how much compensation (in real terms) workers are getting per hour.</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Workers Share</a:t>
            </a:r>
          </a:p>
        </p:txBody>
      </p:sp>
      <p:pic>
        <p:nvPicPr>
          <p:cNvPr descr="productivity_files/figure-pptx/unnamed-chunk-5-1.sv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Industry Productivity</a:t>
            </a:r>
          </a:p>
        </p:txBody>
      </p:sp>
      <p:pic>
        <p:nvPicPr>
          <p:cNvPr descr="productivity_files/figure-pptx/unnamed-chunk-6-1.sv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What Productivity is Not</a:t>
            </a:r>
          </a:p>
        </p:txBody>
      </p:sp>
      <p:sp>
        <p:nvSpPr>
          <p:cNvPr id="3" name="Content Placeholder 2"/>
          <p:cNvSpPr>
            <a:spLocks noGrp="1"/>
          </p:cNvSpPr>
          <p:nvPr>
            <p:ph idx="1"/>
          </p:nvPr>
        </p:nvSpPr>
        <p:spPr/>
        <p:txBody>
          <a:bodyPr/>
          <a:lstStyle/>
          <a:p>
            <a:pPr lvl="0"/>
            <a:r>
              <a:rPr/>
              <a:t>The amount it costs to produce one unit of output</a:t>
            </a:r>
          </a:p>
          <a:p>
            <a:pPr lvl="0"/>
            <a:r>
              <a:rPr/>
              <a:t>Consistent across market and non-market sectors</a:t>
            </a:r>
          </a:p>
          <a:p>
            <a:pPr lvl="0"/>
            <a:r>
              <a:rPr/>
              <a:t>Tied to real wages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AMWU">
      <a:dk1>
        <a:sysClr val="windowText" lastClr="000000"/>
      </a:dk1>
      <a:lt1>
        <a:sysClr val="window" lastClr="FFFFFF"/>
      </a:lt1>
      <a:dk2>
        <a:srgbClr val="0E2841"/>
      </a:dk2>
      <a:lt2>
        <a:srgbClr val="E8E8E8"/>
      </a:lt2>
      <a:accent1>
        <a:srgbClr val="001D26"/>
      </a:accent1>
      <a:accent2>
        <a:srgbClr val="F15C30"/>
      </a:accent2>
      <a:accent3>
        <a:srgbClr val="094FA3"/>
      </a:accent3>
      <a:accent4>
        <a:srgbClr val="FEBE10"/>
      </a:accent4>
      <a:accent5>
        <a:srgbClr val="E4E4E4"/>
      </a:accent5>
      <a:accent6>
        <a:srgbClr val="231F20"/>
      </a:accent6>
      <a:hlink>
        <a:srgbClr val="094FA3"/>
      </a:hlink>
      <a:folHlink>
        <a:srgbClr val="F15C3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45</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Helvetica</vt:lpstr>
      <vt:lpstr>Stag</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Productivity</dc:title>
  <dc:creator/>
  <cp:keywords/>
  <dcterms:created xsi:type="dcterms:W3CDTF">2026-06-09T06:04:28Z</dcterms:created>
  <dcterms:modified xsi:type="dcterms:W3CDTF">2026-06-09T06:04:28Z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
    <vt:lpwstr>National Research Centre</vt:lpwstr>
  </property>
  <property fmtid="{D5CDD505-2E9C-101B-9397-08002B2CF9AE}" pid="3" name="biblio-config">
    <vt:lpwstr>True</vt:lpwstr>
  </property>
  <property fmtid="{D5CDD505-2E9C-101B-9397-08002B2CF9AE}" pid="4" name="brand">
    <vt:lpwstr>_brand/_brand.yml</vt:lpwstr>
  </property>
  <property fmtid="{D5CDD505-2E9C-101B-9397-08002B2CF9AE}" pid="5" name="editor">
    <vt:lpwstr>visual</vt:lpwstr>
  </property>
  <property fmtid="{D5CDD505-2E9C-101B-9397-08002B2CF9AE}" pid="6" name="engines">
    <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subtitle">
    <vt:lpwstr/>
  </property>
  <property fmtid="{D5CDD505-2E9C-101B-9397-08002B2CF9AE}" pid="13" name="toc-title">
    <vt:lpwstr>Table of contents</vt:lpwstr>
  </property>
</Properties>
</file>