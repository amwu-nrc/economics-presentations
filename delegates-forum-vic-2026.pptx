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Objects="1">
      <p:cViewPr varScale="1">
        <p:scale>
          <a:sx d="100" n="147"/>
          <a:sy d="100" n="147"/>
        </p:scale>
        <p:origin x="564" y="12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180000" cy="1800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Since March 2023, prices have grown faster than wages.</a:t>
            </a:r>
          </a:p>
          <a:p>
            <a:pPr lvl="0" indent="0" marL="0">
              <a:buNone/>
            </a:pPr>
          </a:p>
          <a:p>
            <a:pPr lvl="0" indent="0" marL="0">
              <a:buNone/>
            </a:pPr>
            <a:r>
              <a:rPr/>
              <a:t>So what’s the problem?</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Forget inflation. We’re talking about cost of living, not a measure created for the purposes of helping the RBA determine what interest rates should be. The CPI is designed to measure price inflation for the household sector </a:t>
            </a:r>
            <a:r>
              <a:rPr b="1"/>
              <a:t>as a whole</a:t>
            </a:r>
            <a:r>
              <a:rPr/>
              <a:t> and is not the ideal measure for assessing the changes in the purchasing power of the disposable incomes of households.</a:t>
            </a:r>
          </a:p>
          <a:p>
            <a:pPr lvl="0" indent="0" marL="0">
              <a:buNone/>
            </a:pPr>
          </a:p>
          <a:p>
            <a:pPr lvl="0" indent="0" marL="0">
              <a:buNone/>
            </a:pPr>
            <a:r>
              <a:rPr/>
              <a:t>The Cost of Living Index can be interpreted as “How much would after tax incomes need to change to allow households to purchase the same quantity of goods and services between period A and period B”.</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Looking only since 2023 suggests that wages have grown slightly faster than inflation. But the cost of living index shows that wages have not grown faster than the cost of living.</a:t>
            </a:r>
          </a:p>
          <a:p>
            <a:pPr lvl="0" indent="0" marL="0">
              <a:buNone/>
            </a:pPr>
          </a:p>
          <a:p>
            <a:pPr lvl="0" indent="0" marL="0">
              <a:buNone/>
            </a:pPr>
            <a:r>
              <a:rPr/>
              <a:t>The problem with looking only since 2023 is it neglects the impact of high inflation between 2021 and 2023, where real wages were seriously eroded.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78469" y="3831750"/>
            <a:ext cx="7772400" cy="1102519"/>
          </a:xfrm>
        </p:spPr>
        <p:txBody>
          <a:bodyPr/>
          <a:lstStyle>
            <a:lvl1pPr>
              <a:defRPr sz="4000" b="0" i="0" cap="none" baseline="0">
                <a:solidFill>
                  <a:schemeClr val="bg1"/>
                </a:solidFill>
                <a:latin typeface="Stag Medium" panose="02000603060000020004" pitchFamily="50" charset="0"/>
              </a:defRPr>
            </a:lvl1pPr>
          </a:lstStyle>
          <a:p>
            <a:r>
              <a:rPr lang="en-US" dirty="0"/>
              <a:t>Click to edit master title style</a:t>
            </a:r>
          </a:p>
        </p:txBody>
      </p:sp>
      <p:sp>
        <p:nvSpPr>
          <p:cNvPr id="10" name="Freeform 3" descr="A black and white logo&#10;&#10;AI-generated content may be incorrect.">
            <a:extLst>
              <a:ext uri="{FF2B5EF4-FFF2-40B4-BE49-F238E27FC236}">
                <a16:creationId xmlns:a16="http://schemas.microsoft.com/office/drawing/2014/main" id="{270EDBF1-C207-C2C2-D908-D5B5626E968B}"/>
              </a:ext>
            </a:extLst>
          </p:cNvPr>
          <p:cNvSpPr/>
          <p:nvPr userDrawn="1"/>
        </p:nvSpPr>
        <p:spPr>
          <a:xfrm>
            <a:off x="2232000" y="-283669"/>
            <a:ext cx="4140000" cy="2325288"/>
          </a:xfrm>
          <a:custGeom>
            <a:avLst/>
            <a:gdLst/>
            <a:ahLst/>
            <a:cxnLst/>
            <a:rect l="l" t="t" r="r" b="b"/>
            <a:pathLst>
              <a:path w="6533562" h="3675128">
                <a:moveTo>
                  <a:pt x="0" y="0"/>
                </a:moveTo>
                <a:lnTo>
                  <a:pt x="6533562" y="0"/>
                </a:lnTo>
                <a:lnTo>
                  <a:pt x="6533562" y="3675129"/>
                </a:lnTo>
                <a:lnTo>
                  <a:pt x="0" y="3675129"/>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a:p>
        </p:txBody>
      </p:sp>
      <p:pic>
        <p:nvPicPr>
          <p:cNvPr id="11" name="Picture 10" descr="A hand with a fist raised up&#10;&#10;AI-generated content may be incorrect.">
            <a:extLst>
              <a:ext uri="{FF2B5EF4-FFF2-40B4-BE49-F238E27FC236}">
                <a16:creationId xmlns:a16="http://schemas.microsoft.com/office/drawing/2014/main" id="{2F62BAD0-0F8C-738B-5360-E6C9FA58543F}"/>
              </a:ext>
            </a:extLst>
          </p:cNvPr>
          <p:cNvPicPr>
            <a:picLocks noChangeAspect="1"/>
          </p:cNvPicPr>
          <p:nvPr userDrawn="1"/>
        </p:nvPicPr>
        <p:blipFill>
          <a:blip r:embed="rId3"/>
          <a:stretch>
            <a:fillRect/>
          </a:stretch>
        </p:blipFill>
        <p:spPr>
          <a:xfrm>
            <a:off x="2592000" y="1733492"/>
            <a:ext cx="4140000" cy="1872746"/>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457200" y="1587600"/>
            <a:ext cx="8229600" cy="3388923"/>
          </a:xfrm>
        </p:spPr>
        <p:txBody>
          <a:bodyPr>
            <a:normAutofit/>
          </a:bodyPr>
          <a:lstStyle>
            <a:lvl1pPr>
              <a:defRPr sz="1800"/>
            </a:lvl1pPr>
            <a:lvl2pPr>
              <a:defRPr sz="18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descr="A black and white logo&#10;&#10;AI-generated content may be incorrect.">
            <a:extLst>
              <a:ext uri="{FF2B5EF4-FFF2-40B4-BE49-F238E27FC236}">
                <a16:creationId xmlns:a16="http://schemas.microsoft.com/office/drawing/2014/main" id="{32A4F8D5-E243-B007-9BD9-1940D15A99A4}"/>
              </a:ext>
            </a:extLst>
          </p:cNvPr>
          <p:cNvPicPr>
            <a:picLocks noChangeAspect="1"/>
          </p:cNvPicPr>
          <p:nvPr userDrawn="1"/>
        </p:nvPicPr>
        <p:blipFill>
          <a:blip r:embed="rId2"/>
          <a:stretch>
            <a:fillRect/>
          </a:stretch>
        </p:blipFill>
        <p:spPr>
          <a:xfrm>
            <a:off x="6732000" y="4416890"/>
            <a:ext cx="1444619" cy="796637"/>
          </a:xfrm>
          <a:prstGeom prst="rect">
            <a:avLst/>
          </a:prstGeom>
        </p:spPr>
      </p:pic>
      <p:pic>
        <p:nvPicPr>
          <p:cNvPr id="6" name="Picture 5" descr="A hand with a fist raised up&#10;&#10;AI-generated content may be incorrect.">
            <a:extLst>
              <a:ext uri="{FF2B5EF4-FFF2-40B4-BE49-F238E27FC236}">
                <a16:creationId xmlns:a16="http://schemas.microsoft.com/office/drawing/2014/main" id="{784379E0-3798-CE56-DAFB-6D40AB1671FE}"/>
              </a:ext>
            </a:extLst>
          </p:cNvPr>
          <p:cNvPicPr>
            <a:picLocks noChangeAspect="1"/>
          </p:cNvPicPr>
          <p:nvPr userDrawn="1"/>
        </p:nvPicPr>
        <p:blipFill>
          <a:blip r:embed="rId3"/>
          <a:stretch>
            <a:fillRect/>
          </a:stretch>
        </p:blipFill>
        <p:spPr>
          <a:xfrm>
            <a:off x="8314476" y="4697094"/>
            <a:ext cx="706502" cy="318244"/>
          </a:xfrm>
          <a:prstGeom prst="rect">
            <a:avLst/>
          </a:prstGeom>
        </p:spPr>
      </p:pic>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2000" y="2053249"/>
            <a:ext cx="7772400" cy="1021556"/>
          </a:xfrm>
        </p:spPr>
        <p:txBody>
          <a:bodyPr anchor="t"/>
          <a:lstStyle>
            <a:lvl1pPr algn="l">
              <a:defRPr sz="3000" b="1" i="0" cap="none" baseline="0">
                <a:solidFill>
                  <a:schemeClr val="bg1"/>
                </a:solidFill>
                <a:latin typeface="Stag Semibold" panose="02000703060000020004" pitchFamily="50" charset="0"/>
              </a:defRPr>
            </a:lvl1pPr>
          </a:lstStyle>
          <a:p>
            <a:r>
              <a:rPr lang="en-US" dirty="0"/>
              <a:t>Click to edit Master title style</a:t>
            </a:r>
          </a:p>
        </p:txBody>
      </p:sp>
      <p:sp>
        <p:nvSpPr>
          <p:cNvPr id="3" name="Text Placeholder 2"/>
          <p:cNvSpPr>
            <a:spLocks noGrp="1"/>
          </p:cNvSpPr>
          <p:nvPr>
            <p:ph type="body" idx="1"/>
          </p:nvPr>
        </p:nvSpPr>
        <p:spPr>
          <a:xfrm>
            <a:off x="252000" y="3291750"/>
            <a:ext cx="8640000" cy="1125140"/>
          </a:xfrm>
        </p:spPr>
        <p:txBody>
          <a:bodyPr anchor="ctr"/>
          <a:lstStyle>
            <a:lvl1pPr marL="0" indent="0" algn="l">
              <a:buNone/>
              <a:defRPr sz="1500" b="1" i="0" cap="none" baseline="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Footer Placeholder 3">
            <a:extLst>
              <a:ext uri="{FF2B5EF4-FFF2-40B4-BE49-F238E27FC236}">
                <a16:creationId xmlns:a16="http://schemas.microsoft.com/office/drawing/2014/main" id="{03A6D417-94FA-60B8-7325-82B1CC677B33}"/>
              </a:ext>
            </a:extLst>
          </p:cNvPr>
          <p:cNvSpPr>
            <a:spLocks noGrp="1"/>
          </p:cNvSpPr>
          <p:nvPr>
            <p:ph type="ftr" sz="quarter" idx="10"/>
          </p:nvPr>
        </p:nvSpPr>
        <p:spPr>
          <a:xfrm>
            <a:off x="252000" y="4629944"/>
            <a:ext cx="3086100" cy="274637"/>
          </a:xfrm>
        </p:spPr>
        <p:txBody>
          <a:bodyPr/>
          <a:lstStyle>
            <a:lvl1pPr algn="l">
              <a:defRPr baseline="0">
                <a:solidFill>
                  <a:schemeClr val="bg1"/>
                </a:solidFill>
                <a:latin typeface="Helvetica" pitchFamily="2" charset="0"/>
              </a:defRPr>
            </a:lvl1pPr>
          </a:lstStyle>
          <a:p>
            <a:pPr algn="l"/>
            <a:endParaRPr lang="en-AU"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baseline="0">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8712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4" name="Content Placeholder 3"/>
          <p:cNvSpPr>
            <a:spLocks noGrp="1"/>
          </p:cNvSpPr>
          <p:nvPr>
            <p:ph sz="half" idx="2"/>
          </p:nvPr>
        </p:nvSpPr>
        <p:spPr>
          <a:xfrm>
            <a:off x="458787" y="1170712"/>
            <a:ext cx="4040188" cy="38811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6" y="1170712"/>
            <a:ext cx="4041775" cy="388118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000" y="168869"/>
            <a:ext cx="8671236" cy="871538"/>
          </a:xfrm>
        </p:spPr>
        <p:txBody>
          <a:bodyPr anchor="ctr"/>
          <a:lstStyle>
            <a:lvl1pPr algn="l">
              <a:defRPr sz="1500" b="1" strike="dblStrike" cap="none" baseline="0">
                <a:solidFill>
                  <a:schemeClr val="tx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252000" y="1131750"/>
            <a:ext cx="8653670" cy="3855295"/>
          </a:xfrm>
        </p:spPr>
        <p:txBody>
          <a:bodyPr/>
          <a:lstStyle>
            <a:lvl1pPr>
              <a:defRPr sz="2400" baseline="0">
                <a:solidFill>
                  <a:schemeClr val="tx1"/>
                </a:solidFill>
              </a:defRPr>
            </a:lvl1pPr>
            <a:lvl2pPr>
              <a:defRPr sz="2100" baseline="0">
                <a:solidFill>
                  <a:schemeClr val="tx1"/>
                </a:solidFill>
              </a:defRPr>
            </a:lvl2pPr>
            <a:lvl3pPr>
              <a:defRPr sz="1800" baseline="0">
                <a:solidFill>
                  <a:schemeClr val="tx1"/>
                </a:solidFill>
              </a:defRPr>
            </a:lvl3pPr>
            <a:lvl4pPr>
              <a:defRPr sz="1500" baseline="0">
                <a:solidFill>
                  <a:schemeClr val="tx1"/>
                </a:solidFill>
              </a:defRPr>
            </a:lvl4pPr>
            <a:lvl5pPr>
              <a:defRPr sz="1500" baseline="0">
                <a:solidFill>
                  <a:schemeClr val="tx1"/>
                </a:solidFill>
              </a:defRPr>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089564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2000" y="168869"/>
            <a:ext cx="8671236" cy="871538"/>
          </a:xfrm>
        </p:spPr>
        <p:txBody>
          <a:bodyPr anchor="ctr"/>
          <a:lstStyle>
            <a:lvl1pPr algn="l">
              <a:defRPr sz="1500" b="1" cap="none" baseline="0">
                <a:solidFill>
                  <a:schemeClr val="bg1"/>
                </a:solidFill>
              </a:defRPr>
            </a:lvl1pPr>
          </a:lstStyle>
          <a:p>
            <a:r>
              <a:rPr kumimoji="0" lang="en-US" sz="3300" b="1" i="0" u="none" strike="noStrike" kern="1200" cap="all" spc="0" normalizeH="0" baseline="0" noProof="0" dirty="0">
                <a:ln>
                  <a:noFill/>
                </a:ln>
                <a:solidFill>
                  <a:srgbClr val="0E2841"/>
                </a:solidFill>
                <a:effectLst/>
                <a:uLnTx/>
                <a:uFillTx/>
                <a:latin typeface="Stag" panose="02000603060000020004" pitchFamily="2" charset="0"/>
                <a:ea typeface="+mj-ea"/>
                <a:cs typeface="+mj-cs"/>
              </a:rPr>
              <a:t>Click to edit Master title style</a:t>
            </a:r>
            <a:endParaRPr lang="en-US" dirty="0"/>
          </a:p>
        </p:txBody>
      </p:sp>
      <p:sp>
        <p:nvSpPr>
          <p:cNvPr id="3" name="Content Placeholder 2"/>
          <p:cNvSpPr>
            <a:spLocks noGrp="1"/>
          </p:cNvSpPr>
          <p:nvPr>
            <p:ph idx="1"/>
          </p:nvPr>
        </p:nvSpPr>
        <p:spPr>
          <a:xfrm>
            <a:off x="252000" y="1131750"/>
            <a:ext cx="8653670" cy="385529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0362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p:cNvSpPr>
            <a:spLocks noGrp="1"/>
          </p:cNvSpPr>
          <p:nvPr>
            <p:ph idx="1" type="body"/>
          </p:nvPr>
        </p:nvSpPr>
        <p:spPr>
          <a:xfrm>
            <a:off x="457200" y="1200151"/>
            <a:ext cx="8229600" cy="3737370"/>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Footer Placeholder 3">
            <a:extLst>
              <a:ext uri="{FF2B5EF4-FFF2-40B4-BE49-F238E27FC236}">
                <a16:creationId xmlns:a16="http://schemas.microsoft.com/office/drawing/2014/main" id="{3093270E-0C63-7AC9-B03A-19302E5A04E1}"/>
              </a:ext>
            </a:extLst>
          </p:cNvPr>
          <p:cNvSpPr>
            <a:spLocks noGrp="1"/>
          </p:cNvSpPr>
          <p:nvPr>
            <p:ph idx="3" sz="quarter" type="ftr"/>
          </p:nvPr>
        </p:nvSpPr>
        <p:spPr>
          <a:xfrm>
            <a:off x="3028950" y="4767263"/>
            <a:ext cx="3086100" cy="274637"/>
          </a:xfrm>
          <a:prstGeom prst="rect">
            <a:avLst/>
          </a:prstGeom>
        </p:spPr>
        <p:txBody>
          <a:bodyPr anchor="ctr" bIns="45720" lIns="91440" rIns="91440" rtlCol="0" tIns="45720" vert="horz"/>
          <a:lstStyle>
            <a:lvl1pPr algn="ctr">
              <a:defRPr sz="1200">
                <a:solidFill>
                  <a:schemeClr val="tx1">
                    <a:tint val="82000"/>
                  </a:schemeClr>
                </a:solidFill>
              </a:defRPr>
            </a:lvl1pPr>
          </a:lstStyle>
          <a:p>
            <a:endParaRPr lang="en-AU"/>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8" r:id="rId10"/>
    <p:sldLayoutId id="2147483659" r:id="rId11"/>
  </p:sldLayoutIdLst>
  <p:txStyles>
    <p:titleStyle>
      <a:lvl1pPr algn="ctr" defTabSz="342900" eaLnBrk="1" hangingPunct="1" latinLnBrk="0" rtl="0">
        <a:spcBef>
          <a:spcPct val="0"/>
        </a:spcBef>
        <a:buNone/>
        <a:defRPr b="1" baseline="0" cap="all" i="0" kern="1200" sz="3300">
          <a:solidFill>
            <a:schemeClr val="bg1"/>
          </a:solidFill>
          <a:latin charset="0" panose="02000603060000020004" pitchFamily="2" typeface="Stag"/>
          <a:ea typeface="+mj-ea"/>
          <a:cs typeface="+mj-cs"/>
        </a:defRPr>
      </a:lvl1pPr>
    </p:titleStyle>
    <p:bodyStyle>
      <a:lvl1pPr algn="l" defTabSz="342900" eaLnBrk="1" hangingPunct="1" indent="-342900" latinLnBrk="0" marL="342900" rtl="0">
        <a:spcBef>
          <a:spcPct val="20000"/>
        </a:spcBef>
        <a:buFont typeface="Arial"/>
        <a:buChar char="•"/>
        <a:defRPr baseline="0" kern="1200" sz="2400">
          <a:solidFill>
            <a:schemeClr val="bg1"/>
          </a:solidFill>
          <a:latin charset="0" pitchFamily="2" typeface="Helvetica"/>
          <a:ea typeface="+mn-ea"/>
          <a:cs typeface="+mn-cs"/>
        </a:defRPr>
      </a:lvl1pPr>
      <a:lvl2pPr algn="l" defTabSz="342900" eaLnBrk="1" hangingPunct="1" indent="-342900" latinLnBrk="0" marL="685800" rtl="0">
        <a:spcBef>
          <a:spcPct val="20000"/>
        </a:spcBef>
        <a:buFont typeface="Arial"/>
        <a:buChar char="–"/>
        <a:defRPr baseline="0" kern="1200" sz="2100">
          <a:solidFill>
            <a:schemeClr val="bg1"/>
          </a:solidFill>
          <a:latin charset="0" pitchFamily="2" typeface="Helvetica"/>
          <a:ea typeface="+mn-ea"/>
          <a:cs typeface="+mn-cs"/>
        </a:defRPr>
      </a:lvl2pPr>
      <a:lvl3pPr algn="l" defTabSz="342900" eaLnBrk="1" hangingPunct="1" indent="-342900" latinLnBrk="0" marL="1028700" rtl="0">
        <a:spcBef>
          <a:spcPct val="20000"/>
        </a:spcBef>
        <a:buFont typeface="Arial"/>
        <a:buChar char="•"/>
        <a:defRPr baseline="0" kern="1200" sz="1800">
          <a:solidFill>
            <a:schemeClr val="bg1"/>
          </a:solidFill>
          <a:latin charset="0" pitchFamily="2" typeface="Helvetica"/>
          <a:ea typeface="+mn-ea"/>
          <a:cs typeface="+mn-cs"/>
        </a:defRPr>
      </a:lvl3pPr>
      <a:lvl4pPr algn="l" defTabSz="342900" eaLnBrk="1" hangingPunct="1" indent="-342900" latinLnBrk="0" marL="1371600" rtl="0">
        <a:spcBef>
          <a:spcPct val="20000"/>
        </a:spcBef>
        <a:buFont typeface="Arial"/>
        <a:buChar char="–"/>
        <a:defRPr baseline="0" kern="1200" sz="1500">
          <a:solidFill>
            <a:schemeClr val="bg1"/>
          </a:solidFill>
          <a:latin charset="0" pitchFamily="2" typeface="Helvetica"/>
          <a:ea typeface="+mn-ea"/>
          <a:cs typeface="+mn-cs"/>
        </a:defRPr>
      </a:lvl4pPr>
      <a:lvl5pPr algn="l" defTabSz="342900" eaLnBrk="1" hangingPunct="1" indent="-342900" latinLnBrk="0" marL="1714500" rtl="0">
        <a:spcBef>
          <a:spcPct val="20000"/>
        </a:spcBef>
        <a:buFont typeface="Arial"/>
        <a:buChar char="»"/>
        <a:defRPr baseline="0" kern="1200" sz="1500">
          <a:solidFill>
            <a:schemeClr val="bg1"/>
          </a:solidFill>
          <a:latin charset="0" pitchFamily="2" typeface="Helvetica"/>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5.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15.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hasCustomPrompt="1" type="ctrTitle"/>
          </p:nvPr>
        </p:nvSpPr>
        <p:spPr>
          <a:xfrm>
            <a:off x="678469" y="3831750"/>
            <a:ext cx="7772400" cy="1102519"/>
          </a:xfrm>
        </p:spPr>
        <p:txBody>
          <a:bodyPr/>
          <a:lstStyle/>
          <a:p>
            <a:pPr lvl="0" indent="0" marL="0">
              <a:buNone/>
            </a:pPr>
            <a:r>
              <a:rPr/>
              <a:t>Inflation, Cost of Living, and Real Wages</a:t>
            </a:r>
          </a:p>
        </p:txBody>
      </p:sp>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00" y="2053249"/>
            <a:ext cx="7772400" cy="1021556"/>
          </a:xfrm>
        </p:spPr>
        <p:txBody>
          <a:bodyPr/>
          <a:lstStyle/>
          <a:p>
            <a:pPr lvl="0" indent="0" marL="0">
              <a:buNone/>
            </a:pPr>
            <a:r>
              <a:rPr/>
              <a:t>Inflation, Cost of Living, and Real Wages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Overall Inflation Impact</a:t>
            </a:r>
          </a:p>
        </p:txBody>
      </p:sp>
      <p:pic>
        <p:nvPicPr>
          <p:cNvPr descr="delegates-forum-vic-2026_files/figure-pptx/unnamed-chunk-1-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Bread</a:t>
            </a:r>
          </a:p>
        </p:txBody>
      </p:sp>
      <p:pic>
        <p:nvPicPr>
          <p:cNvPr descr="delegates-forum-vic-2026_files/figure-pptx/unnamed-chunk-2-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Milk</a:t>
            </a:r>
          </a:p>
        </p:txBody>
      </p:sp>
      <p:pic>
        <p:nvPicPr>
          <p:cNvPr descr="delegates-forum-vic-2026_files/figure-pptx/unnamed-chunk-3-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Gas</a:t>
            </a:r>
          </a:p>
        </p:txBody>
      </p:sp>
      <p:pic>
        <p:nvPicPr>
          <p:cNvPr descr="delegates-forum-vic-2026_files/figure-pptx/unnamed-chunk-4-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Electricity</a:t>
            </a:r>
          </a:p>
        </p:txBody>
      </p:sp>
      <p:pic>
        <p:nvPicPr>
          <p:cNvPr descr="delegates-forum-vic-2026_files/figure-pptx/unnamed-chunk-5-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Property Rates</a:t>
            </a:r>
          </a:p>
        </p:txBody>
      </p:sp>
      <p:pic>
        <p:nvPicPr>
          <p:cNvPr descr="delegates-forum-vic-2026_files/figure-pptx/unnamed-chunk-6-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Rents</a:t>
            </a:r>
          </a:p>
        </p:txBody>
      </p:sp>
      <p:pic>
        <p:nvPicPr>
          <p:cNvPr descr="delegates-forum-vic-2026_files/figure-pptx/unnamed-chunk-7-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Water</a:t>
            </a:r>
          </a:p>
        </p:txBody>
      </p:sp>
      <p:pic>
        <p:nvPicPr>
          <p:cNvPr descr="delegates-forum-vic-2026_files/figure-pptx/unnamed-chunk-8-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Food and Non-alcoholic Beverages</a:t>
            </a:r>
          </a:p>
        </p:txBody>
      </p:sp>
      <p:pic>
        <p:nvPicPr>
          <p:cNvPr descr="delegates-forum-vic-2026_files/figure-pptx/unnamed-chunk-9-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Housing - Including Mortgages</a:t>
            </a:r>
          </a:p>
        </p:txBody>
      </p:sp>
      <p:pic>
        <p:nvPicPr>
          <p:cNvPr descr="delegates-forum-vic-2026_files/figure-pptx/unnamed-chunk-10-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Summary</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2023</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Insurance and financial services</a:t>
                      </a:r>
                    </a:p>
                  </a:txBody>
                </a:tc>
                <a:tc>
                  <a:txBody>
                    <a:bodyPr/>
                    <a:lstStyle/>
                    <a:p>
                      <a:pPr lvl="0" indent="0" marL="0">
                        <a:buNone/>
                      </a:pPr>
                      <a:r>
                        <a:rPr/>
                        <a:t>33.6%</a:t>
                      </a:r>
                    </a:p>
                  </a:txBody>
                </a:tc>
              </a:tr>
              <a:tr h="0">
                <a:tc>
                  <a:txBody>
                    <a:bodyPr/>
                    <a:lstStyle/>
                    <a:p>
                      <a:pPr lvl="0" indent="0" marL="0">
                        <a:buNone/>
                      </a:pPr>
                      <a:r>
                        <a:rPr/>
                        <a:t>Housing</a:t>
                      </a:r>
                    </a:p>
                  </a:txBody>
                </a:tc>
                <a:tc>
                  <a:txBody>
                    <a:bodyPr/>
                    <a:lstStyle/>
                    <a:p>
                      <a:pPr lvl="0" indent="0" marL="0">
                        <a:buNone/>
                      </a:pPr>
                      <a:r>
                        <a:rPr/>
                        <a:t>18.4%</a:t>
                      </a:r>
                    </a:p>
                  </a:txBody>
                </a:tc>
              </a:tr>
              <a:tr h="0">
                <a:tc>
                  <a:txBody>
                    <a:bodyPr/>
                    <a:lstStyle/>
                    <a:p>
                      <a:pPr lvl="0" indent="0" marL="0">
                        <a:buNone/>
                      </a:pPr>
                      <a:r>
                        <a:rPr/>
                        <a:t>Alcohol and tobacco</a:t>
                      </a:r>
                    </a:p>
                  </a:txBody>
                </a:tc>
                <a:tc>
                  <a:txBody>
                    <a:bodyPr/>
                    <a:lstStyle/>
                    <a:p>
                      <a:pPr lvl="0" indent="0" marL="0">
                        <a:buNone/>
                      </a:pPr>
                      <a:r>
                        <a:rPr/>
                        <a:t>17.9%</a:t>
                      </a:r>
                    </a:p>
                  </a:txBody>
                </a:tc>
              </a:tr>
              <a:tr h="0">
                <a:tc>
                  <a:txBody>
                    <a:bodyPr/>
                    <a:lstStyle/>
                    <a:p>
                      <a:pPr lvl="0" indent="0" marL="0">
                        <a:buNone/>
                      </a:pPr>
                      <a:r>
                        <a:rPr/>
                        <a:t>Education</a:t>
                      </a:r>
                    </a:p>
                  </a:txBody>
                </a:tc>
                <a:tc>
                  <a:txBody>
                    <a:bodyPr/>
                    <a:lstStyle/>
                    <a:p>
                      <a:pPr lvl="0" indent="0" marL="0">
                        <a:buNone/>
                      </a:pPr>
                      <a:r>
                        <a:rPr/>
                        <a:t>15.0%</a:t>
                      </a:r>
                    </a:p>
                  </a:txBody>
                </a:tc>
              </a:tr>
              <a:tr h="0">
                <a:tc>
                  <a:txBody>
                    <a:bodyPr/>
                    <a:lstStyle/>
                    <a:p>
                      <a:pPr lvl="0" indent="0" marL="0">
                        <a:buNone/>
                      </a:pPr>
                      <a:r>
                        <a:rPr/>
                        <a:t>All groups</a:t>
                      </a:r>
                    </a:p>
                  </a:txBody>
                </a:tc>
                <a:tc>
                  <a:txBody>
                    <a:bodyPr/>
                    <a:lstStyle/>
                    <a:p>
                      <a:pPr lvl="0" indent="0" marL="0">
                        <a:buNone/>
                      </a:pPr>
                      <a:r>
                        <a:rPr/>
                        <a:t>13.0%</a:t>
                      </a:r>
                    </a:p>
                  </a:txBody>
                </a:tc>
              </a:tr>
              <a:tr h="0">
                <a:tc>
                  <a:txBody>
                    <a:bodyPr/>
                    <a:lstStyle/>
                    <a:p>
                      <a:pPr lvl="0" indent="0" marL="0">
                        <a:buNone/>
                      </a:pPr>
                      <a:r>
                        <a:rPr/>
                        <a:t>Health</a:t>
                      </a:r>
                    </a:p>
                  </a:txBody>
                </a:tc>
                <a:tc>
                  <a:txBody>
                    <a:bodyPr/>
                    <a:lstStyle/>
                    <a:p>
                      <a:pPr lvl="0" indent="0" marL="0">
                        <a:buNone/>
                      </a:pPr>
                      <a:r>
                        <a:rPr/>
                        <a:t>12.5%</a:t>
                      </a:r>
                    </a:p>
                  </a:txBody>
                </a:tc>
              </a:tr>
              <a:tr h="0">
                <a:tc>
                  <a:txBody>
                    <a:bodyPr/>
                    <a:lstStyle/>
                    <a:p>
                      <a:pPr lvl="0" indent="0" marL="0">
                        <a:buNone/>
                      </a:pPr>
                      <a:r>
                        <a:rPr/>
                        <a:t>Wages</a:t>
                      </a:r>
                    </a:p>
                  </a:txBody>
                </a:tc>
                <a:tc>
                  <a:txBody>
                    <a:bodyPr/>
                    <a:lstStyle/>
                    <a:p>
                      <a:pPr lvl="0" indent="0" marL="0">
                        <a:buNone/>
                      </a:pPr>
                      <a:r>
                        <a:rPr/>
                        <a:t>11.0%</a:t>
                      </a:r>
                    </a:p>
                  </a:txBody>
                </a:tc>
              </a:tr>
              <a:tr h="0">
                <a:tc>
                  <a:txBody>
                    <a:bodyPr/>
                    <a:lstStyle/>
                    <a:p>
                      <a:pPr lvl="0" indent="0" marL="0">
                        <a:buNone/>
                      </a:pPr>
                      <a:r>
                        <a:rPr/>
                        <a:t>Food and non-alcoholic beverages</a:t>
                      </a:r>
                    </a:p>
                  </a:txBody>
                </a:tc>
                <a:tc>
                  <a:txBody>
                    <a:bodyPr/>
                    <a:lstStyle/>
                    <a:p>
                      <a:pPr lvl="0" indent="0" marL="0">
                        <a:buNone/>
                      </a:pPr>
                      <a:r>
                        <a:rPr/>
                        <a:t>10.5%</a:t>
                      </a:r>
                    </a:p>
                  </a:txBody>
                </a:tc>
              </a:tr>
              <a:tr h="0">
                <a:tc>
                  <a:txBody>
                    <a:bodyPr/>
                    <a:lstStyle/>
                    <a:p>
                      <a:pPr lvl="0" indent="0" marL="0">
                        <a:buNone/>
                      </a:pPr>
                      <a:r>
                        <a:rPr/>
                        <a:t>Clothing and footwear</a:t>
                      </a:r>
                    </a:p>
                  </a:txBody>
                </a:tc>
                <a:tc>
                  <a:txBody>
                    <a:bodyPr/>
                    <a:lstStyle/>
                    <a:p>
                      <a:pPr lvl="0" indent="0" marL="0">
                        <a:buNone/>
                      </a:pPr>
                      <a:r>
                        <a:rPr/>
                        <a:t>7.7%</a:t>
                      </a:r>
                    </a:p>
                  </a:txBody>
                </a:tc>
              </a:tr>
              <a:tr h="0">
                <a:tc>
                  <a:txBody>
                    <a:bodyPr/>
                    <a:lstStyle/>
                    <a:p>
                      <a:pPr lvl="0" indent="0" marL="0">
                        <a:buNone/>
                      </a:pPr>
                      <a:r>
                        <a:rPr/>
                        <a:t>Recreation and culture</a:t>
                      </a:r>
                    </a:p>
                  </a:txBody>
                </a:tc>
                <a:tc>
                  <a:txBody>
                    <a:bodyPr/>
                    <a:lstStyle/>
                    <a:p>
                      <a:pPr lvl="0" indent="0" marL="0">
                        <a:buNone/>
                      </a:pPr>
                      <a:r>
                        <a:rPr/>
                        <a:t>5.6%</a:t>
                      </a:r>
                    </a:p>
                  </a:txBody>
                </a:tc>
              </a:tr>
              <a:tr h="0">
                <a:tc>
                  <a:txBody>
                    <a:bodyPr/>
                    <a:lstStyle/>
                    <a:p>
                      <a:pPr lvl="0" indent="0" marL="0">
                        <a:buNone/>
                      </a:pPr>
                      <a:r>
                        <a:rPr/>
                        <a:t>Transport</a:t>
                      </a:r>
                    </a:p>
                  </a:txBody>
                </a:tc>
                <a:tc>
                  <a:txBody>
                    <a:bodyPr/>
                    <a:lstStyle/>
                    <a:p>
                      <a:pPr lvl="0" indent="0" marL="0">
                        <a:buNone/>
                      </a:pPr>
                      <a:r>
                        <a:rPr/>
                        <a:t>5.3%</a:t>
                      </a:r>
                    </a:p>
                  </a:txBody>
                </a:tc>
              </a:tr>
              <a:tr h="0">
                <a:tc>
                  <a:txBody>
                    <a:bodyPr/>
                    <a:lstStyle/>
                    <a:p>
                      <a:pPr lvl="0" indent="0" marL="0">
                        <a:buNone/>
                      </a:pPr>
                      <a:r>
                        <a:rPr/>
                        <a:t>Communication</a:t>
                      </a:r>
                    </a:p>
                  </a:txBody>
                </a:tc>
                <a:tc>
                  <a:txBody>
                    <a:bodyPr/>
                    <a:lstStyle/>
                    <a:p>
                      <a:pPr lvl="0" indent="0" marL="0">
                        <a:buNone/>
                      </a:pPr>
                      <a:r>
                        <a:rPr/>
                        <a:t>3.3%</a:t>
                      </a:r>
                    </a:p>
                  </a:txBody>
                </a:tc>
              </a:tr>
              <a:tr h="0">
                <a:tc>
                  <a:txBody>
                    <a:bodyPr/>
                    <a:lstStyle/>
                    <a:p>
                      <a:pPr lvl="0" indent="0" marL="0">
                        <a:buNone/>
                      </a:pPr>
                      <a:r>
                        <a:rPr/>
                        <a:t>Furnishings, household equipment and services</a:t>
                      </a:r>
                    </a:p>
                  </a:txBody>
                </a:tc>
                <a:tc>
                  <a:txBody>
                    <a:bodyPr/>
                    <a:lstStyle/>
                    <a:p>
                      <a:pPr lvl="0" indent="0" marL="0">
                        <a:buNone/>
                      </a:pPr>
                      <a:r>
                        <a:rPr/>
                        <a:t>2.7%</a:t>
                      </a:r>
                    </a:p>
                  </a:txBody>
                </a:tc>
              </a:tr>
            </a:tbl>
          </a:graphicData>
        </a:graphic>
      </p:graphicFrame>
      <p:graphicFrame>
        <p:nvGraphicFramePr>
          <p:cNvPr id="6" name="Content Placeholder 5"/>
          <p:cNvGraphicFramePr>
            <a:graphicFrameLocks noGrp="1"/>
          </p:cNvGraphicFramePr>
          <p:nvPr>
            <p:ph idx="1"/>
          </p:nvPr>
        </p:nvGraphicFramePr>
        <p:xfrm>
          <a:off x="4648200" y="1193800"/>
          <a:ext cx="4038600" cy="3860800"/>
        </p:xfrm>
        <a:graphic>
          <a:graphicData uri="http://schemas.openxmlformats.org/drawingml/2006/table">
            <a:tbl>
              <a:tblPr firstRow="1" bandRow="1">
                <a:tableStyleId>{5C22544A-7EE6-4342-B048-85BDC9FD1C3A}</a:tableStyleId>
              </a:tblPr>
              <a:tblGrid>
                <a:gridCol w="2019300"/>
                <a:gridCol w="2019300"/>
              </a:tblGrid>
              <a:tr h="0">
                <a:tc>
                  <a:txBody>
                    <a:bodyPr/>
                    <a:lstStyle/>
                    <a:p>
                      <a:pPr lvl="0" indent="0" marL="0">
                        <a:buNone/>
                      </a:pPr>
                      <a:r>
                        <a:rPr b="1"/>
                        <a:t>Change in living costs by product category</a:t>
                      </a:r>
                    </a:p>
                  </a:txBody>
                  <a:tcPr/>
                </a:tc>
                <a:tc>
                  <a:txBody>
                    <a:bodyPr/>
                    <a:lstStyle/>
                    <a:p>
                      <a:endParaRPr/>
                    </a:p>
                  </a:txBody>
                  <a:tcPr/>
                </a:tc>
              </a:tr>
              <a:tr h="0">
                <a:tc>
                  <a:txBody>
                    <a:bodyPr/>
                    <a:lstStyle/>
                    <a:p>
                      <a:pPr lvl="0" indent="0" marL="0">
                        <a:buNone/>
                      </a:pPr>
                      <a:r>
                        <a:rPr/>
                        <a:t>% change between March 2026 and March 2020</a:t>
                      </a:r>
                    </a:p>
                  </a:txBody>
                </a:tc>
                <a:tc>
                  <a:txBody>
                    <a:bodyPr/>
                    <a:lstStyle/>
                    <a:p>
                      <a:endParaRPr/>
                    </a:p>
                  </a:txBody>
                </a:tc>
              </a:tr>
              <a:tr h="0">
                <a:tc>
                  <a:txBody>
                    <a:bodyPr/>
                    <a:lstStyle/>
                    <a:p>
                      <a:pPr lvl="0" indent="0" marL="0">
                        <a:buNone/>
                      </a:pPr>
                      <a:r>
                        <a:rPr/>
                        <a:t>Price Category</a:t>
                      </a:r>
                    </a:p>
                  </a:txBody>
                </a:tc>
                <a:tc>
                  <a:txBody>
                    <a:bodyPr/>
                    <a:lstStyle/>
                    <a:p>
                      <a:pPr lvl="0" indent="0" marL="0">
                        <a:buNone/>
                      </a:pPr>
                      <a:r>
                        <a:rPr/>
                        <a:t>% change</a:t>
                      </a:r>
                    </a:p>
                  </a:txBody>
                </a:tc>
              </a:tr>
              <a:tr h="0">
                <a:tc>
                  <a:txBody>
                    <a:bodyPr/>
                    <a:lstStyle/>
                    <a:p>
                      <a:pPr lvl="0" indent="0" marL="0">
                        <a:buNone/>
                      </a:pPr>
                      <a:r>
                        <a:rPr/>
                        <a:t>Insurance and financial services</a:t>
                      </a:r>
                    </a:p>
                  </a:txBody>
                </a:tc>
                <a:tc>
                  <a:txBody>
                    <a:bodyPr/>
                    <a:lstStyle/>
                    <a:p>
                      <a:pPr lvl="0" indent="0" marL="0">
                        <a:buNone/>
                      </a:pPr>
                      <a:r>
                        <a:rPr/>
                        <a:t>72.3%</a:t>
                      </a:r>
                    </a:p>
                  </a:txBody>
                </a:tc>
              </a:tr>
              <a:tr h="0">
                <a:tc>
                  <a:txBody>
                    <a:bodyPr/>
                    <a:lstStyle/>
                    <a:p>
                      <a:pPr lvl="0" indent="0" marL="0">
                        <a:buNone/>
                      </a:pPr>
                      <a:r>
                        <a:rPr/>
                        <a:t>Alcohol and tobacco</a:t>
                      </a:r>
                    </a:p>
                  </a:txBody>
                </a:tc>
                <a:tc>
                  <a:txBody>
                    <a:bodyPr/>
                    <a:lstStyle/>
                    <a:p>
                      <a:pPr lvl="0" indent="0" marL="0">
                        <a:buNone/>
                      </a:pPr>
                      <a:r>
                        <a:rPr/>
                        <a:t>35.1%</a:t>
                      </a:r>
                    </a:p>
                  </a:txBody>
                </a:tc>
              </a:tr>
              <a:tr h="0">
                <a:tc>
                  <a:txBody>
                    <a:bodyPr/>
                    <a:lstStyle/>
                    <a:p>
                      <a:pPr lvl="0" indent="0" marL="0">
                        <a:buNone/>
                      </a:pPr>
                      <a:r>
                        <a:rPr/>
                        <a:t>All groups</a:t>
                      </a:r>
                    </a:p>
                  </a:txBody>
                </a:tc>
                <a:tc>
                  <a:txBody>
                    <a:bodyPr/>
                    <a:lstStyle/>
                    <a:p>
                      <a:pPr lvl="0" indent="0" marL="0">
                        <a:buNone/>
                      </a:pPr>
                      <a:r>
                        <a:rPr/>
                        <a:t>28.5%</a:t>
                      </a:r>
                    </a:p>
                  </a:txBody>
                </a:tc>
              </a:tr>
              <a:tr h="0">
                <a:tc>
                  <a:txBody>
                    <a:bodyPr/>
                    <a:lstStyle/>
                    <a:p>
                      <a:pPr lvl="0" indent="0" marL="0">
                        <a:buNone/>
                      </a:pPr>
                      <a:r>
                        <a:rPr/>
                        <a:t>Housing</a:t>
                      </a:r>
                    </a:p>
                  </a:txBody>
                </a:tc>
                <a:tc>
                  <a:txBody>
                    <a:bodyPr/>
                    <a:lstStyle/>
                    <a:p>
                      <a:pPr lvl="0" indent="0" marL="0">
                        <a:buNone/>
                      </a:pPr>
                      <a:r>
                        <a:rPr/>
                        <a:t>27.1%</a:t>
                      </a:r>
                    </a:p>
                  </a:txBody>
                </a:tc>
              </a:tr>
              <a:tr h="0">
                <a:tc>
                  <a:txBody>
                    <a:bodyPr/>
                    <a:lstStyle/>
                    <a:p>
                      <a:pPr lvl="0" indent="0" marL="0">
                        <a:buNone/>
                      </a:pPr>
                      <a:r>
                        <a:rPr/>
                        <a:t>Health</a:t>
                      </a:r>
                    </a:p>
                  </a:txBody>
                </a:tc>
                <a:tc>
                  <a:txBody>
                    <a:bodyPr/>
                    <a:lstStyle/>
                    <a:p>
                      <a:pPr lvl="0" indent="0" marL="0">
                        <a:buNone/>
                      </a:pPr>
                      <a:r>
                        <a:rPr/>
                        <a:t>27.0%</a:t>
                      </a:r>
                    </a:p>
                  </a:txBody>
                </a:tc>
              </a:tr>
              <a:tr h="0">
                <a:tc>
                  <a:txBody>
                    <a:bodyPr/>
                    <a:lstStyle/>
                    <a:p>
                      <a:pPr lvl="0" indent="0" marL="0">
                        <a:buNone/>
                      </a:pPr>
                      <a:r>
                        <a:rPr/>
                        <a:t>Education</a:t>
                      </a:r>
                    </a:p>
                  </a:txBody>
                </a:tc>
                <a:tc>
                  <a:txBody>
                    <a:bodyPr/>
                    <a:lstStyle/>
                    <a:p>
                      <a:pPr lvl="0" indent="0" marL="0">
                        <a:buNone/>
                      </a:pPr>
                      <a:r>
                        <a:rPr/>
                        <a:t>26.2%</a:t>
                      </a:r>
                    </a:p>
                  </a:txBody>
                </a:tc>
              </a:tr>
              <a:tr h="0">
                <a:tc>
                  <a:txBody>
                    <a:bodyPr/>
                    <a:lstStyle/>
                    <a:p>
                      <a:pPr lvl="0" indent="0" marL="0">
                        <a:buNone/>
                      </a:pPr>
                      <a:r>
                        <a:rPr/>
                        <a:t>Transport</a:t>
                      </a:r>
                    </a:p>
                  </a:txBody>
                </a:tc>
                <a:tc>
                  <a:txBody>
                    <a:bodyPr/>
                    <a:lstStyle/>
                    <a:p>
                      <a:pPr lvl="0" indent="0" marL="0">
                        <a:buNone/>
                      </a:pPr>
                      <a:r>
                        <a:rPr/>
                        <a:t>25.4%</a:t>
                      </a:r>
                    </a:p>
                  </a:txBody>
                </a:tc>
              </a:tr>
              <a:tr h="0">
                <a:tc>
                  <a:txBody>
                    <a:bodyPr/>
                    <a:lstStyle/>
                    <a:p>
                      <a:pPr lvl="0" indent="0" marL="0">
                        <a:buNone/>
                      </a:pPr>
                      <a:r>
                        <a:rPr/>
                        <a:t>Food and non-alcoholic beverages</a:t>
                      </a:r>
                    </a:p>
                  </a:txBody>
                </a:tc>
                <a:tc>
                  <a:txBody>
                    <a:bodyPr/>
                    <a:lstStyle/>
                    <a:p>
                      <a:pPr lvl="0" indent="0" marL="0">
                        <a:buNone/>
                      </a:pPr>
                      <a:r>
                        <a:rPr/>
                        <a:t>25.3%</a:t>
                      </a:r>
                    </a:p>
                  </a:txBody>
                </a:tc>
              </a:tr>
              <a:tr h="0">
                <a:tc>
                  <a:txBody>
                    <a:bodyPr/>
                    <a:lstStyle/>
                    <a:p>
                      <a:pPr lvl="0" indent="0" marL="0">
                        <a:buNone/>
                      </a:pPr>
                      <a:r>
                        <a:rPr/>
                        <a:t>Wages</a:t>
                      </a:r>
                    </a:p>
                  </a:txBody>
                </a:tc>
                <a:tc>
                  <a:txBody>
                    <a:bodyPr/>
                    <a:lstStyle/>
                    <a:p>
                      <a:pPr lvl="0" indent="0" marL="0">
                        <a:buNone/>
                      </a:pPr>
                      <a:r>
                        <a:rPr/>
                        <a:t>20.6%</a:t>
                      </a:r>
                    </a:p>
                  </a:txBody>
                </a:tc>
              </a:tr>
              <a:tr h="0">
                <a:tc>
                  <a:txBody>
                    <a:bodyPr/>
                    <a:lstStyle/>
                    <a:p>
                      <a:pPr lvl="0" indent="0" marL="0">
                        <a:buNone/>
                      </a:pPr>
                      <a:r>
                        <a:rPr/>
                        <a:t>Recreation and culture</a:t>
                      </a:r>
                    </a:p>
                  </a:txBody>
                </a:tc>
                <a:tc>
                  <a:txBody>
                    <a:bodyPr/>
                    <a:lstStyle/>
                    <a:p>
                      <a:pPr lvl="0" indent="0" marL="0">
                        <a:buNone/>
                      </a:pPr>
                      <a:r>
                        <a:rPr/>
                        <a:t>19.2%</a:t>
                      </a:r>
                    </a:p>
                  </a:txBody>
                </a:tc>
              </a:tr>
              <a:tr h="0">
                <a:tc>
                  <a:txBody>
                    <a:bodyPr/>
                    <a:lstStyle/>
                    <a:p>
                      <a:pPr lvl="0" indent="0" marL="0">
                        <a:buNone/>
                      </a:pPr>
                      <a:r>
                        <a:rPr/>
                        <a:t>Furnishings, household equipment and services</a:t>
                      </a:r>
                    </a:p>
                  </a:txBody>
                </a:tc>
                <a:tc>
                  <a:txBody>
                    <a:bodyPr/>
                    <a:lstStyle/>
                    <a:p>
                      <a:pPr lvl="0" indent="0" marL="0">
                        <a:buNone/>
                      </a:pPr>
                      <a:r>
                        <a:rPr/>
                        <a:t>17.9%</a:t>
                      </a:r>
                    </a:p>
                  </a:txBody>
                </a:tc>
              </a:tr>
              <a:tr h="0">
                <a:tc>
                  <a:txBody>
                    <a:bodyPr/>
                    <a:lstStyle/>
                    <a:p>
                      <a:pPr lvl="0" indent="0" marL="0">
                        <a:buNone/>
                      </a:pPr>
                      <a:r>
                        <a:rPr/>
                        <a:t>Clothing and footwear</a:t>
                      </a:r>
                    </a:p>
                  </a:txBody>
                </a:tc>
                <a:tc>
                  <a:txBody>
                    <a:bodyPr/>
                    <a:lstStyle/>
                    <a:p>
                      <a:pPr lvl="0" indent="0" marL="0">
                        <a:buNone/>
                      </a:pPr>
                      <a:r>
                        <a:rPr/>
                        <a:t>9.4%</a:t>
                      </a:r>
                    </a:p>
                  </a:txBody>
                </a:tc>
              </a:tr>
              <a:tr h="0">
                <a:tc>
                  <a:txBody>
                    <a:bodyPr/>
                    <a:lstStyle/>
                    <a:p>
                      <a:pPr lvl="0" indent="0" marL="0">
                        <a:buNone/>
                      </a:pPr>
                      <a:r>
                        <a:rPr/>
                        <a:t>Communication</a:t>
                      </a:r>
                    </a:p>
                  </a:txBody>
                </a:tc>
                <a:tc>
                  <a:txBody>
                    <a:bodyPr/>
                    <a:lstStyle/>
                    <a:p>
                      <a:pPr lvl="0" indent="0" marL="0">
                        <a:buNone/>
                      </a:pPr>
                      <a:r>
                        <a:rPr/>
                        <a:t>1.7%</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Inflation and Wages</a:t>
            </a:r>
          </a:p>
        </p:txBody>
      </p:sp>
      <p:pic>
        <p:nvPicPr>
          <p:cNvPr descr="delegates-forum-vic-2026_files/figure-pptx/unnamed-chunk-14-1.png" id="0" name="Picture 1"/>
          <p:cNvPicPr>
            <a:picLocks noGrp="1" noChangeAspect="1"/>
          </p:cNvPicPr>
          <p:nvPr/>
        </p:nvPicPr>
        <p:blipFill>
          <a:blip r:embed="rId3"/>
          <a:stretch>
            <a:fillRect/>
          </a:stretch>
        </p:blipFill>
        <p:spPr bwMode="auto">
          <a:xfrm>
            <a:off x="1193800" y="1587500"/>
            <a:ext cx="6756400" cy="33782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730350"/>
            <a:ext cx="8229600" cy="857250"/>
          </a:xfrm>
        </p:spPr>
        <p:txBody>
          <a:bodyPr/>
          <a:lstStyle/>
          <a:p>
            <a:pPr lvl="0" indent="0" marL="0">
              <a:buNone/>
            </a:pPr>
            <a:r>
              <a:rPr/>
              <a:t>Cost of Living and Wages</a:t>
            </a:r>
          </a:p>
        </p:txBody>
      </p:sp>
      <p:pic>
        <p:nvPicPr>
          <p:cNvPr descr="delegates-forum-vic-2026_files/figure-pptx/unnamed-chunk-15-1.png" id="0" name="Picture 1"/>
          <p:cNvPicPr>
            <a:picLocks noGrp="1" noChangeAspect="1"/>
          </p:cNvPicPr>
          <p:nvPr/>
        </p:nvPicPr>
        <p:blipFill>
          <a:blip r:embed="rId2"/>
          <a:stretch>
            <a:fillRect/>
          </a:stretch>
        </p:blipFill>
        <p:spPr bwMode="auto">
          <a:xfrm>
            <a:off x="1193800" y="1587500"/>
            <a:ext cx="6756400" cy="33782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AMWU">
      <a:dk1>
        <a:sysClr val="windowText" lastClr="000000"/>
      </a:dk1>
      <a:lt1>
        <a:sysClr val="window" lastClr="FFFFFF"/>
      </a:lt1>
      <a:dk2>
        <a:srgbClr val="0E2841"/>
      </a:dk2>
      <a:lt2>
        <a:srgbClr val="E8E8E8"/>
      </a:lt2>
      <a:accent1>
        <a:srgbClr val="001D26"/>
      </a:accent1>
      <a:accent2>
        <a:srgbClr val="F15C30"/>
      </a:accent2>
      <a:accent3>
        <a:srgbClr val="094FA3"/>
      </a:accent3>
      <a:accent4>
        <a:srgbClr val="FEBE10"/>
      </a:accent4>
      <a:accent5>
        <a:srgbClr val="E4E4E4"/>
      </a:accent5>
      <a:accent6>
        <a:srgbClr val="231F20"/>
      </a:accent6>
      <a:hlink>
        <a:srgbClr val="094FA3"/>
      </a:hlink>
      <a:folHlink>
        <a:srgbClr val="F15C3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Helvetica</vt:lpstr>
      <vt:lpstr>Stag</vt:lpstr>
      <vt:lpstr>Stag Medium</vt:lpstr>
      <vt:lpstr>Stag Semibold</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Inflation, Cost of Living, and Real Wages</dc:title>
  <dc:creator>Hamish Gamble</dc:creator>
  <cp:keywords/>
  <dcterms:created xsi:type="dcterms:W3CDTF">2026-07-22T23:01:36Z</dcterms:created>
  <dcterms:modified xsi:type="dcterms:W3CDTF">2026-07-22T23:01:36Z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
    <vt:lpwstr>National Research Centre</vt:lpwstr>
  </property>
  <property fmtid="{D5CDD505-2E9C-101B-9397-08002B2CF9AE}" pid="3" name="authors">
    <vt:lpwstr/>
  </property>
  <property fmtid="{D5CDD505-2E9C-101B-9397-08002B2CF9AE}" pid="4" name="biblio-config">
    <vt:lpwstr>True</vt:lpwstr>
  </property>
  <property fmtid="{D5CDD505-2E9C-101B-9397-08002B2CF9AE}" pid="5" name="brand">
    <vt:lpwstr>_brand/_brand.yml</vt:lpwstr>
  </property>
  <property fmtid="{D5CDD505-2E9C-101B-9397-08002B2CF9AE}" pid="6" name="by-author">
    <vt:lpwstr/>
  </property>
  <property fmtid="{D5CDD505-2E9C-101B-9397-08002B2CF9AE}" pid="7" name="editor">
    <vt:lpwstr>visual</vt:lpwstr>
  </property>
  <property fmtid="{D5CDD505-2E9C-101B-9397-08002B2CF9AE}" pid="8" name="engines">
    <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subtitle">
    <vt:lpwstr>Victorian Delegates Training Day</vt:lpwstr>
  </property>
  <property fmtid="{D5CDD505-2E9C-101B-9397-08002B2CF9AE}" pid="15" name="toc-title">
    <vt:lpwstr>Table of contents</vt:lpwstr>
  </property>
</Properties>
</file>