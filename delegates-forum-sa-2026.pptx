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notesMaster" Target="notesMasters/notesMaster1.xml" /><Relationship Id="rId38" Type="http://schemas.openxmlformats.org/officeDocument/2006/relationships/viewProps" Target="viewProps.xml" /><Relationship Id="rId37" Type="http://schemas.openxmlformats.org/officeDocument/2006/relationships/presProps" Target="presProps.xml" /><Relationship Id="rId1" Type="http://schemas.openxmlformats.org/officeDocument/2006/relationships/slideMaster" Target="slideMasters/slideMaster1.xml" /><Relationship Id="rId40" Type="http://schemas.openxmlformats.org/officeDocument/2006/relationships/tableStyles" Target="tableStyles.xml" /><Relationship Id="rId3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Talk about inflation and real wages. What they are, how they are measured, and importantly - what they are not.</a:t>
            </a:r>
          </a:p>
          <a:p>
            <a:pPr lvl="0" indent="0" marL="0">
              <a:buNone/>
            </a:pPr>
          </a:p>
          <a:p>
            <a:pPr lvl="0"/>
            <a:r>
              <a:rPr/>
              <a:t>How does inflation and real wages link with the AMWU broader goals of a living wage, and increasing the minimum wage for apprentices.</a:t>
            </a:r>
          </a:p>
          <a:p>
            <a:pPr lvl="0" indent="0" marL="0">
              <a:buNone/>
            </a:pPr>
          </a:p>
          <a:p>
            <a:pPr lvl="0"/>
            <a:r>
              <a:rPr/>
              <a:t>Talk about sovereign capability. What it means, why it is important, and how we’re advocating for industry policy through FMIA and the Defence industry.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going to talk about:</a:t>
            </a:r>
          </a:p>
          <a:p>
            <a:pPr lvl="0" indent="0" marL="0">
              <a:buNone/>
            </a:pPr>
          </a:p>
          <a:p>
            <a:pPr lvl="0"/>
            <a:r>
              <a:rPr/>
              <a:t>inflation</a:t>
            </a:r>
          </a:p>
          <a:p>
            <a:pPr lvl="0" indent="0" marL="0">
              <a:buNone/>
            </a:pPr>
          </a:p>
          <a:p>
            <a:pPr lvl="0"/>
            <a:r>
              <a:rPr/>
              <a:t>why “economic good news” doesn’t necessarily translate to how you feel</a:t>
            </a:r>
          </a:p>
          <a:p>
            <a:pPr lvl="0" indent="0" marL="0">
              <a:buNone/>
            </a:pPr>
          </a:p>
          <a:p>
            <a:pPr lvl="0"/>
            <a:r>
              <a:rPr/>
              <a:t>things your boss will use to justify why you shouldn’t get a pay rise</a:t>
            </a:r>
          </a:p>
          <a:p>
            <a:pPr lvl="0" indent="0" marL="0">
              <a:buNone/>
            </a:pPr>
          </a:p>
          <a:p>
            <a:pPr lvl="0" indent="0" marL="0">
              <a:buNone/>
            </a:pPr>
            <a:r>
              <a:rPr/>
              <a:t>Hopefully give you confidence to talk about economic indicators, by letting you know the tricks that “economists” use.</a:t>
            </a:r>
          </a:p>
          <a:p>
            <a:pPr lvl="0" indent="0" marL="0">
              <a:buNone/>
            </a:pPr>
          </a:p>
          <a:p>
            <a:pPr lvl="0" indent="0" marL="0">
              <a:buNone/>
            </a:pPr>
            <a:r>
              <a:rPr/>
              <a:t>Inflation, under neo-liberalism has become the single most important economic priority.</a:t>
            </a:r>
          </a:p>
          <a:p>
            <a:pPr lvl="0" indent="0" marL="0">
              <a:buNone/>
            </a:pPr>
          </a:p>
          <a:p>
            <a:pPr lvl="0" indent="0" marL="0">
              <a:buNone/>
            </a:pPr>
            <a:r>
              <a:rPr/>
              <a:t>This coincides with the increased dominance and ‘importance’ of the financial industry and the decline in productive industry like manufacturing.</a:t>
            </a:r>
          </a:p>
          <a:p>
            <a:pPr lvl="0" indent="0" marL="0">
              <a:buNone/>
            </a:pPr>
          </a:p>
          <a:p>
            <a:pPr lvl="0" indent="0" marL="0">
              <a:buNone/>
            </a:pPr>
            <a:r>
              <a:rPr/>
              <a:t>Controlling inflation is More Important than:</a:t>
            </a:r>
          </a:p>
          <a:p>
            <a:pPr lvl="0" indent="0" marL="0">
              <a:buNone/>
            </a:pPr>
          </a:p>
          <a:p>
            <a:pPr lvl="0"/>
            <a:r>
              <a:rPr/>
              <a:t>full employment</a:t>
            </a:r>
          </a:p>
          <a:p>
            <a:pPr lvl="0" indent="0" marL="0">
              <a:buNone/>
            </a:pPr>
          </a:p>
          <a:p>
            <a:pPr lvl="0"/>
            <a:r>
              <a:rPr/>
              <a:t>reducing inequality</a:t>
            </a:r>
          </a:p>
          <a:p>
            <a:pPr lvl="0" indent="0" marL="0">
              <a:buNone/>
            </a:pPr>
          </a:p>
          <a:p>
            <a:pPr lvl="0"/>
            <a:r>
              <a:rPr/>
              <a:t>housing affordability</a:t>
            </a:r>
          </a:p>
          <a:p>
            <a:pPr lvl="0" indent="0" marL="0">
              <a:buNone/>
            </a:pPr>
          </a:p>
          <a:p>
            <a:pPr lvl="0"/>
            <a:r>
              <a:rPr/>
              <a:t>alleviating poverty</a:t>
            </a:r>
          </a:p>
          <a:p>
            <a:pPr lvl="0" indent="0" marL="0">
              <a:buNone/>
            </a:pPr>
          </a:p>
          <a:p>
            <a:pPr lvl="0" indent="0" marL="0">
              <a:buNone/>
            </a:pPr>
            <a:r>
              <a:rPr/>
              <a:t>Instead of full employment, government and institutions now push the “non-accelerating inflation rate of unemployment” which suggests there is a minimum level of unemployment necessary in order to stop wages growth and rising inflation. Of course, we can’t measure the NAIRU, only show that it might exist, if a bunch of assumptions are made about how the economy works. Estimates from data suggest that it falls somewhere between 4 and 5%.</a:t>
            </a:r>
          </a:p>
          <a:p>
            <a:pPr lvl="0" indent="0" marL="0">
              <a:buNone/>
            </a:pPr>
          </a:p>
          <a:p>
            <a:pPr lvl="0" indent="0" marL="0">
              <a:buNone/>
            </a:pPr>
            <a:r>
              <a:rPr/>
              <a:t>This means that it is explicit government policy to keep up-to 5% of the labour force out of work, in order to keep wages and inflation down.</a:t>
            </a:r>
          </a:p>
          <a:p>
            <a:pPr lvl="0" indent="0" marL="0">
              <a:buNone/>
            </a:pPr>
          </a:p>
          <a:p>
            <a:pPr lvl="0" indent="0" marL="0">
              <a:buNone/>
            </a:pPr>
            <a:r>
              <a:rPr/>
              <a:t>Such policy MIGHT be palatable if there was a strong social safety net to support workers who lose their job and are looking for another one. Of course, we don’t even get that, with only the below poverty JobSeeker payment available.</a:t>
            </a:r>
          </a:p>
          <a:p>
            <a:pPr lvl="0" indent="0" marL="0">
              <a:buNone/>
            </a:pPr>
          </a:p>
          <a:p>
            <a:pPr lvl="0" indent="0" marL="0">
              <a:buNone/>
            </a:pPr>
            <a:r>
              <a:rPr/>
              <a:t>But it is still a very inefficient use of the labour power that our economy has access to. Why shouldn’t someone who wants to work not have access to a job? It also means that policy is designed to discipline labour.</a:t>
            </a:r>
          </a:p>
          <a:p>
            <a:pPr lvl="0" indent="0" marL="0">
              <a:buNone/>
            </a:pPr>
          </a:p>
          <a:p>
            <a:pPr lvl="0" indent="0" marL="0">
              <a:buNone/>
            </a:pPr>
            <a:r>
              <a:rPr/>
              <a:t>Which by the way, is why the budget in 2024, by the nominative party of labour, forecast that the plan was to tackle inflation by driving the unemployment rate UP to at least 4.5 percent by June 2025</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By their nature, averages are not representative of individuals. Statistical agencies have to make a lot of decisions when calculating price indices, including:</a:t>
            </a:r>
          </a:p>
          <a:p>
            <a:pPr lvl="0" indent="0" marL="0">
              <a:buNone/>
            </a:pPr>
          </a:p>
          <a:p>
            <a:pPr lvl="0"/>
            <a:r>
              <a:rPr/>
              <a:t>What goes into the basket?</a:t>
            </a:r>
          </a:p>
          <a:p>
            <a:pPr lvl="0" indent="0" marL="0">
              <a:buNone/>
            </a:pPr>
          </a:p>
          <a:p>
            <a:pPr lvl="0"/>
            <a:r>
              <a:rPr/>
              <a:t>How should like items be grouped?</a:t>
            </a:r>
          </a:p>
          <a:p>
            <a:pPr lvl="0" indent="0" marL="0">
              <a:buNone/>
            </a:pPr>
          </a:p>
          <a:p>
            <a:pPr lvl="0"/>
            <a:r>
              <a:rPr/>
              <a:t>How should each group be weighted into the overall?</a:t>
            </a:r>
          </a:p>
          <a:p>
            <a:pPr lvl="0" indent="0" marL="0">
              <a:buNone/>
            </a:pPr>
          </a:p>
          <a:p>
            <a:pPr lvl="0"/>
            <a:r>
              <a:rPr/>
              <a:t>How often should the weighting change?</a:t>
            </a:r>
          </a:p>
          <a:p>
            <a:pPr lvl="0" indent="0" marL="0">
              <a:buNone/>
            </a:pPr>
          </a:p>
          <a:p>
            <a:pPr lvl="0" indent="0" marL="0">
              <a:buNone/>
            </a:pPr>
            <a:r>
              <a:rPr/>
              <a:t>Ultimately, the basket of goods and services does not represent the spending or expenditure patterns of any one individual.</a:t>
            </a:r>
          </a:p>
          <a:p>
            <a:pPr lvl="0" indent="0" marL="0">
              <a:buNone/>
            </a:pPr>
          </a:p>
          <a:p>
            <a:pPr lvl="0" indent="0" marL="0">
              <a:buNone/>
            </a:pPr>
            <a:r>
              <a:rPr/>
              <a:t>There will be a disconnect between how the CPI is reported, and how you feel it as an individual.</a:t>
            </a:r>
          </a:p>
          <a:p>
            <a:pPr lvl="0" indent="0" marL="0">
              <a:buNone/>
            </a:pPr>
          </a:p>
          <a:p>
            <a:pPr lvl="0" indent="0" marL="0">
              <a:buNone/>
            </a:pPr>
            <a:r>
              <a:rPr/>
              <a:t>For example, in 2025 the weight of tobacco in the CPI was reduced because tobacco sales fell as fewer people are smoking. That means increases in the price of cigarettes don’t impact on the overall CPI as much. So smokers will feel that prices are increasing faster than the CPI.</a:t>
            </a:r>
          </a:p>
          <a:p>
            <a:pPr lvl="0" indent="0" marL="0">
              <a:buNone/>
            </a:pPr>
          </a:p>
          <a:p>
            <a:pPr lvl="0" indent="0" marL="0">
              <a:buNone/>
            </a:pPr>
            <a:r>
              <a:rPr/>
              <a:t>That doesn’t mean your feelings are wrong, or that you’re spending money ‘incorrectly’. It also means that we should not accept pay rises equal to changes in the CPI.</a:t>
            </a:r>
          </a:p>
          <a:p>
            <a:pPr lvl="0" indent="0" marL="0">
              <a:buNone/>
            </a:pPr>
          </a:p>
          <a:p>
            <a:pPr lvl="0" indent="0" marL="0">
              <a:buNone/>
            </a:pPr>
            <a:r>
              <a:rPr/>
              <a:t>Note that I specified housing as a good/service that is included in the consumer price index. What would you expect that to measure? The cost of housing is measured as the price of a new home (excluding land). Mortgage payments are excluded.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ABS indexes the CPI such that the 2011/12 financial year = 100. All index numbers are reported relative to this period. That means that an index of 110 in March 2020 would mean that prices have increased by 10% since the 2011/12 financial year.</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Annual Change</a:t>
            </a:r>
          </a:p>
          <a:p>
            <a:pPr lvl="0" indent="0" marL="0">
              <a:buNone/>
            </a:pPr>
          </a:p>
          <a:p>
            <a:pPr lvl="0"/>
            <a:r>
              <a:rPr/>
              <a:t>The </a:t>
            </a:r>
            <a:r>
              <a:rPr i="1"/>
              <a:t>annual change</a:t>
            </a:r>
            <a:r>
              <a:rPr/>
              <a:t> is a measure of the price now compared to the price one year ago.</a:t>
            </a:r>
          </a:p>
          <a:p>
            <a:pPr lvl="0" indent="0" marL="0">
              <a:buNone/>
            </a:pPr>
          </a:p>
          <a:p>
            <a:pPr lvl="0" indent="0" marL="0">
              <a:buNone/>
            </a:pPr>
            <a:r>
              <a:rPr/>
              <a:t>Change from Previous Quarter:</a:t>
            </a:r>
          </a:p>
          <a:p>
            <a:pPr lvl="0" indent="0" marL="0">
              <a:buNone/>
            </a:pPr>
          </a:p>
          <a:p>
            <a:pPr lvl="0"/>
            <a:r>
              <a:rPr/>
              <a:t>The </a:t>
            </a:r>
            <a:r>
              <a:rPr i="1"/>
              <a:t>change from previous quarter</a:t>
            </a:r>
            <a:r>
              <a:rPr/>
              <a:t> is a measure of the price now compared to the price 3 months ago.</a:t>
            </a:r>
          </a:p>
          <a:p>
            <a:pPr lvl="0" indent="0" marL="0">
              <a:buNone/>
            </a:pPr>
          </a:p>
          <a:p>
            <a:pPr lvl="0" indent="0" marL="0">
              <a:buNone/>
            </a:pPr>
            <a:r>
              <a:rPr/>
              <a:t>Example 1</a:t>
            </a:r>
          </a:p>
          <a:p>
            <a:pPr lvl="0" indent="0" marL="0">
              <a:buNone/>
            </a:pPr>
          </a:p>
          <a:p>
            <a:pPr lvl="0"/>
            <a:r>
              <a:rPr/>
              <a:t>An annual change of 7.8% in December 2022 means prices in December 2022 were 7.8% higher than they were in December 2021.</a:t>
            </a:r>
          </a:p>
          <a:p>
            <a:pPr lvl="0" indent="0" marL="0">
              <a:buNone/>
            </a:pPr>
          </a:p>
          <a:p>
            <a:pPr lvl="0" indent="0" marL="0">
              <a:buNone/>
            </a:pPr>
            <a:r>
              <a:rPr/>
              <a:t>Example 2</a:t>
            </a:r>
          </a:p>
          <a:p>
            <a:pPr lvl="0" indent="0" marL="0">
              <a:buNone/>
            </a:pPr>
          </a:p>
          <a:p>
            <a:pPr lvl="0"/>
            <a:r>
              <a:rPr/>
              <a:t>A change from previous quarter of -1.9% in June 2020 means that prices in June 2020 were 1.9% lower than they were in March 2020.</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 change way of measuring inflation.</a:t>
            </a:r>
          </a:p>
          <a:p>
            <a:pPr lvl="0" indent="0" marL="0">
              <a:buNone/>
            </a:pPr>
          </a:p>
          <a:p>
            <a:pPr lvl="0"/>
            <a:r>
              <a:rPr/>
              <a:t>Inflation goes up when the % change in one period is higher than the last period</a:t>
            </a:r>
          </a:p>
          <a:p>
            <a:pPr lvl="0" indent="0" marL="0">
              <a:buNone/>
            </a:pPr>
          </a:p>
          <a:p>
            <a:pPr lvl="0"/>
            <a:r>
              <a:rPr/>
              <a:t>All the numbers (except for one in 2020) are positive. In fact, since the September quarter of 1948, inflation has only been negative 5 times.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Now looking at the index number approach.</a:t>
            </a:r>
          </a:p>
          <a:p>
            <a:pPr lvl="0" indent="0" marL="0">
              <a:buNone/>
            </a:pPr>
          </a:p>
          <a:p>
            <a:pPr lvl="0"/>
            <a:r>
              <a:rPr/>
              <a:t>Decreasing inflation is usually presented in the media as good news. But because inflation measures the rate of change of a rate of change (i.e. how much the change in prices changed), decreasing inflation just means that prices didn’t increase as fast.</a:t>
            </a:r>
          </a:p>
          <a:p>
            <a:pPr lvl="0" indent="0" marL="0">
              <a:buNone/>
            </a:pPr>
          </a:p>
          <a:p>
            <a:pPr lvl="0"/>
            <a:r>
              <a:rPr/>
              <a:t>The index measure shows you the effect of ‘cumulative’ inflation on prices.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Reported inflation tends to focus on the overall average - but it’s collected at a highly disaggregated level, of 87 different groups.</a:t>
            </a:r>
          </a:p>
          <a:p>
            <a:pPr lvl="0" indent="0" marL="0">
              <a:buNone/>
            </a:pPr>
          </a:p>
          <a:p>
            <a:pPr lvl="0" indent="0" marL="0">
              <a:buNone/>
            </a:pPr>
            <a:r>
              <a:rPr/>
              <a:t>Things that have increased faster than the average since March 2020 include: housing, food, alcohol and tobacco, health, transport, education, and insurance</a:t>
            </a:r>
          </a:p>
          <a:p>
            <a:pPr lvl="0" indent="0" marL="0">
              <a:buNone/>
            </a:pPr>
          </a:p>
          <a:p>
            <a:pPr lvl="0" indent="0" marL="0">
              <a:buNone/>
            </a:pPr>
            <a:r>
              <a:rPr/>
              <a:t>Compared to things which have gone down? Clothing and footwear, and furnishings…</a:t>
            </a:r>
          </a:p>
          <a:p>
            <a:pPr lvl="0" indent="0" marL="0">
              <a:buNone/>
            </a:pPr>
          </a:p>
          <a:p>
            <a:pPr lvl="0" indent="0" marL="0">
              <a:buNone/>
            </a:pPr>
            <a:r>
              <a:rPr/>
              <a:t>Other weird things about inflation - it hasn’t included mortgage repayments (since 1998).</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mentioned previously, the CPI is not a measure of the cost of living. In fact there is no definitive cost of living measure collected by the ABS but the ABS does collect a living cost index, which looks at different household types expenditure patterns.</a:t>
            </a:r>
          </a:p>
          <a:p>
            <a:pPr lvl="0" indent="0" marL="0">
              <a:buNone/>
            </a:pPr>
          </a:p>
          <a:p>
            <a:pPr lvl="0" indent="0" marL="0">
              <a:buNone/>
            </a:pPr>
            <a:r>
              <a:rPr/>
              <a:t>The living cost index asks “By how much would after tax money incomes need to change to allow households to purchase the same quantity of consumer goods and services that they purchased in the base period?”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is relevant to everyone is how well wages are keeping up with increased costs. It isn’t particularly worrisome if the price of everything doubles but your income also doubles.</a:t>
            </a:r>
          </a:p>
          <a:p>
            <a:pPr lvl="0" indent="0" marL="0">
              <a:buNone/>
            </a:pPr>
          </a:p>
          <a:p>
            <a:pPr lvl="0" indent="0" marL="0">
              <a:buNone/>
            </a:pPr>
            <a:r>
              <a:rPr/>
              <a:t>Unfortunately it’s not really that easy to tell if this is happening or not.</a:t>
            </a:r>
          </a:p>
          <a:p>
            <a:pPr lvl="0" indent="0" marL="0">
              <a:buNone/>
            </a:pPr>
          </a:p>
          <a:p>
            <a:pPr lvl="0" indent="0" marL="0">
              <a:buNone/>
            </a:pPr>
            <a:r>
              <a:rPr/>
              <a:t>Does it feel to you that things are more expensive relative to how much your earning?</a:t>
            </a:r>
          </a:p>
          <a:p>
            <a:pPr lvl="0" indent="0" marL="0">
              <a:buNone/>
            </a:pPr>
          </a:p>
          <a:p>
            <a:pPr lvl="0" indent="0" marL="0">
              <a:buNone/>
            </a:pPr>
            <a:r>
              <a:rPr/>
              <a:t>Because the CPI is measured using a basket of goods, which is supposed to represent the ‘average’ consumer, it is guaranteed that your experience is different - because you buy different things in different proportions than the “representative” consumer.</a:t>
            </a:r>
          </a:p>
          <a:p>
            <a:pPr lvl="0" indent="0" marL="0">
              <a:buNone/>
            </a:pPr>
          </a:p>
          <a:p>
            <a:pPr lvl="0" indent="0" marL="0">
              <a:buNone/>
            </a:pPr>
            <a:r>
              <a:rPr/>
              <a:t>But we can look at the “real” value of wages - how far their purchasing power goes. And here we have another trick of the economist. How do you convert “nominal” dollars - how much you earn today (or yesterday) into “real” dollars - how much does that dollar buy you?</a:t>
            </a:r>
          </a:p>
          <a:p>
            <a:pPr lvl="0" indent="0" marL="0">
              <a:buNone/>
            </a:pPr>
          </a:p>
          <a:p>
            <a:pPr lvl="0" indent="0" marL="0">
              <a:buNone/>
            </a:pPr>
            <a:r>
              <a:rPr/>
              <a:t>What would this chart look like if you got a 6% pay rise for the next year, and inflation grew at the RBAs target of 2.5%?</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We’re really far away from </a:t>
            </a:r>
            <a:r>
              <a:rPr b="1" i="1"/>
              <a:t>IMPROVING</a:t>
            </a:r>
            <a:r>
              <a:rPr/>
              <a:t> living standards.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Australia’s ranking in 2024 was 74th- Sandwiched between Madagascar and Uruguay</a:t>
            </a:r>
          </a:p>
          <a:p>
            <a:pPr lvl="0" indent="0" marL="0">
              <a:buNone/>
            </a:pPr>
          </a:p>
          <a:p>
            <a:pPr lvl="0"/>
            <a:r>
              <a:rPr/>
              <a:t>Australia’s exports are concentrated in only a few products</a:t>
            </a:r>
          </a:p>
          <a:p>
            <a:pPr lvl="0" indent="0" marL="0">
              <a:buNone/>
            </a:pPr>
          </a:p>
          <a:p>
            <a:pPr lvl="0"/>
            <a:r>
              <a:rPr/>
              <a:t>Australia’s exports are lower in average complexity</a:t>
            </a:r>
          </a:p>
          <a:p>
            <a:pPr lvl="0" indent="0" marL="0">
              <a:buNone/>
            </a:pPr>
          </a:p>
          <a:p>
            <a:pPr lvl="0"/>
            <a:r>
              <a:rPr/>
              <a:t>Australia does not have the industrial capabilities of other developed countries.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problem:</a:t>
            </a:r>
          </a:p>
          <a:p>
            <a:pPr lvl="0" indent="0" marL="0">
              <a:buNone/>
            </a:pPr>
          </a:p>
          <a:p>
            <a:pPr lvl="0"/>
            <a:r>
              <a:rPr/>
              <a:t>is real, will not be solved by the market and will not be solved with small tweaks and adjustments.</a:t>
            </a:r>
          </a:p>
          <a:p>
            <a:pPr lvl="0" indent="0" marL="0">
              <a:buNone/>
            </a:pPr>
          </a:p>
          <a:p>
            <a:pPr lvl="0"/>
            <a:r>
              <a:rPr/>
              <a:t>just transition and decarbonisation is an opportunity to PLAN something, and then to DO something.</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part of a Future Made in Australia, what do we want to see? What will we be campaigning for?</a:t>
            </a:r>
          </a:p>
          <a:p>
            <a:pPr lvl="0" indent="0" marL="0">
              <a:buNone/>
            </a:pPr>
          </a:p>
          <a:p>
            <a:pPr lvl="0"/>
            <a:r>
              <a:rPr/>
              <a:t>A Secure Australian Jobs Code</a:t>
            </a:r>
          </a:p>
          <a:p>
            <a:pPr lvl="0" indent="0" marL="0">
              <a:buNone/>
            </a:pPr>
          </a:p>
          <a:p>
            <a:pPr lvl="0"/>
            <a:r>
              <a:rPr/>
              <a:t>Establishing a Manufacturing Competitiveness Council</a:t>
            </a:r>
          </a:p>
          <a:p>
            <a:pPr lvl="0" indent="0" marL="0">
              <a:buNone/>
            </a:pPr>
          </a:p>
          <a:p>
            <a:pPr lvl="0"/>
            <a:r>
              <a:rPr/>
              <a:t>Demand local content</a:t>
            </a:r>
          </a:p>
          <a:p>
            <a:pPr lvl="0" indent="0" marL="0">
              <a:buNone/>
            </a:pPr>
          </a:p>
          <a:p>
            <a:pPr lvl="0"/>
            <a:r>
              <a:rPr/>
              <a:t>Mandate apprentice participation</a:t>
            </a:r>
          </a:p>
          <a:p>
            <a:pPr lvl="0" indent="0" marL="0">
              <a:buNone/>
            </a:pPr>
          </a:p>
          <a:p>
            <a:pPr lvl="0"/>
            <a:r>
              <a:rPr/>
              <a:t>Establish </a:t>
            </a:r>
            <a:r>
              <a:rPr b="1"/>
              <a:t>fair trade</a:t>
            </a:r>
            <a:r>
              <a:rPr/>
              <a:t> over free trade</a:t>
            </a:r>
          </a:p>
          <a:p>
            <a:pPr lvl="0" indent="0" marL="0">
              <a:buNone/>
            </a:pPr>
          </a:p>
          <a:p>
            <a:pPr lvl="0"/>
            <a:r>
              <a:rPr/>
              <a:t>Nationalise strategic infrastructure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about public money for a public good. Not subsidies to private capital to continue to exploit their workers. We are calling on the Labor government to mandate collective agreements for any businesses receiving public money, which reflect union rates of pay.</a:t>
            </a:r>
          </a:p>
          <a:p>
            <a:pPr lvl="0" indent="0" marL="0">
              <a:buNone/>
            </a:pPr>
          </a:p>
          <a:p>
            <a:pPr lvl="0" indent="0" marL="0">
              <a:buNone/>
            </a:pPr>
            <a:r>
              <a:rPr b="1"/>
              <a:t>Local Content</a:t>
            </a:r>
          </a:p>
          <a:p>
            <a:pPr lvl="0" indent="0" marL="0">
              <a:buNone/>
            </a:pPr>
          </a:p>
          <a:p>
            <a:pPr lvl="0"/>
            <a:r>
              <a:rPr/>
              <a:t>Procurement is one of the most powerful levers we have for rebuilding our industrial base.</a:t>
            </a:r>
          </a:p>
          <a:p>
            <a:pPr lvl="0" indent="0" marL="0">
              <a:buNone/>
            </a:pPr>
          </a:p>
          <a:p>
            <a:pPr lvl="0"/>
            <a:r>
              <a:rPr/>
              <a:t>Public money must explicitly support local industry.</a:t>
            </a:r>
          </a:p>
          <a:p>
            <a:pPr lvl="0" indent="0" marL="0">
              <a:buNone/>
            </a:pPr>
          </a:p>
          <a:p>
            <a:pPr lvl="0"/>
            <a:r>
              <a:rPr/>
              <a:t>How do we make them enforceable?</a:t>
            </a:r>
          </a:p>
          <a:p>
            <a:pPr lvl="0" indent="0" marL="0">
              <a:buNone/>
            </a:pPr>
          </a:p>
          <a:p>
            <a:pPr lvl="0"/>
            <a:r>
              <a:rPr/>
              <a:t>Local content, local content targets, and local industry participation. The government can provide certainty to businesses looking to expand to supply infrastructure to the energy transition.</a:t>
            </a:r>
          </a:p>
          <a:p>
            <a:pPr lvl="0" indent="0" marL="0">
              <a:buNone/>
            </a:pPr>
          </a:p>
          <a:p>
            <a:pPr lvl="0" indent="0" marL="0">
              <a:buNone/>
            </a:pPr>
            <a:r>
              <a:rPr b="1"/>
              <a:t>Skills and Apprentices</a:t>
            </a:r>
          </a:p>
          <a:p>
            <a:pPr lvl="0" indent="0" marL="0">
              <a:buNone/>
            </a:pPr>
          </a:p>
          <a:p>
            <a:pPr lvl="0"/>
            <a:r>
              <a:rPr/>
              <a:t>To rebuild our industrial base we need skilled manufacturing workers</a:t>
            </a:r>
          </a:p>
          <a:p>
            <a:pPr lvl="0" indent="0" marL="0">
              <a:buNone/>
            </a:pPr>
          </a:p>
          <a:p>
            <a:pPr lvl="0"/>
            <a:r>
              <a:rPr/>
              <a:t>Current apprentice requirements are toothless, letting employers off the hook</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goal of economic sovereignty cannot be achieved if the nation’s most vital infrastructure remains subject to the profit demands of private capital. Labor must move to nationalise strategic infrastructure essential to the Future Made in Australia Act agenda, particularly in the energy and green manufacturing sectors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78469" y="3831750"/>
            <a:ext cx="7772400" cy="1102519"/>
          </a:xfrm>
        </p:spPr>
        <p:txBody>
          <a:bodyPr/>
          <a:lstStyle>
            <a:lvl1pPr>
              <a:defRPr sz="4000" b="0" i="0" cap="none" baseline="0">
                <a:solidFill>
                  <a:schemeClr val="bg1"/>
                </a:solidFill>
                <a:latin typeface="Stag Medium" panose="02000603060000020004" pitchFamily="50" charset="0"/>
              </a:defRPr>
            </a:lvl1pPr>
          </a:lstStyle>
          <a:p>
            <a:r>
              <a:rPr lang="en-US" dirty="0"/>
              <a:t>Click to edit master title style</a:t>
            </a:r>
          </a:p>
        </p:txBody>
      </p:sp>
      <p:sp>
        <p:nvSpPr>
          <p:cNvPr id="10" name="Freeform 3" descr="A black and white logo&#10;&#10;AI-generated content may be incorrect.">
            <a:extLst>
              <a:ext uri="{FF2B5EF4-FFF2-40B4-BE49-F238E27FC236}">
                <a16:creationId xmlns:a16="http://schemas.microsoft.com/office/drawing/2014/main" id="{270EDBF1-C207-C2C2-D908-D5B5626E968B}"/>
              </a:ext>
            </a:extLst>
          </p:cNvPr>
          <p:cNvSpPr/>
          <p:nvPr userDrawn="1"/>
        </p:nvSpPr>
        <p:spPr>
          <a:xfrm>
            <a:off x="2232000" y="-283669"/>
            <a:ext cx="4140000" cy="2325288"/>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pic>
        <p:nvPicPr>
          <p:cNvPr id="11" name="Picture 10" descr="A hand with a fist raised up&#10;&#10;AI-generated content may be incorrect.">
            <a:extLst>
              <a:ext uri="{FF2B5EF4-FFF2-40B4-BE49-F238E27FC236}">
                <a16:creationId xmlns:a16="http://schemas.microsoft.com/office/drawing/2014/main" id="{2F62BAD0-0F8C-738B-5360-E6C9FA58543F}"/>
              </a:ext>
            </a:extLst>
          </p:cNvPr>
          <p:cNvPicPr>
            <a:picLocks noChangeAspect="1"/>
          </p:cNvPicPr>
          <p:nvPr userDrawn="1"/>
        </p:nvPicPr>
        <p:blipFill>
          <a:blip r:embed="rId3"/>
          <a:stretch>
            <a:fillRect/>
          </a:stretch>
        </p:blipFill>
        <p:spPr>
          <a:xfrm>
            <a:off x="2592000" y="1733492"/>
            <a:ext cx="4140000" cy="1872746"/>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black and white logo&#10;&#10;AI-generated content may be incorrect.">
            <a:extLst>
              <a:ext uri="{FF2B5EF4-FFF2-40B4-BE49-F238E27FC236}">
                <a16:creationId xmlns:a16="http://schemas.microsoft.com/office/drawing/2014/main" id="{32A4F8D5-E243-B007-9BD9-1940D15A99A4}"/>
              </a:ext>
            </a:extLst>
          </p:cNvPr>
          <p:cNvPicPr>
            <a:picLocks noChangeAspect="1"/>
          </p:cNvPicPr>
          <p:nvPr userDrawn="1"/>
        </p:nvPicPr>
        <p:blipFill>
          <a:blip r:embed="rId2"/>
          <a:stretch>
            <a:fillRect/>
          </a:stretch>
        </p:blipFill>
        <p:spPr>
          <a:xfrm>
            <a:off x="6732000" y="4416890"/>
            <a:ext cx="1444619" cy="796637"/>
          </a:xfrm>
          <a:prstGeom prst="rect">
            <a:avLst/>
          </a:prstGeom>
        </p:spPr>
      </p:pic>
      <p:pic>
        <p:nvPicPr>
          <p:cNvPr id="6" name="Picture 5" descr="A hand with a fist raised up&#10;&#10;AI-generated content may be incorrect.">
            <a:extLst>
              <a:ext uri="{FF2B5EF4-FFF2-40B4-BE49-F238E27FC236}">
                <a16:creationId xmlns:a16="http://schemas.microsoft.com/office/drawing/2014/main" id="{784379E0-3798-CE56-DAFB-6D40AB1671FE}"/>
              </a:ext>
            </a:extLst>
          </p:cNvPr>
          <p:cNvPicPr>
            <a:picLocks noChangeAspect="1"/>
          </p:cNvPicPr>
          <p:nvPr userDrawn="1"/>
        </p:nvPicPr>
        <p:blipFill>
          <a:blip r:embed="rId3"/>
          <a:stretch>
            <a:fillRect/>
          </a:stretch>
        </p:blipFill>
        <p:spPr>
          <a:xfrm>
            <a:off x="8314476" y="4697094"/>
            <a:ext cx="706502" cy="318244"/>
          </a:xfrm>
          <a:prstGeom prst="rect">
            <a:avLst/>
          </a:prstGeom>
        </p:spPr>
      </p:pic>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2000" y="2053249"/>
            <a:ext cx="7772400" cy="1021556"/>
          </a:xfrm>
        </p:spPr>
        <p:txBody>
          <a:bodyPr anchor="t"/>
          <a:lstStyle>
            <a:lvl1pPr algn="l">
              <a:defRPr sz="3000" b="1" i="0" cap="none" baseline="0">
                <a:solidFill>
                  <a:schemeClr val="bg1"/>
                </a:solidFill>
                <a:latin typeface="Stag Semibold" panose="02000703060000020004" pitchFamily="50" charset="0"/>
              </a:defRPr>
            </a:lvl1pPr>
          </a:lstStyle>
          <a:p>
            <a:r>
              <a:rPr lang="en-US" dirty="0"/>
              <a:t>Click to edit Master title style</a:t>
            </a:r>
          </a:p>
        </p:txBody>
      </p:sp>
      <p:sp>
        <p:nvSpPr>
          <p:cNvPr id="3" name="Text Placeholder 2"/>
          <p:cNvSpPr>
            <a:spLocks noGrp="1"/>
          </p:cNvSpPr>
          <p:nvPr>
            <p:ph type="body" idx="1"/>
          </p:nvPr>
        </p:nvSpPr>
        <p:spPr>
          <a:xfrm>
            <a:off x="252000" y="3291750"/>
            <a:ext cx="8640000" cy="1125140"/>
          </a:xfrm>
        </p:spPr>
        <p:txBody>
          <a:bodyPr anchor="ctr"/>
          <a:lstStyle>
            <a:lvl1pPr marL="0" indent="0" algn="l">
              <a:buNone/>
              <a:defRPr sz="1500" b="1" i="0" cap="none" baseline="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Footer Placeholder 3">
            <a:extLst>
              <a:ext uri="{FF2B5EF4-FFF2-40B4-BE49-F238E27FC236}">
                <a16:creationId xmlns:a16="http://schemas.microsoft.com/office/drawing/2014/main" id="{03A6D417-94FA-60B8-7325-82B1CC677B33}"/>
              </a:ext>
            </a:extLst>
          </p:cNvPr>
          <p:cNvSpPr>
            <a:spLocks noGrp="1"/>
          </p:cNvSpPr>
          <p:nvPr>
            <p:ph type="ftr" sz="quarter" idx="10"/>
          </p:nvPr>
        </p:nvSpPr>
        <p:spPr>
          <a:xfrm>
            <a:off x="252000" y="4629944"/>
            <a:ext cx="3086100" cy="274637"/>
          </a:xfrm>
        </p:spPr>
        <p:txBody>
          <a:bodyPr/>
          <a:lstStyle>
            <a:lvl1pPr algn="l">
              <a:defRPr baseline="0">
                <a:solidFill>
                  <a:schemeClr val="bg1"/>
                </a:solidFill>
                <a:latin typeface="Helvetica" pitchFamily="2" charset="0"/>
              </a:defRPr>
            </a:lvl1pPr>
          </a:lstStyle>
          <a:p>
            <a:pPr algn="l"/>
            <a:endParaRPr lang="en-AU"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baseline="0">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000" y="168869"/>
            <a:ext cx="8671236" cy="871538"/>
          </a:xfrm>
        </p:spPr>
        <p:txBody>
          <a:bodyPr anchor="ctr"/>
          <a:lstStyle>
            <a:lvl1pPr algn="l">
              <a:defRPr sz="1500" b="1" strike="dblStrike" cap="none" baseline="0">
                <a:solidFill>
                  <a:schemeClr val="tx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252000" y="1131750"/>
            <a:ext cx="8653670" cy="3855295"/>
          </a:xfrm>
        </p:spPr>
        <p:txBody>
          <a:bodyPr/>
          <a:lstStyle>
            <a:lvl1pPr>
              <a:defRPr sz="2400" baseline="0">
                <a:solidFill>
                  <a:schemeClr val="tx1"/>
                </a:solidFill>
              </a:defRPr>
            </a:lvl1pPr>
            <a:lvl2pPr>
              <a:defRPr sz="2100" baseline="0">
                <a:solidFill>
                  <a:schemeClr val="tx1"/>
                </a:solidFill>
              </a:defRPr>
            </a:lvl2pPr>
            <a:lvl3pPr>
              <a:defRPr sz="1800" baseline="0">
                <a:solidFill>
                  <a:schemeClr val="tx1"/>
                </a:solidFill>
              </a:defRPr>
            </a:lvl3pPr>
            <a:lvl4pPr>
              <a:defRPr sz="1500" baseline="0">
                <a:solidFill>
                  <a:schemeClr val="tx1"/>
                </a:solidFill>
              </a:defRPr>
            </a:lvl4pPr>
            <a:lvl5pPr>
              <a:defRPr sz="1500" baseline="0">
                <a:solidFill>
                  <a:schemeClr val="tx1"/>
                </a:solidFill>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089564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2000" y="168869"/>
            <a:ext cx="8671236" cy="871538"/>
          </a:xfrm>
        </p:spPr>
        <p:txBody>
          <a:bodyPr anchor="ctr"/>
          <a:lstStyle>
            <a:lvl1pPr algn="l">
              <a:defRPr sz="1500" b="1" cap="none" baseline="0">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252000" y="1131750"/>
            <a:ext cx="8653670"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Footer Placeholder 3">
            <a:extLst>
              <a:ext uri="{FF2B5EF4-FFF2-40B4-BE49-F238E27FC236}">
                <a16:creationId xmlns:a16="http://schemas.microsoft.com/office/drawing/2014/main" id="{3093270E-0C63-7AC9-B03A-19302E5A04E1}"/>
              </a:ext>
            </a:extLst>
          </p:cNvPr>
          <p:cNvSpPr>
            <a:spLocks noGrp="1"/>
          </p:cNvSpPr>
          <p:nvPr>
            <p:ph idx="3" sz="quarter" type="ftr"/>
          </p:nvPr>
        </p:nvSpPr>
        <p:spPr>
          <a:xfrm>
            <a:off x="3028950" y="4767263"/>
            <a:ext cx="3086100" cy="274637"/>
          </a:xfrm>
          <a:prstGeom prst="rect">
            <a:avLst/>
          </a:prstGeom>
        </p:spPr>
        <p:txBody>
          <a:bodyPr anchor="ctr" bIns="45720" lIns="91440" rIns="91440" rtlCol="0" tIns="45720" vert="horz"/>
          <a:lstStyle>
            <a:lvl1pPr algn="ctr">
              <a:defRPr sz="1200">
                <a:solidFill>
                  <a:schemeClr val="tx1">
                    <a:tint val="82000"/>
                  </a:schemeClr>
                </a:solidFill>
              </a:defRPr>
            </a:lvl1pPr>
          </a:lstStyle>
          <a:p>
            <a:endParaRPr lang="en-AU"/>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bg1"/>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bg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bg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bg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bg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bg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6.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g6-lciEvkpA"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8.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9.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2.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78469" y="3831750"/>
            <a:ext cx="7772400" cy="1102519"/>
          </a:xfrm>
        </p:spPr>
        <p:txBody>
          <a:bodyPr/>
          <a:lstStyle/>
          <a:p>
            <a:pPr lvl="0" indent="0" marL="0">
              <a:buNone/>
            </a:pPr>
            <a:r>
              <a:rPr/>
              <a:t>Economics in the Real World</a:t>
            </a:r>
          </a:p>
        </p:txBody>
      </p:sp>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Who Am I?</a:t>
            </a:r>
          </a:p>
        </p:txBody>
      </p:sp>
      <p:sp>
        <p:nvSpPr>
          <p:cNvPr id="3" name="Content Placeholder 2"/>
          <p:cNvSpPr>
            <a:spLocks noGrp="1"/>
          </p:cNvSpPr>
          <p:nvPr>
            <p:ph idx="1"/>
          </p:nvPr>
        </p:nvSpPr>
        <p:spPr/>
        <p:txBody>
          <a:bodyPr/>
          <a:lstStyle/>
          <a:p>
            <a:pPr lvl="0"/>
            <a:r>
              <a:rPr/>
              <a:t>Economist, National Research Centre</a:t>
            </a:r>
          </a:p>
          <a:p>
            <a:pPr lvl="0"/>
            <a:r>
              <a:rPr/>
              <a:t>Research focus on industrial capabilities and economic complexity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Agenda</a:t>
            </a:r>
          </a:p>
        </p:txBody>
      </p:sp>
      <p:sp>
        <p:nvSpPr>
          <p:cNvPr id="3" name="Content Placeholder 2"/>
          <p:cNvSpPr>
            <a:spLocks noGrp="1"/>
          </p:cNvSpPr>
          <p:nvPr>
            <p:ph idx="1"/>
          </p:nvPr>
        </p:nvSpPr>
        <p:spPr/>
        <p:txBody>
          <a:bodyPr/>
          <a:lstStyle/>
          <a:p>
            <a:pPr lvl="0"/>
            <a:r>
              <a:rPr/>
              <a:t>Inflation, Real Wages, and the Living Wage</a:t>
            </a:r>
          </a:p>
          <a:p>
            <a:pPr lvl="0"/>
            <a:r>
              <a:rPr/>
              <a:t>Sovereign Capability, Economic Complexity and a Future Made in Australia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2053249"/>
            <a:ext cx="7772400" cy="1021556"/>
          </a:xfrm>
        </p:spPr>
        <p:txBody>
          <a:bodyPr/>
          <a:lstStyle/>
          <a:p>
            <a:pPr lvl="0" indent="0" marL="0">
              <a:buNone/>
            </a:pPr>
            <a:r>
              <a:rPr/>
              <a:t>Inflation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(or, the Consumer Price Index)</a:t>
            </a:r>
          </a:p>
        </p:txBody>
      </p:sp>
      <p:sp>
        <p:nvSpPr>
          <p:cNvPr id="3" name="Content Placeholder 2"/>
          <p:cNvSpPr>
            <a:spLocks noGrp="1"/>
          </p:cNvSpPr>
          <p:nvPr>
            <p:ph idx="1"/>
          </p:nvPr>
        </p:nvSpPr>
        <p:spPr/>
        <p:txBody>
          <a:bodyPr/>
          <a:lstStyle/>
          <a:p>
            <a:pPr lvl="0"/>
            <a:r>
              <a:rPr/>
              <a:t>The CPI is a measure of changes in the price of a “basket” of goods and services.</a:t>
            </a:r>
          </a:p>
          <a:p>
            <a:pPr lvl="0"/>
            <a:r>
              <a:rPr/>
              <a:t>The basket includes (among other things):</a:t>
            </a:r>
          </a:p>
          <a:p>
            <a:pPr lvl="1"/>
            <a:r>
              <a:rPr/>
              <a:t>Food and non-alcoholic beverages, alcohol and tobacco, and housing</a:t>
            </a:r>
          </a:p>
          <a:p>
            <a:pPr lvl="0"/>
            <a:r>
              <a:rPr/>
              <a:t>It represents the average inflation experience - and is </a:t>
            </a:r>
            <a:r>
              <a:rPr b="1"/>
              <a:t>not</a:t>
            </a:r>
            <a:r>
              <a:rPr/>
              <a:t> reflective of changes in cost of living.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Index</a:t>
            </a:r>
          </a:p>
        </p:txBody>
      </p:sp>
      <p:sp>
        <p:nvSpPr>
          <p:cNvPr id="3" name="Content Placeholder 2"/>
          <p:cNvSpPr>
            <a:spLocks noGrp="1"/>
          </p:cNvSpPr>
          <p:nvPr>
            <p:ph idx="1"/>
          </p:nvPr>
        </p:nvSpPr>
        <p:spPr/>
        <p:txBody>
          <a:bodyPr/>
          <a:lstStyle/>
          <a:p>
            <a:pPr lvl="0"/>
            <a:r>
              <a:rPr/>
              <a:t>CPI data is reported as an </a:t>
            </a:r>
            <a:r>
              <a:rPr b="1" i="1"/>
              <a:t>index</a:t>
            </a:r>
            <a:r>
              <a:rPr/>
              <a:t>, or as a % change compared to the previous quarter, or previous year.</a:t>
            </a:r>
          </a:p>
          <a:p>
            <a:pPr lvl="1"/>
            <a:r>
              <a:rPr/>
              <a:t>an </a:t>
            </a:r>
            <a:r>
              <a:rPr i="1"/>
              <a:t>index</a:t>
            </a:r>
            <a:r>
              <a:rPr/>
              <a:t> shows how prices have changed relative to a value of 100 in a reference period.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Percentage Change</a:t>
            </a:r>
          </a:p>
        </p:txBody>
      </p:sp>
      <p:sp>
        <p:nvSpPr>
          <p:cNvPr id="3" name="Content Placeholder 2"/>
          <p:cNvSpPr>
            <a:spLocks noGrp="1"/>
          </p:cNvSpPr>
          <p:nvPr>
            <p:ph idx="1"/>
          </p:nvPr>
        </p:nvSpPr>
        <p:spPr/>
        <p:txBody>
          <a:bodyPr/>
          <a:lstStyle/>
          <a:p>
            <a:pPr lvl="0"/>
            <a:r>
              <a:rPr/>
              <a:t>CPI data is reported as an index, or as a </a:t>
            </a:r>
            <a:r>
              <a:rPr b="1"/>
              <a:t>% change in since last month, last quarter, or last year.</a:t>
            </a:r>
          </a:p>
          <a:p>
            <a:pPr lvl="1"/>
            <a:r>
              <a:rPr/>
              <a:t>A percentage change measures the relative change in prices compared to another period.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Percentage Change</a:t>
            </a:r>
          </a:p>
        </p:txBody>
      </p:sp>
      <p:pic>
        <p:nvPicPr>
          <p:cNvPr descr="delegates-forum-sa-2026_files/figure-pptx/inflation-pc-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Index</a:t>
            </a:r>
          </a:p>
        </p:txBody>
      </p:sp>
      <p:pic>
        <p:nvPicPr>
          <p:cNvPr descr="delegates-forum-sa-2026_files/figure-pptx/inflation-index-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By Type</a:t>
            </a:r>
          </a:p>
        </p:txBody>
      </p:sp>
      <p:pic>
        <p:nvPicPr>
          <p:cNvPr descr="delegates-forum-sa-2026_files/figure-pptx/unnamed-chunk-1-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Cost of Living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2025</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Housing</a:t>
                      </a:r>
                    </a:p>
                  </a:txBody>
                </a:tc>
                <a:tc>
                  <a:txBody>
                    <a:bodyPr/>
                    <a:lstStyle/>
                    <a:p>
                      <a:pPr lvl="0" indent="0" marL="0">
                        <a:buNone/>
                      </a:pPr>
                      <a:r>
                        <a:rPr/>
                        <a:t>8.3%</a:t>
                      </a:r>
                    </a:p>
                  </a:txBody>
                </a:tc>
              </a:tr>
              <a:tr h="0">
                <a:tc>
                  <a:txBody>
                    <a:bodyPr/>
                    <a:lstStyle/>
                    <a:p>
                      <a:pPr lvl="0" indent="0" marL="0">
                        <a:buNone/>
                      </a:pPr>
                      <a:r>
                        <a:rPr/>
                        <a:t>Clothing and footwear</a:t>
                      </a:r>
                    </a:p>
                  </a:txBody>
                </a:tc>
                <a:tc>
                  <a:txBody>
                    <a:bodyPr/>
                    <a:lstStyle/>
                    <a:p>
                      <a:pPr lvl="0" indent="0" marL="0">
                        <a:buNone/>
                      </a:pPr>
                      <a:r>
                        <a:rPr/>
                        <a:t>5.5%</a:t>
                      </a:r>
                    </a:p>
                  </a:txBody>
                </a:tc>
              </a:tr>
              <a:tr h="0">
                <a:tc>
                  <a:txBody>
                    <a:bodyPr/>
                    <a:lstStyle/>
                    <a:p>
                      <a:pPr lvl="0" indent="0" marL="0">
                        <a:buNone/>
                      </a:pPr>
                      <a:r>
                        <a:rPr/>
                        <a:t>Alcohol and tobacco</a:t>
                      </a:r>
                    </a:p>
                  </a:txBody>
                </a:tc>
                <a:tc>
                  <a:txBody>
                    <a:bodyPr/>
                    <a:lstStyle/>
                    <a:p>
                      <a:pPr lvl="0" indent="0" marL="0">
                        <a:buNone/>
                      </a:pPr>
                      <a:r>
                        <a:rPr/>
                        <a:t>4.4%</a:t>
                      </a:r>
                    </a:p>
                  </a:txBody>
                </a:tc>
              </a:tr>
              <a:tr h="0">
                <a:tc>
                  <a:txBody>
                    <a:bodyPr/>
                    <a:lstStyle/>
                    <a:p>
                      <a:pPr lvl="0" indent="0" marL="0">
                        <a:buNone/>
                      </a:pPr>
                      <a:r>
                        <a:rPr/>
                        <a:t>Recreation and culture</a:t>
                      </a:r>
                    </a:p>
                  </a:txBody>
                </a:tc>
                <a:tc>
                  <a:txBody>
                    <a:bodyPr/>
                    <a:lstStyle/>
                    <a:p>
                      <a:pPr lvl="0" indent="0" marL="0">
                        <a:buNone/>
                      </a:pPr>
                      <a:r>
                        <a:rPr/>
                        <a:t>3.6%</a:t>
                      </a:r>
                    </a:p>
                  </a:txBody>
                </a:tc>
              </a:tr>
              <a:tr h="0">
                <a:tc>
                  <a:txBody>
                    <a:bodyPr/>
                    <a:lstStyle/>
                    <a:p>
                      <a:pPr lvl="0" indent="0" marL="0">
                        <a:buNone/>
                      </a:pPr>
                      <a:r>
                        <a:rPr/>
                        <a:t>Education</a:t>
                      </a:r>
                    </a:p>
                  </a:txBody>
                </a:tc>
                <a:tc>
                  <a:txBody>
                    <a:bodyPr/>
                    <a:lstStyle/>
                    <a:p>
                      <a:pPr lvl="0" indent="0" marL="0">
                        <a:buNone/>
                      </a:pPr>
                      <a:r>
                        <a:rPr/>
                        <a:t>3.4%</a:t>
                      </a:r>
                    </a:p>
                  </a:txBody>
                </a:tc>
              </a:tr>
              <a:tr h="0">
                <a:tc>
                  <a:txBody>
                    <a:bodyPr/>
                    <a:lstStyle/>
                    <a:p>
                      <a:pPr lvl="0" indent="0" marL="0">
                        <a:buNone/>
                      </a:pPr>
                      <a:r>
                        <a:rPr/>
                        <a:t>Health</a:t>
                      </a:r>
                    </a:p>
                  </a:txBody>
                </a:tc>
                <a:tc>
                  <a:txBody>
                    <a:bodyPr/>
                    <a:lstStyle/>
                    <a:p>
                      <a:pPr lvl="0" indent="0" marL="0">
                        <a:buNone/>
                      </a:pPr>
                      <a:r>
                        <a:rPr/>
                        <a:t>3.3%</a:t>
                      </a:r>
                    </a:p>
                  </a:txBody>
                </a:tc>
              </a:tr>
              <a:tr h="0">
                <a:tc>
                  <a:txBody>
                    <a:bodyPr/>
                    <a:lstStyle/>
                    <a:p>
                      <a:pPr lvl="0" indent="0" marL="0">
                        <a:buNone/>
                      </a:pPr>
                      <a:r>
                        <a:rPr/>
                        <a:t>Wages</a:t>
                      </a:r>
                    </a:p>
                  </a:txBody>
                </a:tc>
                <a:tc>
                  <a:txBody>
                    <a:bodyPr/>
                    <a:lstStyle/>
                    <a:p>
                      <a:pPr lvl="0" indent="0" marL="0">
                        <a:buNone/>
                      </a:pPr>
                      <a:r>
                        <a:rPr/>
                        <a:t>3.2%</a:t>
                      </a:r>
                    </a:p>
                  </a:txBody>
                </a:tc>
              </a:tr>
              <a:tr h="0">
                <a:tc>
                  <a:txBody>
                    <a:bodyPr/>
                    <a:lstStyle/>
                    <a:p>
                      <a:pPr lvl="0" indent="0" marL="0">
                        <a:buNone/>
                      </a:pPr>
                      <a:r>
                        <a:rPr/>
                        <a:t>Food and non-alcoholic beverages</a:t>
                      </a:r>
                    </a:p>
                  </a:txBody>
                </a:tc>
                <a:tc>
                  <a:txBody>
                    <a:bodyPr/>
                    <a:lstStyle/>
                    <a:p>
                      <a:pPr lvl="0" indent="0" marL="0">
                        <a:buNone/>
                      </a:pPr>
                      <a:r>
                        <a:rPr/>
                        <a:t>3.1%</a:t>
                      </a:r>
                    </a:p>
                  </a:txBody>
                </a:tc>
              </a:tr>
              <a:tr h="0">
                <a:tc>
                  <a:txBody>
                    <a:bodyPr/>
                    <a:lstStyle/>
                    <a:p>
                      <a:pPr lvl="0" indent="0" marL="0">
                        <a:buNone/>
                      </a:pPr>
                      <a:r>
                        <a:rPr/>
                        <a:t>Transport</a:t>
                      </a:r>
                    </a:p>
                  </a:txBody>
                </a:tc>
                <a:tc>
                  <a:txBody>
                    <a:bodyPr/>
                    <a:lstStyle/>
                    <a:p>
                      <a:pPr lvl="0" indent="0" marL="0">
                        <a:buNone/>
                      </a:pPr>
                      <a:r>
                        <a:rPr/>
                        <a:t>3.0%</a:t>
                      </a:r>
                    </a:p>
                  </a:txBody>
                </a:tc>
              </a:tr>
              <a:tr h="0">
                <a:tc>
                  <a:txBody>
                    <a:bodyPr/>
                    <a:lstStyle/>
                    <a:p>
                      <a:pPr lvl="0" indent="0" marL="0">
                        <a:buNone/>
                      </a:pPr>
                      <a:r>
                        <a:rPr/>
                        <a:t>All groups</a:t>
                      </a:r>
                    </a:p>
                  </a:txBody>
                </a:tc>
                <a:tc>
                  <a:txBody>
                    <a:bodyPr/>
                    <a:lstStyle/>
                    <a:p>
                      <a:pPr lvl="0" indent="0" marL="0">
                        <a:buNone/>
                      </a:pPr>
                      <a:r>
                        <a:rPr/>
                        <a:t>2.6%</a:t>
                      </a:r>
                    </a:p>
                  </a:txBody>
                </a:tc>
              </a:tr>
              <a:tr h="0">
                <a:tc>
                  <a:txBody>
                    <a:bodyPr/>
                    <a:lstStyle/>
                    <a:p>
                      <a:pPr lvl="0" indent="0" marL="0">
                        <a:buNone/>
                      </a:pPr>
                      <a:r>
                        <a:rPr/>
                        <a:t>Furnishings, household equipment and services</a:t>
                      </a:r>
                    </a:p>
                  </a:txBody>
                </a:tc>
                <a:tc>
                  <a:txBody>
                    <a:bodyPr/>
                    <a:lstStyle/>
                    <a:p>
                      <a:pPr lvl="0" indent="0" marL="0">
                        <a:buNone/>
                      </a:pPr>
                      <a:r>
                        <a:rPr/>
                        <a:t>2.0%</a:t>
                      </a:r>
                    </a:p>
                  </a:txBody>
                </a:tc>
              </a:tr>
              <a:tr h="0">
                <a:tc>
                  <a:txBody>
                    <a:bodyPr/>
                    <a:lstStyle/>
                    <a:p>
                      <a:pPr lvl="0" indent="0" marL="0">
                        <a:buNone/>
                      </a:pPr>
                      <a:r>
                        <a:rPr/>
                        <a:t>Communication</a:t>
                      </a:r>
                    </a:p>
                  </a:txBody>
                </a:tc>
                <a:tc>
                  <a:txBody>
                    <a:bodyPr/>
                    <a:lstStyle/>
                    <a:p>
                      <a:pPr lvl="0" indent="0" marL="0">
                        <a:buNone/>
                      </a:pPr>
                      <a:r>
                        <a:rPr/>
                        <a:t>1.7%</a:t>
                      </a:r>
                    </a:p>
                  </a:txBody>
                </a:tc>
              </a:tr>
              <a:tr h="0">
                <a:tc>
                  <a:txBody>
                    <a:bodyPr/>
                    <a:lstStyle/>
                    <a:p>
                      <a:pPr lvl="0" indent="0" marL="0">
                        <a:buNone/>
                      </a:pPr>
                      <a:r>
                        <a:rPr/>
                        <a:t>Insurance and financial services</a:t>
                      </a:r>
                    </a:p>
                  </a:txBody>
                </a:tc>
                <a:tc>
                  <a:txBody>
                    <a:bodyPr/>
                    <a:lstStyle/>
                    <a:p>
                      <a:pPr lvl="0" indent="0" marL="0">
                        <a:buNone/>
                      </a:pPr>
                      <a:r>
                        <a:rPr/>
                        <a:t>−3.6%</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2020</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Insurance and financial services</a:t>
                      </a:r>
                    </a:p>
                  </a:txBody>
                </a:tc>
                <a:tc>
                  <a:txBody>
                    <a:bodyPr/>
                    <a:lstStyle/>
                    <a:p>
                      <a:pPr lvl="0" indent="0" marL="0">
                        <a:buNone/>
                      </a:pPr>
                      <a:r>
                        <a:rPr/>
                        <a:t>72.3%</a:t>
                      </a:r>
                    </a:p>
                  </a:txBody>
                </a:tc>
              </a:tr>
              <a:tr h="0">
                <a:tc>
                  <a:txBody>
                    <a:bodyPr/>
                    <a:lstStyle/>
                    <a:p>
                      <a:pPr lvl="0" indent="0" marL="0">
                        <a:buNone/>
                      </a:pPr>
                      <a:r>
                        <a:rPr/>
                        <a:t>Alcohol and tobacco</a:t>
                      </a:r>
                    </a:p>
                  </a:txBody>
                </a:tc>
                <a:tc>
                  <a:txBody>
                    <a:bodyPr/>
                    <a:lstStyle/>
                    <a:p>
                      <a:pPr lvl="0" indent="0" marL="0">
                        <a:buNone/>
                      </a:pPr>
                      <a:r>
                        <a:rPr/>
                        <a:t>35.1%</a:t>
                      </a:r>
                    </a:p>
                  </a:txBody>
                </a:tc>
              </a:tr>
              <a:tr h="0">
                <a:tc>
                  <a:txBody>
                    <a:bodyPr/>
                    <a:lstStyle/>
                    <a:p>
                      <a:pPr lvl="0" indent="0" marL="0">
                        <a:buNone/>
                      </a:pPr>
                      <a:r>
                        <a:rPr/>
                        <a:t>All groups</a:t>
                      </a:r>
                    </a:p>
                  </a:txBody>
                </a:tc>
                <a:tc>
                  <a:txBody>
                    <a:bodyPr/>
                    <a:lstStyle/>
                    <a:p>
                      <a:pPr lvl="0" indent="0" marL="0">
                        <a:buNone/>
                      </a:pPr>
                      <a:r>
                        <a:rPr/>
                        <a:t>28.5%</a:t>
                      </a:r>
                    </a:p>
                  </a:txBody>
                </a:tc>
              </a:tr>
              <a:tr h="0">
                <a:tc>
                  <a:txBody>
                    <a:bodyPr/>
                    <a:lstStyle/>
                    <a:p>
                      <a:pPr lvl="0" indent="0" marL="0">
                        <a:buNone/>
                      </a:pPr>
                      <a:r>
                        <a:rPr/>
                        <a:t>Housing</a:t>
                      </a:r>
                    </a:p>
                  </a:txBody>
                </a:tc>
                <a:tc>
                  <a:txBody>
                    <a:bodyPr/>
                    <a:lstStyle/>
                    <a:p>
                      <a:pPr lvl="0" indent="0" marL="0">
                        <a:buNone/>
                      </a:pPr>
                      <a:r>
                        <a:rPr/>
                        <a:t>27.1%</a:t>
                      </a:r>
                    </a:p>
                  </a:txBody>
                </a:tc>
              </a:tr>
              <a:tr h="0">
                <a:tc>
                  <a:txBody>
                    <a:bodyPr/>
                    <a:lstStyle/>
                    <a:p>
                      <a:pPr lvl="0" indent="0" marL="0">
                        <a:buNone/>
                      </a:pPr>
                      <a:r>
                        <a:rPr/>
                        <a:t>Health</a:t>
                      </a:r>
                    </a:p>
                  </a:txBody>
                </a:tc>
                <a:tc>
                  <a:txBody>
                    <a:bodyPr/>
                    <a:lstStyle/>
                    <a:p>
                      <a:pPr lvl="0" indent="0" marL="0">
                        <a:buNone/>
                      </a:pPr>
                      <a:r>
                        <a:rPr/>
                        <a:t>27.0%</a:t>
                      </a:r>
                    </a:p>
                  </a:txBody>
                </a:tc>
              </a:tr>
              <a:tr h="0">
                <a:tc>
                  <a:txBody>
                    <a:bodyPr/>
                    <a:lstStyle/>
                    <a:p>
                      <a:pPr lvl="0" indent="0" marL="0">
                        <a:buNone/>
                      </a:pPr>
                      <a:r>
                        <a:rPr/>
                        <a:t>Education</a:t>
                      </a:r>
                    </a:p>
                  </a:txBody>
                </a:tc>
                <a:tc>
                  <a:txBody>
                    <a:bodyPr/>
                    <a:lstStyle/>
                    <a:p>
                      <a:pPr lvl="0" indent="0" marL="0">
                        <a:buNone/>
                      </a:pPr>
                      <a:r>
                        <a:rPr/>
                        <a:t>26.2%</a:t>
                      </a:r>
                    </a:p>
                  </a:txBody>
                </a:tc>
              </a:tr>
              <a:tr h="0">
                <a:tc>
                  <a:txBody>
                    <a:bodyPr/>
                    <a:lstStyle/>
                    <a:p>
                      <a:pPr lvl="0" indent="0" marL="0">
                        <a:buNone/>
                      </a:pPr>
                      <a:r>
                        <a:rPr/>
                        <a:t>Transport</a:t>
                      </a:r>
                    </a:p>
                  </a:txBody>
                </a:tc>
                <a:tc>
                  <a:txBody>
                    <a:bodyPr/>
                    <a:lstStyle/>
                    <a:p>
                      <a:pPr lvl="0" indent="0" marL="0">
                        <a:buNone/>
                      </a:pPr>
                      <a:r>
                        <a:rPr/>
                        <a:t>25.4%</a:t>
                      </a:r>
                    </a:p>
                  </a:txBody>
                </a:tc>
              </a:tr>
              <a:tr h="0">
                <a:tc>
                  <a:txBody>
                    <a:bodyPr/>
                    <a:lstStyle/>
                    <a:p>
                      <a:pPr lvl="0" indent="0" marL="0">
                        <a:buNone/>
                      </a:pPr>
                      <a:r>
                        <a:rPr/>
                        <a:t>Food and non-alcoholic beverages</a:t>
                      </a:r>
                    </a:p>
                  </a:txBody>
                </a:tc>
                <a:tc>
                  <a:txBody>
                    <a:bodyPr/>
                    <a:lstStyle/>
                    <a:p>
                      <a:pPr lvl="0" indent="0" marL="0">
                        <a:buNone/>
                      </a:pPr>
                      <a:r>
                        <a:rPr/>
                        <a:t>25.3%</a:t>
                      </a:r>
                    </a:p>
                  </a:txBody>
                </a:tc>
              </a:tr>
              <a:tr h="0">
                <a:tc>
                  <a:txBody>
                    <a:bodyPr/>
                    <a:lstStyle/>
                    <a:p>
                      <a:pPr lvl="0" indent="0" marL="0">
                        <a:buNone/>
                      </a:pPr>
                      <a:r>
                        <a:rPr/>
                        <a:t>Wages</a:t>
                      </a:r>
                    </a:p>
                  </a:txBody>
                </a:tc>
                <a:tc>
                  <a:txBody>
                    <a:bodyPr/>
                    <a:lstStyle/>
                    <a:p>
                      <a:pPr lvl="0" indent="0" marL="0">
                        <a:buNone/>
                      </a:pPr>
                      <a:r>
                        <a:rPr/>
                        <a:t>20.6%</a:t>
                      </a:r>
                    </a:p>
                  </a:txBody>
                </a:tc>
              </a:tr>
              <a:tr h="0">
                <a:tc>
                  <a:txBody>
                    <a:bodyPr/>
                    <a:lstStyle/>
                    <a:p>
                      <a:pPr lvl="0" indent="0" marL="0">
                        <a:buNone/>
                      </a:pPr>
                      <a:r>
                        <a:rPr/>
                        <a:t>Recreation and culture</a:t>
                      </a:r>
                    </a:p>
                  </a:txBody>
                </a:tc>
                <a:tc>
                  <a:txBody>
                    <a:bodyPr/>
                    <a:lstStyle/>
                    <a:p>
                      <a:pPr lvl="0" indent="0" marL="0">
                        <a:buNone/>
                      </a:pPr>
                      <a:r>
                        <a:rPr/>
                        <a:t>19.2%</a:t>
                      </a:r>
                    </a:p>
                  </a:txBody>
                </a:tc>
              </a:tr>
              <a:tr h="0">
                <a:tc>
                  <a:txBody>
                    <a:bodyPr/>
                    <a:lstStyle/>
                    <a:p>
                      <a:pPr lvl="0" indent="0" marL="0">
                        <a:buNone/>
                      </a:pPr>
                      <a:r>
                        <a:rPr/>
                        <a:t>Furnishings, household equipment and services</a:t>
                      </a:r>
                    </a:p>
                  </a:txBody>
                </a:tc>
                <a:tc>
                  <a:txBody>
                    <a:bodyPr/>
                    <a:lstStyle/>
                    <a:p>
                      <a:pPr lvl="0" indent="0" marL="0">
                        <a:buNone/>
                      </a:pPr>
                      <a:r>
                        <a:rPr/>
                        <a:t>17.9%</a:t>
                      </a:r>
                    </a:p>
                  </a:txBody>
                </a:tc>
              </a:tr>
              <a:tr h="0">
                <a:tc>
                  <a:txBody>
                    <a:bodyPr/>
                    <a:lstStyle/>
                    <a:p>
                      <a:pPr lvl="0" indent="0" marL="0">
                        <a:buNone/>
                      </a:pPr>
                      <a:r>
                        <a:rPr/>
                        <a:t>Clothing and footwear</a:t>
                      </a:r>
                    </a:p>
                  </a:txBody>
                </a:tc>
                <a:tc>
                  <a:txBody>
                    <a:bodyPr/>
                    <a:lstStyle/>
                    <a:p>
                      <a:pPr lvl="0" indent="0" marL="0">
                        <a:buNone/>
                      </a:pPr>
                      <a:r>
                        <a:rPr/>
                        <a:t>9.4%</a:t>
                      </a:r>
                    </a:p>
                  </a:txBody>
                </a:tc>
              </a:tr>
              <a:tr h="0">
                <a:tc>
                  <a:txBody>
                    <a:bodyPr/>
                    <a:lstStyle/>
                    <a:p>
                      <a:pPr lvl="0" indent="0" marL="0">
                        <a:buNone/>
                      </a:pPr>
                      <a:r>
                        <a:rPr/>
                        <a:t>Communication</a:t>
                      </a:r>
                    </a:p>
                  </a:txBody>
                </a:tc>
                <a:tc>
                  <a:txBody>
                    <a:bodyPr/>
                    <a:lstStyle/>
                    <a:p>
                      <a:pPr lvl="0" indent="0" marL="0">
                        <a:buNone/>
                      </a:pPr>
                      <a:r>
                        <a:rPr/>
                        <a:t>1.7%</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sp>
        <p:nvSpPr>
          <p:cNvPr id="3" name="Content Placeholder 2"/>
          <p:cNvSpPr>
            <a:spLocks noGrp="1"/>
          </p:cNvSpPr>
          <p:nvPr>
            <p:ph idx="1"/>
          </p:nvPr>
        </p:nvSpPr>
        <p:spPr/>
        <p:txBody>
          <a:bodyPr/>
          <a:lstStyle/>
          <a:p>
            <a:pPr lvl="0" indent="0" marL="0">
              <a:buNone/>
            </a:pPr>
            <a:r>
              <a:rPr>
                <a:hlinkClick r:id="rId2"/>
              </a:rPr>
              <a:t>https://www.youtube-nocookie.com/watch?v=g6-lciEvkpA</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pic>
        <p:nvPicPr>
          <p:cNvPr descr="delegates-forum-sa-2026_files/figure-pptx/unnamed-chunk-3-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Pay Increase</a:t>
            </a:r>
          </a:p>
        </p:txBody>
      </p:sp>
      <p:pic>
        <p:nvPicPr>
          <p:cNvPr descr="delegates-forum-sa-2026_files/figure-pptx/unnamed-chunk-4-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Inflation Is Not</a:t>
            </a:r>
          </a:p>
        </p:txBody>
      </p:sp>
      <p:sp>
        <p:nvSpPr>
          <p:cNvPr id="3" name="Content Placeholder 2"/>
          <p:cNvSpPr>
            <a:spLocks noGrp="1"/>
          </p:cNvSpPr>
          <p:nvPr>
            <p:ph idx="1"/>
          </p:nvPr>
        </p:nvSpPr>
        <p:spPr/>
        <p:txBody>
          <a:bodyPr/>
          <a:lstStyle/>
          <a:p>
            <a:pPr lvl="0"/>
            <a:r>
              <a:rPr/>
              <a:t>Inflation is not a measure of the cost of living.</a:t>
            </a:r>
          </a:p>
          <a:p>
            <a:pPr lvl="0"/>
            <a:r>
              <a:rPr/>
              <a:t>Decreasing inflation does not mean prices have gone down.</a:t>
            </a:r>
          </a:p>
          <a:p>
            <a:pPr lvl="0"/>
            <a:r>
              <a:rPr/>
              <a:t>Inflation is not more important than any other economic indicator.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2053249"/>
            <a:ext cx="7772400" cy="1021556"/>
          </a:xfrm>
        </p:spPr>
        <p:txBody>
          <a:bodyPr/>
          <a:lstStyle/>
          <a:p>
            <a:pPr lvl="0" indent="0" marL="0">
              <a:buNone/>
            </a:pPr>
            <a:r>
              <a:rPr/>
              <a:t>The AMWU and Wages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Increasing real wages is our core business.</a:t>
            </a:r>
          </a:p>
          <a:p>
            <a:pPr lvl="0"/>
            <a:r>
              <a:rPr/>
              <a:t>It is about improving living standards. And making sure people aren’t getting left behind, or exploited by their employer.</a:t>
            </a:r>
          </a:p>
          <a:p>
            <a:pPr lvl="0"/>
            <a:r>
              <a:rPr/>
              <a:t>Inflation has eroded real wage increases that we have collectively struggled for.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2053249"/>
            <a:ext cx="7772400" cy="1021556"/>
          </a:xfrm>
        </p:spPr>
        <p:txBody>
          <a:bodyPr/>
          <a:lstStyle/>
          <a:p>
            <a:pPr lvl="0" indent="0" marL="0">
              <a:buNone/>
            </a:pPr>
            <a:r>
              <a:rPr/>
              <a:t>Industrial Capabilities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What you make is what you know</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Industrial Capabilities</a:t>
            </a:r>
          </a:p>
        </p:txBody>
      </p:sp>
      <p:sp>
        <p:nvSpPr>
          <p:cNvPr id="3" name="Content Placeholder 2"/>
          <p:cNvSpPr>
            <a:spLocks noGrp="1"/>
          </p:cNvSpPr>
          <p:nvPr>
            <p:ph idx="1"/>
          </p:nvPr>
        </p:nvSpPr>
        <p:spPr/>
        <p:txBody>
          <a:bodyPr/>
          <a:lstStyle/>
          <a:p>
            <a:pPr lvl="0"/>
            <a:r>
              <a:rPr/>
              <a:t>Core concepts:</a:t>
            </a:r>
          </a:p>
          <a:p>
            <a:pPr lvl="1"/>
            <a:r>
              <a:rPr/>
              <a:t>a country makes (or does) what it knows</a:t>
            </a:r>
          </a:p>
          <a:p>
            <a:pPr lvl="1"/>
            <a:r>
              <a:rPr/>
              <a:t>products (or activities) represent combinations of knowledge</a:t>
            </a:r>
          </a:p>
          <a:p>
            <a:pPr lvl="0"/>
            <a:r>
              <a:rPr/>
              <a:t>Capabilities are like letters in Scrabble</a:t>
            </a:r>
          </a:p>
          <a:p>
            <a:pPr lvl="1"/>
            <a:r>
              <a:rPr/>
              <a:t>The more you have, the more words you can make</a:t>
            </a:r>
          </a:p>
          <a:p>
            <a:pPr lvl="1"/>
            <a:r>
              <a:rPr/>
              <a:t>Rare letters create words worth more points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Products Embody Knowledge</a:t>
            </a:r>
          </a:p>
        </p:txBody>
      </p:sp>
      <p:pic>
        <p:nvPicPr>
          <p:cNvPr descr="img/red-apple.png" id="0" name="Picture 1"/>
          <p:cNvPicPr>
            <a:picLocks noGrp="1" noChangeAspect="1"/>
          </p:cNvPicPr>
          <p:nvPr/>
        </p:nvPicPr>
        <p:blipFill>
          <a:blip r:embed="rId2"/>
          <a:stretch>
            <a:fillRect/>
          </a:stretch>
        </p:blipFill>
        <p:spPr bwMode="auto">
          <a:xfrm>
            <a:off x="647700" y="1193800"/>
            <a:ext cx="3657600" cy="3860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An apple in the supermarket represents:</a:t>
            </a:r>
          </a:p>
          <a:p>
            <a:pPr lvl="0"/>
            <a:r>
              <a:rPr/>
              <a:t>Horticulture</a:t>
            </a:r>
          </a:p>
          <a:p>
            <a:pPr lvl="0"/>
            <a:r>
              <a:rPr/>
              <a:t>Pest control</a:t>
            </a:r>
          </a:p>
          <a:p>
            <a:pPr lvl="0"/>
            <a:r>
              <a:rPr/>
              <a:t>Refrigeration</a:t>
            </a:r>
          </a:p>
          <a:p>
            <a:pPr lvl="0"/>
            <a:r>
              <a:rPr/>
              <a:t>Logistics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Products Embody Knowledge</a:t>
            </a:r>
          </a:p>
        </p:txBody>
      </p:sp>
      <p:pic>
        <p:nvPicPr>
          <p:cNvPr descr="img/Apple.png" id="0" name="Picture 1"/>
          <p:cNvPicPr>
            <a:picLocks noGrp="1" noChangeAspect="1"/>
          </p:cNvPicPr>
          <p:nvPr/>
        </p:nvPicPr>
        <p:blipFill>
          <a:blip r:embed="rId2"/>
          <a:stretch>
            <a:fillRect/>
          </a:stretch>
        </p:blipFill>
        <p:spPr bwMode="auto">
          <a:xfrm>
            <a:off x="546100" y="1193800"/>
            <a:ext cx="3860800" cy="3860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An iPhone represents:</a:t>
            </a:r>
          </a:p>
          <a:p>
            <a:pPr lvl="0"/>
            <a:r>
              <a:rPr/>
              <a:t>Semiconductors</a:t>
            </a:r>
          </a:p>
          <a:p>
            <a:pPr lvl="0"/>
            <a:r>
              <a:rPr/>
              <a:t>Software/Hardware Engineering</a:t>
            </a:r>
          </a:p>
          <a:p>
            <a:pPr lvl="0"/>
            <a:r>
              <a:rPr/>
              <a:t>Materials science</a:t>
            </a:r>
          </a:p>
          <a:p>
            <a:pPr lvl="0"/>
            <a:r>
              <a:rPr/>
              <a:t>Lenses</a:t>
            </a:r>
          </a:p>
          <a:p>
            <a:pPr lvl="0"/>
            <a:r>
              <a:rPr/>
              <a:t>Marketing</a:t>
            </a:r>
          </a:p>
          <a:p>
            <a:pPr lvl="0"/>
            <a:r>
              <a:rPr/>
              <a:t>Packaging</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Measuring Industrial Capabilities</a:t>
            </a:r>
          </a:p>
        </p:txBody>
      </p:sp>
      <p:sp>
        <p:nvSpPr>
          <p:cNvPr id="3" name="Content Placeholder 2"/>
          <p:cNvSpPr>
            <a:spLocks noGrp="1"/>
          </p:cNvSpPr>
          <p:nvPr>
            <p:ph idx="1"/>
          </p:nvPr>
        </p:nvSpPr>
        <p:spPr/>
        <p:txBody>
          <a:bodyPr/>
          <a:lstStyle/>
          <a:p>
            <a:pPr lvl="0"/>
            <a:r>
              <a:rPr/>
              <a:t>Export data reveals what a country makes</a:t>
            </a:r>
          </a:p>
          <a:p>
            <a:pPr lvl="0"/>
            <a:r>
              <a:rPr/>
              <a:t>Comparison between countries reveals which capabilities are common, and which are rare</a:t>
            </a:r>
          </a:p>
          <a:p>
            <a:pPr lvl="0"/>
            <a:r>
              <a:rPr/>
              <a:t>The presence of different capabilities in different countries allows a ranking called the Economic Complexity Index</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a:t>
            </a:r>
          </a:p>
        </p:txBody>
      </p:sp>
      <p:sp>
        <p:nvSpPr>
          <p:cNvPr id="3" name="Content Placeholder 2"/>
          <p:cNvSpPr>
            <a:spLocks noGrp="1"/>
          </p:cNvSpPr>
          <p:nvPr>
            <p:ph idx="1"/>
          </p:nvPr>
        </p:nvSpPr>
        <p:spPr/>
        <p:txBody>
          <a:bodyPr/>
          <a:lstStyle/>
          <a:p>
            <a:pPr lvl="0"/>
            <a:r>
              <a:rPr/>
              <a:t>The Economic Complexity Index is predictive of the direction of future economic growth.</a:t>
            </a:r>
          </a:p>
          <a:p>
            <a:pPr lvl="1"/>
            <a:r>
              <a:rPr/>
              <a:t>Countries with higher complexity are predicted to grow faster</a:t>
            </a:r>
          </a:p>
          <a:p>
            <a:pPr lvl="0"/>
            <a:r>
              <a:rPr/>
              <a:t>Useful tool to identify productive capabilities of a country.</a:t>
            </a:r>
          </a:p>
          <a:p>
            <a:pPr lvl="0"/>
            <a:r>
              <a:rPr/>
              <a:t>Can be used to identify future opportunities and direct strategy.</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 to Australia?</a:t>
            </a:r>
          </a:p>
        </p:txBody>
      </p:sp>
      <p:pic>
        <p:nvPicPr>
          <p:cNvPr descr="delegates-forum-sa-2026_files/figure-pptx/unnamed-chunk-5-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 to Western Australia?</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Can Be Done?</a:t>
            </a:r>
          </a:p>
        </p:txBody>
      </p:sp>
      <p:sp>
        <p:nvSpPr>
          <p:cNvPr id="3" name="Content Placeholder 2"/>
          <p:cNvSpPr>
            <a:spLocks noGrp="1"/>
          </p:cNvSpPr>
          <p:nvPr>
            <p:ph idx="1"/>
          </p:nvPr>
        </p:nvSpPr>
        <p:spPr/>
        <p:txBody>
          <a:bodyPr/>
          <a:lstStyle/>
          <a:p>
            <a:pPr lvl="0"/>
            <a:r>
              <a:rPr/>
              <a:t>Recognise that there is a problem.</a:t>
            </a:r>
          </a:p>
          <a:p>
            <a:pPr lvl="0"/>
            <a:r>
              <a:rPr/>
              <a:t>The lack of sufficient existing capabilities requires explicit and direct industrial policy.</a:t>
            </a:r>
          </a:p>
          <a:p>
            <a:pPr lvl="0"/>
            <a:r>
              <a:rPr/>
              <a:t>Understand the connection between just transition, decarbonisation, and reindustrialisation.</a:t>
            </a:r>
          </a:p>
          <a:p>
            <a:pPr lvl="0"/>
            <a:r>
              <a:rPr/>
              <a:t>Develop a policy agenda which explicitly outlines existing and future opportunities, and how to get there.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The AMWU and a Future Made in Australia</a:t>
            </a:r>
          </a:p>
        </p:txBody>
      </p:sp>
      <p:sp>
        <p:nvSpPr>
          <p:cNvPr id="3" name="Content Placeholder 2"/>
          <p:cNvSpPr>
            <a:spLocks noGrp="1"/>
          </p:cNvSpPr>
          <p:nvPr>
            <p:ph idx="1"/>
          </p:nvPr>
        </p:nvSpPr>
        <p:spPr/>
        <p:txBody>
          <a:bodyPr/>
          <a:lstStyle/>
          <a:p>
            <a:pPr lvl="0"/>
            <a:r>
              <a:rPr/>
              <a:t>The Future Made in Australia Act is a $22.7 billion investment into restoring an industrial base in Australia.</a:t>
            </a:r>
          </a:p>
          <a:p>
            <a:pPr lvl="0"/>
            <a:r>
              <a:rPr/>
              <a:t>FMIA, which is public money, must be used to create secure, high-quality jobs. Not subsidise worker exploitation.</a:t>
            </a:r>
          </a:p>
          <a:p>
            <a:pPr lvl="0"/>
            <a:r>
              <a:rPr/>
              <a:t>The AMWU is calling for the establishment of a manufacturing council, and tying strong conditions to businesses receiving public money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Conditions for Employers</a:t>
            </a:r>
          </a:p>
        </p:txBody>
      </p:sp>
      <p:sp>
        <p:nvSpPr>
          <p:cNvPr id="3" name="Content Placeholder 2"/>
          <p:cNvSpPr>
            <a:spLocks noGrp="1"/>
          </p:cNvSpPr>
          <p:nvPr>
            <p:ph idx="1"/>
          </p:nvPr>
        </p:nvSpPr>
        <p:spPr/>
        <p:txBody>
          <a:bodyPr/>
          <a:lstStyle/>
          <a:p>
            <a:pPr lvl="0"/>
            <a:r>
              <a:rPr/>
              <a:t>Guarantee of secure jobs, fair wages, and safe conditions</a:t>
            </a:r>
          </a:p>
          <a:p>
            <a:pPr lvl="0"/>
            <a:r>
              <a:rPr/>
              <a:t>Collective bargaining as a requirement at workplaces who receive public money.</a:t>
            </a:r>
          </a:p>
          <a:p>
            <a:pPr lvl="0"/>
            <a:r>
              <a:rPr/>
              <a:t>Use the state’s power in procurement to support local industry through local content targets.</a:t>
            </a:r>
          </a:p>
          <a:p>
            <a:pPr lvl="0"/>
            <a:r>
              <a:rPr/>
              <a:t>Mandate apprentice participation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Manufacturing Competitiveness Council</a:t>
            </a:r>
          </a:p>
        </p:txBody>
      </p:sp>
      <p:sp>
        <p:nvSpPr>
          <p:cNvPr id="3" name="Content Placeholder 2"/>
          <p:cNvSpPr>
            <a:spLocks noGrp="1"/>
          </p:cNvSpPr>
          <p:nvPr>
            <p:ph idx="1"/>
          </p:nvPr>
        </p:nvSpPr>
        <p:spPr/>
        <p:txBody>
          <a:bodyPr/>
          <a:lstStyle/>
          <a:p>
            <a:pPr lvl="0"/>
            <a:r>
              <a:rPr/>
              <a:t>Tripartite Manufacturing Competitiveness Council - with genuine union representation.</a:t>
            </a:r>
          </a:p>
          <a:p>
            <a:pPr lvl="0"/>
            <a:r>
              <a:rPr/>
              <a:t>Ensure that all decisions about capital investment, skills, and industry strategy are made with worker input.</a:t>
            </a:r>
          </a:p>
          <a:p>
            <a:pPr lvl="0"/>
            <a:r>
              <a:rPr/>
              <a:t>Establish and plan for the orderly transition of our economy - guided by human need, not market whims.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Fair Trade</a:t>
            </a:r>
          </a:p>
        </p:txBody>
      </p:sp>
      <p:sp>
        <p:nvSpPr>
          <p:cNvPr id="3" name="Content Placeholder 2"/>
          <p:cNvSpPr>
            <a:spLocks noGrp="1"/>
          </p:cNvSpPr>
          <p:nvPr>
            <p:ph idx="1"/>
          </p:nvPr>
        </p:nvSpPr>
        <p:spPr/>
        <p:txBody>
          <a:bodyPr/>
          <a:lstStyle/>
          <a:p>
            <a:pPr lvl="0"/>
            <a:r>
              <a:rPr/>
              <a:t>Empower the Anti-Dumping Commission</a:t>
            </a:r>
          </a:p>
          <a:p>
            <a:pPr lvl="0"/>
            <a:r>
              <a:rPr/>
              <a:t>Unfair trade, particular dumping, has significant negative effects on local industry. Especially in a country that is seeking to re-industrialise.</a:t>
            </a:r>
          </a:p>
          <a:p>
            <a:pPr lvl="0"/>
            <a:r>
              <a:rPr/>
              <a:t>Establish an Independent Advocate for Fair Trade.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Nationalising Strategic Infrastructure</a:t>
            </a:r>
          </a:p>
        </p:txBody>
      </p:sp>
      <p:sp>
        <p:nvSpPr>
          <p:cNvPr id="3" name="Content Placeholder 2"/>
          <p:cNvSpPr>
            <a:spLocks noGrp="1"/>
          </p:cNvSpPr>
          <p:nvPr>
            <p:ph idx="1"/>
          </p:nvPr>
        </p:nvSpPr>
        <p:spPr/>
        <p:txBody>
          <a:bodyPr/>
          <a:lstStyle/>
          <a:p>
            <a:pPr lvl="0"/>
            <a:r>
              <a:rPr/>
              <a:t>Infrastructure that is “too big to fail” or needed “in the national interest” can not be left in the hands of profit maximisers.</a:t>
            </a:r>
          </a:p>
          <a:p>
            <a:pPr lvl="0"/>
            <a:r>
              <a:rPr/>
              <a:t>Perpetual bailouts and subsidies</a:t>
            </a:r>
          </a:p>
          <a:p>
            <a:pPr lvl="0"/>
            <a:r>
              <a:rPr/>
              <a:t>Natioanalisation can help us to achieve our strategic goals.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2053249"/>
            <a:ext cx="7772400" cy="1021556"/>
          </a:xfrm>
        </p:spPr>
        <p:txBody>
          <a:bodyPr/>
          <a:lstStyle/>
          <a:p>
            <a:pPr lvl="0" indent="0" marL="0">
              <a:buNone/>
            </a:pPr>
            <a:r>
              <a:rPr/>
              <a:t>Questions</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Calibri</vt:lpstr>
      <vt:lpstr>Helvetica</vt:lpstr>
      <vt:lpstr>Stag</vt:lpstr>
      <vt:lpstr>Stag Medium</vt:lpstr>
      <vt:lpstr>Stag Semibold</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Economics in the Real World</dc:title>
  <dc:creator>Hamish Gamble</dc:creator>
  <cp:keywords/>
  <dcterms:created xsi:type="dcterms:W3CDTF">2026-06-09T06:02:40Z</dcterms:created>
  <dcterms:modified xsi:type="dcterms:W3CDTF">2026-06-09T06:02:40Z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 - AMWU</vt:lpwstr>
  </property>
  <property fmtid="{D5CDD505-2E9C-101B-9397-08002B2CF9AE}" pid="3" name="authors">
    <vt:lpwstr/>
  </property>
  <property fmtid="{D5CDD505-2E9C-101B-9397-08002B2CF9AE}" pid="4" name="biblio-config">
    <vt:lpwstr>True</vt:lpwstr>
  </property>
  <property fmtid="{D5CDD505-2E9C-101B-9397-08002B2CF9AE}" pid="5" name="brand">
    <vt:lpwstr>_brand/_brand.yml</vt:lpwstr>
  </property>
  <property fmtid="{D5CDD505-2E9C-101B-9397-08002B2CF9AE}" pid="6" name="by-author">
    <vt:lpwstr/>
  </property>
  <property fmtid="{D5CDD505-2E9C-101B-9397-08002B2CF9AE}" pid="7" name="engines">
    <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subtitle">
    <vt:lpwstr>SA Delegates Forum</vt:lpwstr>
  </property>
  <property fmtid="{D5CDD505-2E9C-101B-9397-08002B2CF9AE}" pid="14" name="toc-title">
    <vt:lpwstr>Table of contents</vt:lpwstr>
  </property>
</Properties>
</file>