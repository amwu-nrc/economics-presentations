
<file path=[Content_Types].xml><?xml version="1.0" encoding="utf-8"?>
<Types xmlns="http://schemas.openxmlformats.org/package/2006/content-types">
  <Default Extension="xml" ContentType="application/xml"/>
  <Default Extension="rels" ContentType="application/vnd.openxmlformats-package.relationships+xml"/>
  <Default Extension="webp" ContentType="image/webp"/>
  <Default Extension="png" ContentType="image/png"/>
  <Override PartName="/docProps/app.xml" ContentType="application/vnd.openxmlformats-officedocument.extended-properties+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Objects="1">
      <p:cViewPr varScale="1">
        <p:scale>
          <a:sx d="100" n="147"/>
          <a:sy d="100" n="147"/>
        </p:scale>
        <p:origin x="564" y="12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180000" cy="1800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notesMaster" Target="notesMasters/notesMaster1.xml" /><Relationship Id="rId12" Type="http://schemas.openxmlformats.org/officeDocument/2006/relationships/viewProps" Target="viewProps.xml" /><Relationship Id="rId11" Type="http://schemas.openxmlformats.org/officeDocument/2006/relationships/presProps" Target="presProps.xml" /><Relationship Id="rId1" Type="http://schemas.openxmlformats.org/officeDocument/2006/relationships/slideMaster" Target="slideMasters/slideMaster1.xml" /><Relationship Id="rId14" Type="http://schemas.openxmlformats.org/officeDocument/2006/relationships/tableStyles" Target="tableStyles.xml" /><Relationship Id="rId13"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Trade surplus countries take advantage by using subsidies on domestic production, manipulate currency to keep their exchange rate low, and have their own tariffs on US imports.</a:t>
            </a:r>
          </a:p>
          <a:p>
            <a:pPr lvl="0" indent="0" marL="0">
              <a:buNone/>
            </a:pPr>
          </a:p>
          <a:p>
            <a:pPr lvl="0" indent="0" marL="0">
              <a:buNone/>
            </a:pPr>
            <a:r>
              <a:rPr/>
              <a:t>There was a recent bit of news in the AFR:</a:t>
            </a:r>
          </a:p>
          <a:p>
            <a:pPr lvl="0" indent="0" marL="0">
              <a:buNone/>
            </a:pPr>
          </a:p>
          <a:p>
            <a:pPr lvl="0" indent="0" marL="0">
              <a:buNone/>
            </a:pPr>
            <a:r>
              <a:rPr/>
              <a:t>Century Aluminum has urged US President Donald Trump’s top trade official to register the Albanese government’s $22.7 billion Future Made in Australia industrial policy, which aims to encourage onshore manufacturing, in its annual report on foreign trade barriers.</a:t>
            </a:r>
          </a:p>
          <a:p>
            <a:pPr lvl="0" indent="0" marL="0">
              <a:buNone/>
            </a:pPr>
          </a:p>
          <a:p>
            <a:pPr lvl="0" indent="0" marL="0">
              <a:buNone/>
            </a:pPr>
            <a:r>
              <a:rPr/>
              <a:t>The impact on domestic industry (through price competition) resonates a lot with workers I think.</a:t>
            </a:r>
          </a:p>
          <a:p>
            <a:pPr lvl="0" indent="0" marL="0">
              <a:buNone/>
            </a:pPr>
          </a:p>
          <a:p>
            <a:pPr lvl="0" indent="0" marL="0">
              <a:buNone/>
            </a:pPr>
            <a:r>
              <a:rPr/>
              <a:t>The impact of deindustrialisation on the US (and other western economies) is real, and has caused significant community disruption, and destruction. Former (and current) industrial towns in the Midwest have suffered real impacts.</a:t>
            </a:r>
          </a:p>
          <a:p>
            <a:pPr lvl="0" indent="0" marL="0">
              <a:buNone/>
            </a:pPr>
          </a:p>
          <a:p>
            <a:pPr lvl="0" indent="0" marL="0">
              <a:buNone/>
            </a:pPr>
            <a:r>
              <a:rPr/>
              <a:t>Trump isn’t even arguing that the tariffs will bring back manufacturing jobs in the US, instead focusing on using AI, automation, and robotics to do the work.</a:t>
            </a:r>
          </a:p>
          <a:p>
            <a:pPr lvl="0" indent="0" marL="0">
              <a:buNone/>
            </a:pPr>
          </a:p>
          <a:p>
            <a:pPr lvl="0" indent="0" marL="0">
              <a:buNone/>
            </a:pPr>
            <a:r>
              <a:rPr/>
              <a:t>So even if it’s successful, even if the argument is believable, there is no room in the policy for workers to share the benefits. There is certainly no guarantee that a revitalised manufacturing industry in the US, brought upon by tariffs, would bring back many if any manufacturing jobs.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It’s a classic “pull the ladder up after you” situation.</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 manufacturing moved off-shore as capitalists sought higher profit through lower labour costs during a period where the US dollar was very high. The US dollar was very high because Paul Volcker increased interest rates to 19% to curb inflation (through demand destruction, i.e. make everyone unemployed and poor)</a:t>
            </a:r>
          </a:p>
          <a:p>
            <a:pPr lvl="0" indent="0" marL="0">
              <a:buNone/>
            </a:pPr>
          </a:p>
          <a:p>
            <a:pPr lvl="0" indent="0" marL="0">
              <a:buNone/>
            </a:pPr>
            <a:r>
              <a:rPr/>
              <a:t>The question is - can tariffs work for a country trying to reindustrialise?</a:t>
            </a:r>
          </a:p>
          <a:p>
            <a:pPr lvl="0" indent="0" marL="0">
              <a:buNone/>
            </a:pPr>
          </a:p>
          <a:p>
            <a:pPr lvl="0" indent="0" marL="0">
              <a:buNone/>
            </a:pPr>
            <a:r>
              <a:rPr/>
              <a:t>America is a special case. If it could work for anyone, it would be them.</a:t>
            </a:r>
          </a:p>
          <a:p>
            <a:pPr lvl="0" indent="0" marL="0">
              <a:buNone/>
            </a:pPr>
          </a:p>
          <a:p>
            <a:pPr lvl="0" indent="0" marL="0">
              <a:buNone/>
            </a:pPr>
            <a:r>
              <a:rPr/>
              <a:t>They maintain economic, political, and military power over much of the rest of the world - especially across the west.</a:t>
            </a:r>
          </a:p>
          <a:p>
            <a:pPr lvl="0" indent="0" marL="0">
              <a:buNone/>
            </a:pPr>
          </a:p>
          <a:p>
            <a:pPr lvl="0" indent="0" marL="0">
              <a:buNone/>
            </a:pPr>
            <a:r>
              <a:rPr/>
              <a:t>But the strategy still faces significant head winds, including:</a:t>
            </a:r>
          </a:p>
          <a:p>
            <a:pPr lvl="0" indent="0" marL="0">
              <a:buNone/>
            </a:pPr>
          </a:p>
          <a:p>
            <a:pPr lvl="0"/>
            <a:r>
              <a:rPr/>
              <a:t>Final product manufacturing in the US still requires intermediate inputs which are sourced from all over the world. So the price increase still gets passed on to domestic production!</a:t>
            </a:r>
          </a:p>
          <a:p>
            <a:pPr lvl="0" indent="0" marL="0">
              <a:buNone/>
            </a:pPr>
          </a:p>
          <a:p>
            <a:pPr lvl="0"/>
            <a:r>
              <a:rPr/>
              <a:t>There’s not sufficient domestic capabilities to meet consumers demand. But the price increases are already coming.</a:t>
            </a:r>
          </a:p>
          <a:p>
            <a:pPr lvl="0" indent="0" marL="0">
              <a:buNone/>
            </a:pPr>
          </a:p>
          <a:p>
            <a:pPr lvl="0"/>
            <a:r>
              <a:rPr/>
              <a:t>With no comprehensive industrial strategy, investment and onshoring just means that manufacturing firms would have to accept lower profits out of the kindness of their hearts. Do we think the capitalist would do that?</a:t>
            </a:r>
          </a:p>
          <a:p>
            <a:pPr lvl="0" indent="0" marL="0">
              <a:buNone/>
            </a:pPr>
          </a:p>
          <a:p>
            <a:pPr lvl="0" indent="0" marL="0">
              <a:buNone/>
            </a:pPr>
            <a:r>
              <a:rPr/>
              <a:t>Even if it works for them, it is not going to be a viable strategy for the rest of us.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response to declining profit, capitalists try to discipline labour, move production somewhere cheaper, inflates asset bubbles, and retreat behind protective barriers.</a:t>
            </a:r>
          </a:p>
          <a:p>
            <a:pPr lvl="0" indent="0" marL="0">
              <a:buNone/>
            </a:pPr>
          </a:p>
          <a:p>
            <a:pPr lvl="0" indent="0" marL="0">
              <a:buNone/>
            </a:pPr>
            <a:r>
              <a:rPr/>
              <a:t>Most likely what is going on is that the capital class is using tariffs to try and protect their profits because they are no longer competitive.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020490"/>
            <a:ext cx="7772400" cy="1102519"/>
          </a:xfrm>
        </p:spPr>
        <p:txBody>
          <a:bodyPr/>
          <a:lstStyle>
            <a:lvl1pPr>
              <a:defRPr sz="4000" b="1" i="0" cap="none" baseline="0">
                <a:solidFill>
                  <a:schemeClr val="tx2"/>
                </a:solidFill>
                <a:latin typeface="Stag" panose="02000603060000020004" pitchFamily="2" charset="0"/>
              </a:defRPr>
            </a:lvl1pPr>
          </a:lstStyle>
          <a:p>
            <a:r>
              <a:rPr lang="en-US" dirty="0"/>
              <a:t>Click to edit master title style</a:t>
            </a:r>
          </a:p>
        </p:txBody>
      </p:sp>
      <p:sp>
        <p:nvSpPr>
          <p:cNvPr id="3" name="Subtitle 2"/>
          <p:cNvSpPr>
            <a:spLocks noGrp="1"/>
          </p:cNvSpPr>
          <p:nvPr>
            <p:ph type="subTitle" idx="1"/>
          </p:nvPr>
        </p:nvSpPr>
        <p:spPr>
          <a:xfrm>
            <a:off x="1512000" y="3529538"/>
            <a:ext cx="6400800" cy="508533"/>
          </a:xfrm>
        </p:spPr>
        <p:txBody>
          <a:bodyPr/>
          <a:lstStyle>
            <a:lvl1pPr marL="0" indent="0" algn="ctr">
              <a:buNone/>
              <a:defRPr sz="2200" b="1" i="0" cap="all" baseline="0">
                <a:solidFill>
                  <a:schemeClr val="tx2"/>
                </a:solidFill>
                <a:latin typeface="Helvetica"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pic>
        <p:nvPicPr>
          <p:cNvPr id="7" name="Picture 6" descr="A black and blue logo&#10;&#10;AI-generated content may be incorrect.">
            <a:extLst>
              <a:ext uri="{FF2B5EF4-FFF2-40B4-BE49-F238E27FC236}">
                <a16:creationId xmlns:a16="http://schemas.microsoft.com/office/drawing/2014/main" id="{FE5328CA-2CF8-7AA1-BFBF-639DE8A51604}"/>
              </a:ext>
            </a:extLst>
          </p:cNvPr>
          <p:cNvPicPr>
            <a:picLocks noChangeAspect="1"/>
          </p:cNvPicPr>
          <p:nvPr userDrawn="1"/>
        </p:nvPicPr>
        <p:blipFill>
          <a:blip r:embed="rId3"/>
          <a:srcRect l="1" t="17400" r="-676" b="16465"/>
          <a:stretch>
            <a:fillRect/>
          </a:stretch>
        </p:blipFill>
        <p:spPr>
          <a:xfrm>
            <a:off x="2412000" y="0"/>
            <a:ext cx="3780000" cy="1359694"/>
          </a:xfrm>
          <a:prstGeom prst="rect">
            <a:avLst/>
          </a:prstGeom>
        </p:spPr>
      </p:pic>
      <p:sp>
        <p:nvSpPr>
          <p:cNvPr id="4" name="AutoShape 2">
            <a:extLst>
              <a:ext uri="{FF2B5EF4-FFF2-40B4-BE49-F238E27FC236}">
                <a16:creationId xmlns:a16="http://schemas.microsoft.com/office/drawing/2014/main" id="{BA7A2B98-05DA-985B-02B4-7BF429D6FC88}"/>
              </a:ext>
            </a:extLst>
          </p:cNvPr>
          <p:cNvSpPr/>
          <p:nvPr userDrawn="1"/>
        </p:nvSpPr>
        <p:spPr>
          <a:xfrm rot="10800000">
            <a:off x="4102963" y="3291750"/>
            <a:ext cx="938074" cy="0"/>
          </a:xfrm>
          <a:prstGeom prst="line">
            <a:avLst/>
          </a:prstGeom>
          <a:ln w="28575" cap="flat">
            <a:solidFill>
              <a:srgbClr val="FF5800"/>
            </a:solidFill>
            <a:prstDash val="solid"/>
            <a:headEnd type="none" w="sm" len="sm"/>
            <a:tailEnd type="none" w="sm" len="sm"/>
          </a:ln>
        </p:spPr>
        <p:txBody>
          <a:bodyPr/>
          <a:lstStyle/>
          <a:p>
            <a:endParaRPr lang="en-AU"/>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noAutofit/>
          </a:bodyPr>
          <a:lstStyle>
            <a:lvl1pPr>
              <a:defRPr sz="2400"/>
            </a:lvl1pPr>
          </a:lstStyle>
          <a:p>
            <a:r>
              <a:rPr lang="en-US" dirty="0"/>
              <a:t>Click to edit Master title style</a:t>
            </a:r>
          </a:p>
        </p:txBody>
      </p:sp>
      <p:sp>
        <p:nvSpPr>
          <p:cNvPr id="3" name="Content Placeholder 2"/>
          <p:cNvSpPr>
            <a:spLocks noGrp="1"/>
          </p:cNvSpPr>
          <p:nvPr>
            <p:ph idx="1"/>
          </p:nvPr>
        </p:nvSpPr>
        <p:spPr>
          <a:xfrm>
            <a:off x="457200" y="1587600"/>
            <a:ext cx="8229600" cy="3388923"/>
          </a:xfrm>
        </p:spPr>
        <p:txBody>
          <a:bodyPr>
            <a:normAutofit/>
          </a:bodyPr>
          <a:lstStyle>
            <a:lvl1pPr>
              <a:defRPr sz="1800"/>
            </a:lvl1pPr>
            <a:lvl2pPr>
              <a:defRPr sz="18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reeform 3" descr="A black and white logo&#10;&#10;AI-generated content may be incorrect.">
            <a:extLst>
              <a:ext uri="{FF2B5EF4-FFF2-40B4-BE49-F238E27FC236}">
                <a16:creationId xmlns:a16="http://schemas.microsoft.com/office/drawing/2014/main" id="{FE1CDE46-3A4A-2014-8F77-5556E9DC868E}"/>
              </a:ext>
            </a:extLst>
          </p:cNvPr>
          <p:cNvSpPr/>
          <p:nvPr userDrawn="1"/>
        </p:nvSpPr>
        <p:spPr>
          <a:xfrm>
            <a:off x="6942719" y="-242685"/>
            <a:ext cx="2110375" cy="116141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dirty="0"/>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nchor="t"/>
          <a:lstStyle>
            <a:lvl1pPr algn="ctr">
              <a:defRPr sz="3000" b="1" i="0" cap="none" baseline="0"/>
            </a:lvl1pPr>
          </a:lstStyle>
          <a:p>
            <a:r>
              <a:rPr lang="en-US" dirty="0"/>
              <a:t>Click to edit Master title style</a:t>
            </a:r>
          </a:p>
        </p:txBody>
      </p:sp>
      <p:sp>
        <p:nvSpPr>
          <p:cNvPr id="3" name="Text Placeholder 2"/>
          <p:cNvSpPr>
            <a:spLocks noGrp="1"/>
          </p:cNvSpPr>
          <p:nvPr>
            <p:ph type="body" idx="1"/>
          </p:nvPr>
        </p:nvSpPr>
        <p:spPr>
          <a:xfrm>
            <a:off x="579303" y="2997122"/>
            <a:ext cx="7772400" cy="1125140"/>
          </a:xfrm>
        </p:spPr>
        <p:txBody>
          <a:bodyPr anchor="ctr"/>
          <a:lstStyle>
            <a:lvl1pPr marL="0" indent="0" algn="ctr">
              <a:buNone/>
              <a:defRPr sz="1500" b="1" i="0" cap="all" baseline="0">
                <a:solidFill>
                  <a:schemeClr val="tx2"/>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7" name="AutoShape 2">
            <a:extLst>
              <a:ext uri="{FF2B5EF4-FFF2-40B4-BE49-F238E27FC236}">
                <a16:creationId xmlns:a16="http://schemas.microsoft.com/office/drawing/2014/main" id="{72358C08-E3A7-86ED-0094-0406B22E75B3}"/>
              </a:ext>
            </a:extLst>
          </p:cNvPr>
          <p:cNvSpPr/>
          <p:nvPr userDrawn="1"/>
        </p:nvSpPr>
        <p:spPr>
          <a:xfrm rot="10800000">
            <a:off x="4102963" y="2571750"/>
            <a:ext cx="938074" cy="0"/>
          </a:xfrm>
          <a:prstGeom prst="line">
            <a:avLst/>
          </a:prstGeom>
          <a:ln w="28575" cap="flat">
            <a:solidFill>
              <a:srgbClr val="FF5800"/>
            </a:solidFill>
            <a:prstDash val="solid"/>
            <a:headEnd type="none" w="sm" len="sm"/>
            <a:tailEnd type="none" w="sm" len="sm"/>
          </a:ln>
        </p:spPr>
        <p:txBody>
          <a:bodyPr/>
          <a:lstStyle/>
          <a:p>
            <a:endParaRPr lang="en-AU"/>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lvl1pPr>
          </a:lstStyle>
          <a:p>
            <a:r>
              <a:rPr lang="en-US" dirty="0"/>
              <a:t>Click to edit Master title style</a:t>
            </a:r>
          </a:p>
        </p:txBody>
      </p:sp>
      <p:sp>
        <p:nvSpPr>
          <p:cNvPr id="3" name="Content Placeholder 2"/>
          <p:cNvSpPr>
            <a:spLocks noGrp="1"/>
          </p:cNvSpPr>
          <p:nvPr>
            <p:ph sz="half" idx="1"/>
          </p:nvPr>
        </p:nvSpPr>
        <p:spPr>
          <a:xfrm>
            <a:off x="457200" y="1200151"/>
            <a:ext cx="4038600" cy="38712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8712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4" name="Content Placeholder 3"/>
          <p:cNvSpPr>
            <a:spLocks noGrp="1"/>
          </p:cNvSpPr>
          <p:nvPr>
            <p:ph sz="half" idx="2"/>
          </p:nvPr>
        </p:nvSpPr>
        <p:spPr>
          <a:xfrm>
            <a:off x="458787" y="1170712"/>
            <a:ext cx="4040188" cy="3881185"/>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6" y="1170712"/>
            <a:ext cx="4041775" cy="3881184"/>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312000" y="168869"/>
            <a:ext cx="5611236" cy="871538"/>
          </a:xfrm>
        </p:spPr>
        <p:txBody>
          <a:bodyPr anchor="ctr"/>
          <a:lstStyle>
            <a:lvl1pPr algn="l">
              <a:defRPr sz="1500" b="1">
                <a:solidFill>
                  <a:schemeClr val="bg1"/>
                </a:solidFill>
              </a:defRPr>
            </a:lvl1pPr>
          </a:lstStyle>
          <a:p>
            <a:r>
              <a:rPr kumimoji="0" lang="en-US" sz="3300" b="1" i="0" u="none" strike="noStrike" kern="1200" cap="all" spc="0" normalizeH="0" baseline="0" noProof="0" dirty="0">
                <a:ln>
                  <a:noFill/>
                </a:ln>
                <a:solidFill>
                  <a:srgbClr val="0E2841"/>
                </a:solidFill>
                <a:effectLst/>
                <a:uLnTx/>
                <a:uFillTx/>
                <a:latin typeface="Stag" panose="02000603060000020004" pitchFamily="2" charset="0"/>
                <a:ea typeface="+mj-ea"/>
                <a:cs typeface="+mj-cs"/>
              </a:rPr>
              <a:t>Click to edit Master title style</a:t>
            </a:r>
            <a:endParaRPr lang="en-US" dirty="0"/>
          </a:p>
        </p:txBody>
      </p:sp>
      <p:sp>
        <p:nvSpPr>
          <p:cNvPr id="3" name="Content Placeholder 2"/>
          <p:cNvSpPr>
            <a:spLocks noGrp="1"/>
          </p:cNvSpPr>
          <p:nvPr>
            <p:ph idx="1"/>
          </p:nvPr>
        </p:nvSpPr>
        <p:spPr>
          <a:xfrm>
            <a:off x="3294434" y="1131750"/>
            <a:ext cx="5611236" cy="385529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38330" y="1702342"/>
            <a:ext cx="2592420" cy="2309408"/>
          </a:xfrm>
        </p:spPr>
        <p:txBody>
          <a:bodyPr>
            <a:normAutofit/>
          </a:bodyPr>
          <a:lstStyle>
            <a:lvl1pPr marL="0" indent="0">
              <a:buNone/>
              <a:defRPr sz="1400" b="1">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AutoShape 2">
            <a:extLst>
              <a:ext uri="{FF2B5EF4-FFF2-40B4-BE49-F238E27FC236}">
                <a16:creationId xmlns:a16="http://schemas.microsoft.com/office/drawing/2014/main" id="{C7E92F9F-AFB1-6054-535D-E0F54FB6A585}"/>
              </a:ext>
            </a:extLst>
          </p:cNvPr>
          <p:cNvSpPr/>
          <p:nvPr userDrawn="1"/>
        </p:nvSpPr>
        <p:spPr>
          <a:xfrm rot="10800000">
            <a:off x="238329" y="1444279"/>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6" name="AutoShape 2">
            <a:extLst>
              <a:ext uri="{FF2B5EF4-FFF2-40B4-BE49-F238E27FC236}">
                <a16:creationId xmlns:a16="http://schemas.microsoft.com/office/drawing/2014/main" id="{806FC455-F5B4-2827-0E48-1D1A25236EBA}"/>
              </a:ext>
            </a:extLst>
          </p:cNvPr>
          <p:cNvSpPr/>
          <p:nvPr userDrawn="1"/>
        </p:nvSpPr>
        <p:spPr>
          <a:xfrm rot="10800000">
            <a:off x="252000" y="4371750"/>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7" name="Freeform 3" descr="A black and white logo&#10;&#10;AI-generated content may be incorrect.">
            <a:extLst>
              <a:ext uri="{FF2B5EF4-FFF2-40B4-BE49-F238E27FC236}">
                <a16:creationId xmlns:a16="http://schemas.microsoft.com/office/drawing/2014/main" id="{BA2BBF0F-DC0E-6D99-B6BB-6631CDE6C2A7}"/>
              </a:ext>
            </a:extLst>
          </p:cNvPr>
          <p:cNvSpPr/>
          <p:nvPr userDrawn="1"/>
        </p:nvSpPr>
        <p:spPr>
          <a:xfrm>
            <a:off x="64238" y="-59565"/>
            <a:ext cx="2780182" cy="153003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312000" y="168869"/>
            <a:ext cx="5611236" cy="871538"/>
          </a:xfrm>
        </p:spPr>
        <p:txBody>
          <a:bodyPr anchor="ctr"/>
          <a:lstStyle>
            <a:lvl1pPr algn="l">
              <a:defRPr sz="1500" b="1">
                <a:solidFill>
                  <a:schemeClr val="bg1"/>
                </a:solidFill>
              </a:defRPr>
            </a:lvl1pPr>
          </a:lstStyle>
          <a:p>
            <a:r>
              <a:rPr kumimoji="0" lang="en-US" sz="3300" b="1" i="0" u="none" strike="noStrike" kern="1200" cap="all" spc="0" normalizeH="0" baseline="0" noProof="0" dirty="0">
                <a:ln>
                  <a:noFill/>
                </a:ln>
                <a:solidFill>
                  <a:srgbClr val="0E2841"/>
                </a:solidFill>
                <a:effectLst/>
                <a:uLnTx/>
                <a:uFillTx/>
                <a:latin typeface="Stag" panose="02000603060000020004" pitchFamily="2" charset="0"/>
                <a:ea typeface="+mj-ea"/>
                <a:cs typeface="+mj-cs"/>
              </a:rPr>
              <a:t>Click to edit Master title style</a:t>
            </a:r>
            <a:endParaRPr lang="en-US" dirty="0"/>
          </a:p>
        </p:txBody>
      </p:sp>
      <p:sp>
        <p:nvSpPr>
          <p:cNvPr id="3" name="Content Placeholder 2"/>
          <p:cNvSpPr>
            <a:spLocks noGrp="1"/>
          </p:cNvSpPr>
          <p:nvPr>
            <p:ph idx="1"/>
          </p:nvPr>
        </p:nvSpPr>
        <p:spPr>
          <a:xfrm>
            <a:off x="3294434" y="1131750"/>
            <a:ext cx="5611236" cy="385529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38330" y="1702342"/>
            <a:ext cx="2592420" cy="2309408"/>
          </a:xfrm>
        </p:spPr>
        <p:txBody>
          <a:bodyPr>
            <a:normAutofit/>
          </a:bodyPr>
          <a:lstStyle>
            <a:lvl1pPr marL="0" indent="0">
              <a:buNone/>
              <a:defRPr sz="1400" b="1">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AutoShape 2">
            <a:extLst>
              <a:ext uri="{FF2B5EF4-FFF2-40B4-BE49-F238E27FC236}">
                <a16:creationId xmlns:a16="http://schemas.microsoft.com/office/drawing/2014/main" id="{C7E92F9F-AFB1-6054-535D-E0F54FB6A585}"/>
              </a:ext>
            </a:extLst>
          </p:cNvPr>
          <p:cNvSpPr/>
          <p:nvPr userDrawn="1"/>
        </p:nvSpPr>
        <p:spPr>
          <a:xfrm rot="10800000">
            <a:off x="238329" y="1444279"/>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6" name="AutoShape 2">
            <a:extLst>
              <a:ext uri="{FF2B5EF4-FFF2-40B4-BE49-F238E27FC236}">
                <a16:creationId xmlns:a16="http://schemas.microsoft.com/office/drawing/2014/main" id="{806FC455-F5B4-2827-0E48-1D1A25236EBA}"/>
              </a:ext>
            </a:extLst>
          </p:cNvPr>
          <p:cNvSpPr/>
          <p:nvPr userDrawn="1"/>
        </p:nvSpPr>
        <p:spPr>
          <a:xfrm rot="10800000">
            <a:off x="252000" y="4371750"/>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7" name="Freeform 3" descr="A black and white logo&#10;&#10;AI-generated content may be incorrect.">
            <a:extLst>
              <a:ext uri="{FF2B5EF4-FFF2-40B4-BE49-F238E27FC236}">
                <a16:creationId xmlns:a16="http://schemas.microsoft.com/office/drawing/2014/main" id="{BA2BBF0F-DC0E-6D99-B6BB-6631CDE6C2A7}"/>
              </a:ext>
            </a:extLst>
          </p:cNvPr>
          <p:cNvSpPr/>
          <p:nvPr userDrawn="1"/>
        </p:nvSpPr>
        <p:spPr>
          <a:xfrm>
            <a:off x="64238" y="-59565"/>
            <a:ext cx="2780182" cy="153003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a:p>
        </p:txBody>
      </p:sp>
    </p:spTree>
    <p:extLst>
      <p:ext uri="{BB962C8B-B14F-4D97-AF65-F5344CB8AC3E}">
        <p14:creationId xmlns:p14="http://schemas.microsoft.com/office/powerpoint/2010/main" val="3860362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media/image1.png" Type="http://schemas.openxmlformats.org/officeDocument/2006/relationships/image"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dirty="0" lang="en-US"/>
              <a:t>Click to edit Master title style</a:t>
            </a:r>
          </a:p>
        </p:txBody>
      </p:sp>
      <p:sp>
        <p:nvSpPr>
          <p:cNvPr id="3" name="Text Placeholder 2"/>
          <p:cNvSpPr>
            <a:spLocks noGrp="1"/>
          </p:cNvSpPr>
          <p:nvPr>
            <p:ph idx="1" type="body"/>
          </p:nvPr>
        </p:nvSpPr>
        <p:spPr>
          <a:xfrm>
            <a:off x="457200" y="1200151"/>
            <a:ext cx="8229600" cy="3737370"/>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1" r:id="rId9"/>
    <p:sldLayoutId id="2147483658" r:id="rId10"/>
    <p:sldLayoutId id="2147483659" r:id="rId11"/>
  </p:sldLayoutIdLst>
  <p:txStyles>
    <p:titleStyle>
      <a:lvl1pPr algn="ctr" defTabSz="342900" eaLnBrk="1" hangingPunct="1" latinLnBrk="0" rtl="0">
        <a:spcBef>
          <a:spcPct val="0"/>
        </a:spcBef>
        <a:buNone/>
        <a:defRPr b="1" baseline="0" cap="all" i="0" kern="1200" sz="3300">
          <a:solidFill>
            <a:schemeClr val="tx2"/>
          </a:solidFill>
          <a:latin charset="0" panose="02000603060000020004" pitchFamily="2" typeface="Stag"/>
          <a:ea typeface="+mj-ea"/>
          <a:cs typeface="+mj-cs"/>
        </a:defRPr>
      </a:lvl1pPr>
    </p:titleStyle>
    <p:bodyStyle>
      <a:lvl1pPr algn="l" defTabSz="342900" eaLnBrk="1" hangingPunct="1" indent="-342900" latinLnBrk="0" marL="342900" rtl="0">
        <a:spcBef>
          <a:spcPct val="20000"/>
        </a:spcBef>
        <a:buFont typeface="Arial"/>
        <a:buChar char="•"/>
        <a:defRPr baseline="0" kern="1200" sz="2400">
          <a:solidFill>
            <a:schemeClr val="tx1"/>
          </a:solidFill>
          <a:latin charset="0" pitchFamily="2" typeface="Helvetica"/>
          <a:ea typeface="+mn-ea"/>
          <a:cs typeface="+mn-cs"/>
        </a:defRPr>
      </a:lvl1pPr>
      <a:lvl2pPr algn="l" defTabSz="342900" eaLnBrk="1" hangingPunct="1" indent="-342900" latinLnBrk="0" marL="685800" rtl="0">
        <a:spcBef>
          <a:spcPct val="20000"/>
        </a:spcBef>
        <a:buFont typeface="Arial"/>
        <a:buChar char="–"/>
        <a:defRPr baseline="0" kern="1200" sz="2100">
          <a:solidFill>
            <a:schemeClr val="tx1"/>
          </a:solidFill>
          <a:latin charset="0" pitchFamily="2" typeface="Helvetica"/>
          <a:ea typeface="+mn-ea"/>
          <a:cs typeface="+mn-cs"/>
        </a:defRPr>
      </a:lvl2pPr>
      <a:lvl3pPr algn="l" defTabSz="342900" eaLnBrk="1" hangingPunct="1" indent="-342900" latinLnBrk="0" marL="1028700" rtl="0">
        <a:spcBef>
          <a:spcPct val="20000"/>
        </a:spcBef>
        <a:buFont typeface="Arial"/>
        <a:buChar char="•"/>
        <a:defRPr baseline="0" kern="1200" sz="1800">
          <a:solidFill>
            <a:schemeClr val="tx1"/>
          </a:solidFill>
          <a:latin charset="0" pitchFamily="2" typeface="Helvetica"/>
          <a:ea typeface="+mn-ea"/>
          <a:cs typeface="+mn-cs"/>
        </a:defRPr>
      </a:lvl3pPr>
      <a:lvl4pPr algn="l" defTabSz="342900" eaLnBrk="1" hangingPunct="1" indent="-342900" latinLnBrk="0" marL="1371600" rtl="0">
        <a:spcBef>
          <a:spcPct val="20000"/>
        </a:spcBef>
        <a:buFont typeface="Arial"/>
        <a:buChar char="–"/>
        <a:defRPr baseline="0" kern="1200" sz="1500">
          <a:solidFill>
            <a:schemeClr val="tx1"/>
          </a:solidFill>
          <a:latin charset="0" pitchFamily="2" typeface="Helvetica"/>
          <a:ea typeface="+mn-ea"/>
          <a:cs typeface="+mn-cs"/>
        </a:defRPr>
      </a:lvl4pPr>
      <a:lvl5pPr algn="l" defTabSz="342900" eaLnBrk="1" hangingPunct="1" indent="-342900" latinLnBrk="0" marL="1714500" rtl="0">
        <a:spcBef>
          <a:spcPct val="20000"/>
        </a:spcBef>
        <a:buFont typeface="Arial"/>
        <a:buChar char="»"/>
        <a:defRPr baseline="0" kern="1200" sz="1500">
          <a:solidFill>
            <a:schemeClr val="tx1"/>
          </a:solidFill>
          <a:latin charset="0" pitchFamily="2" typeface="Helvetica"/>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image" Target="../media/image6.webp"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685800" y="2020490"/>
            <a:ext cx="7772400" cy="1102519"/>
          </a:xfrm>
        </p:spPr>
        <p:txBody>
          <a:bodyPr/>
          <a:lstStyle/>
          <a:p>
            <a:pPr lvl="0" indent="0" marL="0">
              <a:buNone/>
            </a:pPr>
            <a:r>
              <a:rPr/>
              <a:t>Tariffs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Tariffs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Definition</a:t>
            </a:r>
          </a:p>
        </p:txBody>
      </p:sp>
      <p:sp>
        <p:nvSpPr>
          <p:cNvPr id="3" name="Content Placeholder 2"/>
          <p:cNvSpPr>
            <a:spLocks noGrp="1"/>
          </p:cNvSpPr>
          <p:nvPr>
            <p:ph idx="1"/>
          </p:nvPr>
        </p:nvSpPr>
        <p:spPr/>
        <p:txBody>
          <a:bodyPr/>
          <a:lstStyle/>
          <a:p>
            <a:pPr lvl="0"/>
            <a:r>
              <a:rPr/>
              <a:t>A tariff is essentially a tax charged on imported goods.</a:t>
            </a:r>
          </a:p>
          <a:p>
            <a:pPr lvl="0"/>
            <a:r>
              <a:rPr/>
              <a:t>The tariff is paid by the </a:t>
            </a:r>
            <a:r>
              <a:rPr i="1"/>
              <a:t>importer</a:t>
            </a:r>
            <a:r>
              <a:rPr/>
              <a:t>, not the exporter.</a:t>
            </a:r>
          </a:p>
          <a:p>
            <a:pPr lvl="0"/>
            <a:r>
              <a:rPr/>
              <a:t>Increased costs for the importer will be passed on to the final consumer.</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Tariffs in the US</a:t>
            </a:r>
          </a:p>
        </p:txBody>
      </p:sp>
      <p:sp>
        <p:nvSpPr>
          <p:cNvPr id="3" name="Content Placeholder 2"/>
          <p:cNvSpPr>
            <a:spLocks noGrp="1"/>
          </p:cNvSpPr>
          <p:nvPr>
            <p:ph idx="1"/>
          </p:nvPr>
        </p:nvSpPr>
        <p:spPr/>
        <p:txBody>
          <a:bodyPr/>
          <a:lstStyle/>
          <a:p>
            <a:pPr lvl="0" indent="0" marL="0">
              <a:buNone/>
            </a:pPr>
            <a:r>
              <a:rPr/>
              <a:t>The argument goes something like this:</a:t>
            </a:r>
          </a:p>
          <a:p>
            <a:pPr lvl="0"/>
            <a:r>
              <a:rPr/>
              <a:t>The US is ‘taken advantage of’ by countries who export more to the US than the import.</a:t>
            </a:r>
          </a:p>
          <a:p>
            <a:pPr lvl="0"/>
            <a:r>
              <a:rPr/>
              <a:t>Dependence on foreign goods undermines domestic industry.</a:t>
            </a:r>
          </a:p>
          <a:p>
            <a:pPr lvl="0"/>
            <a:r>
              <a:rPr/>
              <a:t>Putting up tariffs reduces demand for imports and increases demand for domestic production (through price changes)</a:t>
            </a:r>
          </a:p>
          <a:p>
            <a:pPr lvl="0"/>
            <a:r>
              <a:rPr/>
              <a:t>Increase demand restores America’s manufacturing base.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Tariffs to Protect Industry</a:t>
            </a:r>
          </a:p>
        </p:txBody>
      </p:sp>
      <p:sp>
        <p:nvSpPr>
          <p:cNvPr id="3" name="Content Placeholder 2"/>
          <p:cNvSpPr>
            <a:spLocks noGrp="1"/>
          </p:cNvSpPr>
          <p:nvPr>
            <p:ph idx="1"/>
          </p:nvPr>
        </p:nvSpPr>
        <p:spPr/>
        <p:txBody>
          <a:bodyPr/>
          <a:lstStyle/>
          <a:p>
            <a:pPr lvl="0" indent="0" marL="0">
              <a:buNone/>
            </a:pPr>
            <a:r>
              <a:rPr/>
              <a:t>Tariffs are not new.</a:t>
            </a:r>
          </a:p>
          <a:p>
            <a:pPr lvl="0"/>
            <a:r>
              <a:rPr/>
              <a:t>Protecting local industry has long been the policy of industrialising nations.</a:t>
            </a:r>
          </a:p>
          <a:p>
            <a:pPr lvl="0"/>
            <a:r>
              <a:rPr/>
              <a:t>Tariffs have been used to protect new industries in developing/industrialising countries.</a:t>
            </a:r>
          </a:p>
          <a:p>
            <a:pPr lvl="0"/>
            <a:r>
              <a:rPr/>
              <a:t>Britain relied on high tariffs to develop their industry. Once developed, tariffs were disavowed in favour of “free markets” and global trade.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Tariffs to Reindustrialise</a:t>
            </a:r>
          </a:p>
        </p:txBody>
      </p:sp>
      <p:sp>
        <p:nvSpPr>
          <p:cNvPr id="3" name="Content Placeholder 2"/>
          <p:cNvSpPr>
            <a:spLocks noGrp="1"/>
          </p:cNvSpPr>
          <p:nvPr>
            <p:ph idx="1"/>
          </p:nvPr>
        </p:nvSpPr>
        <p:spPr/>
        <p:txBody>
          <a:bodyPr/>
          <a:lstStyle/>
          <a:p>
            <a:pPr lvl="0"/>
            <a:r>
              <a:rPr/>
              <a:t>America can probably extract concessions from the vassal states like South Korea and Japan.</a:t>
            </a:r>
          </a:p>
          <a:p>
            <a:pPr lvl="0"/>
            <a:r>
              <a:rPr/>
              <a:t>But, the stated strategy is relying on automation, AI, and robotics to do the work - not people.</a:t>
            </a:r>
          </a:p>
          <a:p>
            <a:pPr lvl="0"/>
            <a:r>
              <a:rPr/>
              <a:t>Globalisation means value chains are now spread across the world, so domestic prices will increase.</a:t>
            </a:r>
          </a:p>
          <a:p>
            <a:pPr lvl="0"/>
            <a:r>
              <a:rPr/>
              <a:t>Without significant investment into domestic manufacturing, demand can’t actually be met by local industry.</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Tariffs to Protect Capital</a:t>
            </a:r>
          </a:p>
        </p:txBody>
      </p:sp>
      <p:sp>
        <p:nvSpPr>
          <p:cNvPr id="3" name="Content Placeholder 2"/>
          <p:cNvSpPr>
            <a:spLocks noGrp="1"/>
          </p:cNvSpPr>
          <p:nvPr>
            <p:ph idx="1"/>
          </p:nvPr>
        </p:nvSpPr>
        <p:spPr/>
        <p:txBody>
          <a:bodyPr/>
          <a:lstStyle/>
          <a:p>
            <a:pPr lvl="0"/>
            <a:r>
              <a:rPr/>
              <a:t>The rate of profit has a tendency to fall over time.</a:t>
            </a:r>
          </a:p>
          <a:p>
            <a:pPr lvl="0"/>
            <a:r>
              <a:rPr/>
              <a:t>Seeking constant productivity growth, capitalist investment focuses on machinery and technology at the expense of labour - reducing profit.</a:t>
            </a:r>
          </a:p>
          <a:p>
            <a:pPr lvl="0"/>
            <a:r>
              <a:rPr/>
              <a:t>US tariffs are intended to protect US capital from more productive or lower cost competitors, and to shift the burden of declining profitability off shore.</a:t>
            </a:r>
          </a:p>
          <a:p>
            <a:pPr lvl="0"/>
            <a:r>
              <a:rPr/>
              <a:t>This is a temporary solution.</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What About Australia</a:t>
            </a:r>
          </a:p>
        </p:txBody>
      </p:sp>
      <p:sp>
        <p:nvSpPr>
          <p:cNvPr id="3" name="Content Placeholder 2"/>
          <p:cNvSpPr>
            <a:spLocks noGrp="1"/>
          </p:cNvSpPr>
          <p:nvPr>
            <p:ph idx="1"/>
          </p:nvPr>
        </p:nvSpPr>
        <p:spPr/>
        <p:txBody>
          <a:bodyPr/>
          <a:lstStyle/>
          <a:p>
            <a:pPr lvl="0"/>
            <a:r>
              <a:rPr/>
              <a:t>Australia is a de-industrialised country.</a:t>
            </a:r>
          </a:p>
          <a:p>
            <a:pPr lvl="0"/>
            <a:r>
              <a:rPr/>
              <a:t>Policies like Future Made in Australia and the National Reconstruction Fund are intended to rebuild an industrial base</a:t>
            </a:r>
          </a:p>
          <a:p>
            <a:pPr lvl="0"/>
            <a:r>
              <a:rPr/>
              <a:t>How can we support these industries as they grow and become competitive?</a:t>
            </a:r>
          </a:p>
          <a:p>
            <a:pPr lvl="1"/>
            <a:r>
              <a:rPr/>
              <a:t>Anti-Dumping Commission to support </a:t>
            </a:r>
            <a:r>
              <a:rPr b="1"/>
              <a:t>fair</a:t>
            </a:r>
            <a:r>
              <a:rPr/>
              <a:t> trade</a:t>
            </a:r>
          </a:p>
          <a:p>
            <a:pPr lvl="1"/>
            <a:r>
              <a:rPr b="1" i="1"/>
              <a:t>targeted</a:t>
            </a:r>
            <a:r>
              <a:rPr/>
              <a:t> tariffs i.e. aluminium imports</a:t>
            </a:r>
          </a:p>
        </p:txBody>
      </p:sp>
    </p:spTree>
  </p:cSld>
</p:sld>
</file>

<file path=ppt/theme/theme1.xml><?xml version="1.0" encoding="utf-8"?>
<a:theme xmlns:a="http://schemas.openxmlformats.org/drawingml/2006/main" name="Office Theme">
  <a:themeElements>
    <a:clrScheme name="AMWU">
      <a:dk1>
        <a:sysClr val="windowText" lastClr="000000"/>
      </a:dk1>
      <a:lt1>
        <a:sysClr val="window" lastClr="FFFFFF"/>
      </a:lt1>
      <a:dk2>
        <a:srgbClr val="0E2841"/>
      </a:dk2>
      <a:lt2>
        <a:srgbClr val="E8E8E8"/>
      </a:lt2>
      <a:accent1>
        <a:srgbClr val="001D26"/>
      </a:accent1>
      <a:accent2>
        <a:srgbClr val="F15C30"/>
      </a:accent2>
      <a:accent3>
        <a:srgbClr val="094FA3"/>
      </a:accent3>
      <a:accent4>
        <a:srgbClr val="FEBE10"/>
      </a:accent4>
      <a:accent5>
        <a:srgbClr val="E4E4E4"/>
      </a:accent5>
      <a:accent6>
        <a:srgbClr val="231F20"/>
      </a:accent6>
      <a:hlink>
        <a:srgbClr val="094FA3"/>
      </a:hlink>
      <a:folHlink>
        <a:srgbClr val="F15C3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46</Words>
  <Application>Microsoft Office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Helvetica</vt:lpstr>
      <vt:lpstr>Stag</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Tariffs</dc:title>
  <dc:creator/>
  <cp:keywords/>
  <dcterms:created xsi:type="dcterms:W3CDTF">2026-06-09T06:08:55Z</dcterms:created>
  <dcterms:modified xsi:type="dcterms:W3CDTF">2026-06-09T06:08:55Z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
    <vt:lpwstr>National Research Centre</vt:lpwstr>
  </property>
  <property fmtid="{D5CDD505-2E9C-101B-9397-08002B2CF9AE}" pid="3" name="biblio-config">
    <vt:lpwstr>True</vt:lpwstr>
  </property>
  <property fmtid="{D5CDD505-2E9C-101B-9397-08002B2CF9AE}" pid="4" name="brand">
    <vt:lpwstr>_brand/_brand.yml</vt:lpwstr>
  </property>
  <property fmtid="{D5CDD505-2E9C-101B-9397-08002B2CF9AE}" pid="5" name="editor">
    <vt:lpwstr>visual</vt:lpwstr>
  </property>
  <property fmtid="{D5CDD505-2E9C-101B-9397-08002B2CF9AE}" pid="6" name="engines">
    <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subtitle">
    <vt:lpwstr/>
  </property>
  <property fmtid="{D5CDD505-2E9C-101B-9397-08002B2CF9AE}" pid="13" name="toc-title">
    <vt:lpwstr>Table of contents</vt:lpwstr>
  </property>
</Properties>
</file>