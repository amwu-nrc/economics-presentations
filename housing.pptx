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Objects="1">
      <p:cViewPr varScale="1">
        <p:scale>
          <a:sx d="100" n="147"/>
          <a:sy d="100" n="147"/>
        </p:scale>
        <p:origin x="564" y="12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180000" cy="1800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notesMaster" Target="notesMasters/notesMaster1.xml" /><Relationship Id="rId13" Type="http://schemas.openxmlformats.org/officeDocument/2006/relationships/viewProps" Target="viewProps.xml" /><Relationship Id="rId12" Type="http://schemas.openxmlformats.org/officeDocument/2006/relationships/presProps" Target="presProps.xml" /><Relationship Id="rId1" Type="http://schemas.openxmlformats.org/officeDocument/2006/relationships/slideMaster" Target="slideMasters/slideMaster1.xml" /><Relationship Id="rId15" Type="http://schemas.openxmlformats.org/officeDocument/2006/relationships/tableStyles" Target="tableStyles.xml" /><Relationship Id="rId1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We’re going to talk about the housing market, house prices, and the changes made in relation to housing in the 2026 Budget</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House prices have grown much faster than incomes in Australia. The median household income per year (before-tax) in September 2025 was estimated at about $105,000. Meanwhile, the median dwelling value was $860,000 and the median weekly rent was $670.</a:t>
            </a:r>
          </a:p>
          <a:p>
            <a:pPr lvl="0" indent="0" marL="0">
              <a:buNone/>
            </a:pPr>
          </a:p>
          <a:p>
            <a:pPr lvl="0" indent="0" marL="0">
              <a:buNone/>
            </a:pPr>
            <a:r>
              <a:rPr/>
              <a:t>The average time required to save up a 20% deposit for the average dwelling is 11 years. While saving for the deposit, you’re committing 33% of your income on rent. After securing a loan, you’re committing 45% of your income just to service the mortgage.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How has the picture changed over time?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changes announced in the budget mostly apply only to new investments made after 1 July 2027. The additional year is intended to allow time to make decisions about what to do with existing assets.</a:t>
            </a:r>
          </a:p>
          <a:p>
            <a:pPr lvl="0" indent="0" marL="0">
              <a:buNone/>
            </a:pPr>
          </a:p>
          <a:p>
            <a:pPr lvl="0" indent="0" marL="0">
              <a:buNone/>
            </a:pPr>
            <a:r>
              <a:rPr/>
              <a:t>From a housing perspective, the key changes relate to negative gearing, and the capital gains tax discount - however these changes also apply across all asset classes which generate capital gains - including stocks, cryptocurrency, or other investments.</a:t>
            </a:r>
          </a:p>
          <a:p>
            <a:pPr lvl="0" indent="0" marL="0">
              <a:buNone/>
            </a:pPr>
          </a:p>
          <a:p>
            <a:pPr lvl="0" indent="0" marL="0">
              <a:buNone/>
            </a:pPr>
            <a:r>
              <a:rPr/>
              <a:t>For new properties which are purchased after the budget, investors will no longer be able to deduct losses from the operation of their investment property (negative gearing) from their income tax. Instead, losses can be carried forward and used to reduce the amount of capital gains tax paid when the investment property is sold.</a:t>
            </a:r>
          </a:p>
          <a:p>
            <a:pPr lvl="0" indent="0" marL="0">
              <a:buNone/>
            </a:pPr>
          </a:p>
          <a:p>
            <a:pPr lvl="0" indent="0" marL="0">
              <a:buNone/>
            </a:pPr>
            <a:r>
              <a:rPr/>
              <a:t>The 30% minimum tax rate on capital gains was introduced to prevent the scenario where you hold onto an asset while working, use negative gearing to reduce your taxable income, and then sell the property when your income is low, so that you’re in a lower income tax bracket.</a:t>
            </a:r>
          </a:p>
          <a:p>
            <a:pPr lvl="0" indent="0" marL="0">
              <a:buNone/>
            </a:pPr>
          </a:p>
          <a:p>
            <a:pPr lvl="0" indent="0" marL="0">
              <a:buNone/>
            </a:pPr>
            <a:r>
              <a:rPr/>
              <a:t>Cost based indexation basically means you only pay tax on the </a:t>
            </a:r>
            <a:r>
              <a:rPr i="1"/>
              <a:t>real</a:t>
            </a:r>
            <a:r>
              <a:rPr/>
              <a:t> (ie discount inflation) gain accrued. The change in tax arrangements DOES apply to existing investors, but only for the growth which occurs after 1 July 2027. That means if you already own a property, the tax on any gains accrued between purchase and 1 July 2027 is still subject to the 50% discount.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worker who earns $100,000 per year sells some capital asset (a house, shares, cryptocurrency) five years after purchase. They bought the asset for $100,000 and sold it for $200,000, earning a capital gain of $100,000.</a:t>
            </a:r>
          </a:p>
          <a:p>
            <a:pPr lvl="0" indent="0" marL="0">
              <a:buNone/>
            </a:pPr>
          </a:p>
          <a:p>
            <a:pPr lvl="0" indent="0" marL="0">
              <a:buNone/>
            </a:pPr>
            <a:r>
              <a:rPr/>
              <a:t>At tax time, he pays income tax on $100,000 (from working) and $50,000 (from capital gains), and gets the other $50,000 tax free.</a:t>
            </a:r>
          </a:p>
          <a:p>
            <a:pPr lvl="0" indent="0" marL="0">
              <a:buNone/>
            </a:pPr>
          </a:p>
          <a:p>
            <a:pPr lvl="0" indent="0" marL="0">
              <a:buNone/>
            </a:pPr>
            <a:r>
              <a:rPr/>
              <a:t>The tax on $150,000 income is $31,288 + 37 cents for every dollar over $135,000. The total tax bill is $36,838.</a:t>
            </a:r>
          </a:p>
          <a:p>
            <a:pPr lvl="0" indent="0" marL="0">
              <a:buNone/>
            </a:pPr>
          </a:p>
          <a:p>
            <a:pPr lvl="0" indent="0" marL="0">
              <a:buNone/>
            </a:pPr>
            <a:r>
              <a:rPr/>
              <a:t>What’s the effective tax rate on the capital gain?</a:t>
            </a:r>
          </a:p>
          <a:p>
            <a:pPr lvl="0" indent="0" marL="0">
              <a:buNone/>
            </a:pPr>
          </a:p>
          <a:p>
            <a:pPr lvl="0"/>
            <a:r>
              <a:rPr/>
              <a:t>First 50k tax free, second 50k is taxed between the 35 and 37 brackets.</a:t>
            </a:r>
          </a:p>
          <a:p>
            <a:pPr lvl="0" indent="0" marL="0">
              <a:buNone/>
            </a:pPr>
          </a:p>
          <a:p>
            <a:pPr lvl="0"/>
            <a:r>
              <a:rPr/>
              <a:t>0 + 35% of 35,000 + 37% of 15,000 = $14,300 or 14.3%</a:t>
            </a:r>
          </a:p>
          <a:p>
            <a:pPr lvl="0" indent="0" marL="0">
              <a:buNone/>
            </a:pPr>
          </a:p>
          <a:p>
            <a:pPr lvl="0" indent="0" marL="0">
              <a:buNone/>
            </a:pPr>
            <a:r>
              <a:rPr/>
              <a:t>What would the effective tax rate on $100,000 more labour income have been?</a:t>
            </a:r>
          </a:p>
          <a:p>
            <a:pPr lvl="0" indent="0" marL="0">
              <a:buNone/>
            </a:pPr>
          </a:p>
          <a:p>
            <a:pPr lvl="0"/>
            <a:r>
              <a:rPr/>
              <a:t>35% of 35,000 + 37% of 55,000+ 45% of 10,000 = $37,100 or 37%.</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balance was too in favour of wealth over income. These changes try to restore the balance by increasing the rate of taxation on capital gains.</a:t>
            </a:r>
          </a:p>
          <a:p>
            <a:pPr lvl="0" indent="0" marL="0">
              <a:buNone/>
            </a:pPr>
          </a:p>
          <a:p>
            <a:pPr lvl="0" indent="0" marL="0">
              <a:buNone/>
            </a:pPr>
            <a:r>
              <a:rPr/>
              <a:t>Housing is a fundamental right and it should not have got this far.</a:t>
            </a:r>
          </a:p>
          <a:p>
            <a:pPr lvl="0" indent="0" marL="0">
              <a:buNone/>
            </a:pPr>
          </a:p>
          <a:p>
            <a:pPr lvl="0" indent="0" marL="0">
              <a:buNone/>
            </a:pPr>
            <a:r>
              <a:rPr/>
              <a:t>However - people invested in housing in particular because it was a viable way at generating wealth. Stagnant wage growth means that it’s harder to get by and harder to become financially independent just through working alone. The changes reduce the incentive to invest, but do not adequately increase the incentive to work. The $250 tax break in 2027 doesn’t really cut it.</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020490"/>
            <a:ext cx="7772400" cy="1102519"/>
          </a:xfrm>
        </p:spPr>
        <p:txBody>
          <a:bodyPr/>
          <a:lstStyle>
            <a:lvl1pPr>
              <a:defRPr sz="4000" b="1" i="0" cap="none" baseline="0">
                <a:solidFill>
                  <a:schemeClr val="tx2"/>
                </a:solidFill>
                <a:latin typeface="Stag" panose="02000603060000020004" pitchFamily="2" charset="0"/>
              </a:defRPr>
            </a:lvl1pPr>
          </a:lstStyle>
          <a:p>
            <a:r>
              <a:rPr lang="en-US" dirty="0"/>
              <a:t>Click to edit master title style</a:t>
            </a:r>
          </a:p>
        </p:txBody>
      </p:sp>
      <p:sp>
        <p:nvSpPr>
          <p:cNvPr id="3" name="Subtitle 2"/>
          <p:cNvSpPr>
            <a:spLocks noGrp="1"/>
          </p:cNvSpPr>
          <p:nvPr>
            <p:ph type="subTitle" idx="1"/>
          </p:nvPr>
        </p:nvSpPr>
        <p:spPr>
          <a:xfrm>
            <a:off x="1512000" y="3529538"/>
            <a:ext cx="6400800" cy="508533"/>
          </a:xfrm>
        </p:spPr>
        <p:txBody>
          <a:bodyPr/>
          <a:lstStyle>
            <a:lvl1pPr marL="0" indent="0" algn="ctr">
              <a:buNone/>
              <a:defRPr sz="2200" b="1" i="0" cap="all" baseline="0">
                <a:solidFill>
                  <a:schemeClr val="tx2"/>
                </a:solidFill>
                <a:latin typeface="Helvetica"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pic>
        <p:nvPicPr>
          <p:cNvPr id="7" name="Picture 6" descr="A black and blue logo&#10;&#10;AI-generated content may be incorrect.">
            <a:extLst>
              <a:ext uri="{FF2B5EF4-FFF2-40B4-BE49-F238E27FC236}">
                <a16:creationId xmlns:a16="http://schemas.microsoft.com/office/drawing/2014/main" id="{FE5328CA-2CF8-7AA1-BFBF-639DE8A51604}"/>
              </a:ext>
            </a:extLst>
          </p:cNvPr>
          <p:cNvPicPr>
            <a:picLocks noChangeAspect="1"/>
          </p:cNvPicPr>
          <p:nvPr userDrawn="1"/>
        </p:nvPicPr>
        <p:blipFill>
          <a:blip r:embed="rId3"/>
          <a:srcRect l="1" t="17400" r="-676" b="16465"/>
          <a:stretch>
            <a:fillRect/>
          </a:stretch>
        </p:blipFill>
        <p:spPr>
          <a:xfrm>
            <a:off x="2412000" y="0"/>
            <a:ext cx="3780000" cy="1359694"/>
          </a:xfrm>
          <a:prstGeom prst="rect">
            <a:avLst/>
          </a:prstGeom>
        </p:spPr>
      </p:pic>
      <p:sp>
        <p:nvSpPr>
          <p:cNvPr id="4" name="AutoShape 2">
            <a:extLst>
              <a:ext uri="{FF2B5EF4-FFF2-40B4-BE49-F238E27FC236}">
                <a16:creationId xmlns:a16="http://schemas.microsoft.com/office/drawing/2014/main" id="{BA7A2B98-05DA-985B-02B4-7BF429D6FC88}"/>
              </a:ext>
            </a:extLst>
          </p:cNvPr>
          <p:cNvSpPr/>
          <p:nvPr userDrawn="1"/>
        </p:nvSpPr>
        <p:spPr>
          <a:xfrm rot="10800000">
            <a:off x="4102963" y="3291750"/>
            <a:ext cx="938074" cy="0"/>
          </a:xfrm>
          <a:prstGeom prst="line">
            <a:avLst/>
          </a:prstGeom>
          <a:ln w="28575" cap="flat">
            <a:solidFill>
              <a:srgbClr val="FF5800"/>
            </a:solidFill>
            <a:prstDash val="solid"/>
            <a:headEnd type="none" w="sm" len="sm"/>
            <a:tailEnd type="none" w="sm" len="sm"/>
          </a:ln>
        </p:spPr>
        <p:txBody>
          <a:bodyPr/>
          <a:lstStyle/>
          <a:p>
            <a:endParaRPr lang="en-AU"/>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noAutofit/>
          </a:bodyPr>
          <a:lstStyle>
            <a:lvl1pPr>
              <a:defRPr sz="2400"/>
            </a:lvl1pPr>
          </a:lstStyle>
          <a:p>
            <a:r>
              <a:rPr lang="en-US" dirty="0"/>
              <a:t>Click to edit Master title style</a:t>
            </a:r>
          </a:p>
        </p:txBody>
      </p:sp>
      <p:sp>
        <p:nvSpPr>
          <p:cNvPr id="3" name="Content Placeholder 2"/>
          <p:cNvSpPr>
            <a:spLocks noGrp="1"/>
          </p:cNvSpPr>
          <p:nvPr>
            <p:ph idx="1"/>
          </p:nvPr>
        </p:nvSpPr>
        <p:spPr>
          <a:xfrm>
            <a:off x="457200" y="1587600"/>
            <a:ext cx="8229600" cy="3388923"/>
          </a:xfrm>
        </p:spPr>
        <p:txBody>
          <a:bodyPr>
            <a:normAutofit/>
          </a:bodyPr>
          <a:lstStyle>
            <a:lvl1pPr>
              <a:defRPr sz="1800"/>
            </a:lvl1pPr>
            <a:lvl2pPr>
              <a:defRPr sz="18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reeform 3" descr="A black and white logo&#10;&#10;AI-generated content may be incorrect.">
            <a:extLst>
              <a:ext uri="{FF2B5EF4-FFF2-40B4-BE49-F238E27FC236}">
                <a16:creationId xmlns:a16="http://schemas.microsoft.com/office/drawing/2014/main" id="{FE1CDE46-3A4A-2014-8F77-5556E9DC868E}"/>
              </a:ext>
            </a:extLst>
          </p:cNvPr>
          <p:cNvSpPr/>
          <p:nvPr userDrawn="1"/>
        </p:nvSpPr>
        <p:spPr>
          <a:xfrm>
            <a:off x="6942719" y="-242685"/>
            <a:ext cx="2110375" cy="116141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dirty="0"/>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nchor="t"/>
          <a:lstStyle>
            <a:lvl1pPr algn="ctr">
              <a:defRPr sz="3000" b="1" i="0" cap="none" baseline="0"/>
            </a:lvl1pPr>
          </a:lstStyle>
          <a:p>
            <a:r>
              <a:rPr lang="en-US" dirty="0"/>
              <a:t>Click to edit Master title style</a:t>
            </a:r>
          </a:p>
        </p:txBody>
      </p:sp>
      <p:sp>
        <p:nvSpPr>
          <p:cNvPr id="3" name="Text Placeholder 2"/>
          <p:cNvSpPr>
            <a:spLocks noGrp="1"/>
          </p:cNvSpPr>
          <p:nvPr>
            <p:ph type="body" idx="1"/>
          </p:nvPr>
        </p:nvSpPr>
        <p:spPr>
          <a:xfrm>
            <a:off x="579303" y="2997122"/>
            <a:ext cx="7772400" cy="1125140"/>
          </a:xfrm>
        </p:spPr>
        <p:txBody>
          <a:bodyPr anchor="ctr"/>
          <a:lstStyle>
            <a:lvl1pPr marL="0" indent="0" algn="ctr">
              <a:buNone/>
              <a:defRPr sz="1500" b="1" i="0" cap="all" baseline="0">
                <a:solidFill>
                  <a:schemeClr val="tx2"/>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7" name="AutoShape 2">
            <a:extLst>
              <a:ext uri="{FF2B5EF4-FFF2-40B4-BE49-F238E27FC236}">
                <a16:creationId xmlns:a16="http://schemas.microsoft.com/office/drawing/2014/main" id="{72358C08-E3A7-86ED-0094-0406B22E75B3}"/>
              </a:ext>
            </a:extLst>
          </p:cNvPr>
          <p:cNvSpPr/>
          <p:nvPr userDrawn="1"/>
        </p:nvSpPr>
        <p:spPr>
          <a:xfrm rot="10800000">
            <a:off x="4102963" y="2571750"/>
            <a:ext cx="938074" cy="0"/>
          </a:xfrm>
          <a:prstGeom prst="line">
            <a:avLst/>
          </a:prstGeom>
          <a:ln w="28575" cap="flat">
            <a:solidFill>
              <a:srgbClr val="FF5800"/>
            </a:solidFill>
            <a:prstDash val="solid"/>
            <a:headEnd type="none" w="sm" len="sm"/>
            <a:tailEnd type="none" w="sm" len="sm"/>
          </a:ln>
        </p:spPr>
        <p:txBody>
          <a:bodyPr/>
          <a:lstStyle/>
          <a:p>
            <a:endParaRPr lang="en-AU"/>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vl1pPr>
          </a:lstStyle>
          <a:p>
            <a:r>
              <a:rPr lang="en-US" dirty="0"/>
              <a:t>Click to edit Master title style</a:t>
            </a:r>
          </a:p>
        </p:txBody>
      </p:sp>
      <p:sp>
        <p:nvSpPr>
          <p:cNvPr id="3" name="Content Placeholder 2"/>
          <p:cNvSpPr>
            <a:spLocks noGrp="1"/>
          </p:cNvSpPr>
          <p:nvPr>
            <p:ph sz="half" idx="1"/>
          </p:nvPr>
        </p:nvSpPr>
        <p:spPr>
          <a:xfrm>
            <a:off x="457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4" name="Content Placeholder 3"/>
          <p:cNvSpPr>
            <a:spLocks noGrp="1"/>
          </p:cNvSpPr>
          <p:nvPr>
            <p:ph sz="half" idx="2"/>
          </p:nvPr>
        </p:nvSpPr>
        <p:spPr>
          <a:xfrm>
            <a:off x="458787" y="1170712"/>
            <a:ext cx="4040188" cy="388118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6" y="1170712"/>
            <a:ext cx="4041775" cy="3881184"/>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12000" y="168869"/>
            <a:ext cx="5611236" cy="871538"/>
          </a:xfrm>
        </p:spPr>
        <p:txBody>
          <a:bodyPr anchor="ctr"/>
          <a:lstStyle>
            <a:lvl1pPr algn="l">
              <a:defRPr sz="1500" b="1">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3294434" y="1131750"/>
            <a:ext cx="5611236"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8330" y="1702342"/>
            <a:ext cx="2592420" cy="2309408"/>
          </a:xfrm>
        </p:spPr>
        <p:txBody>
          <a:bodyPr>
            <a:normAutofit/>
          </a:bodyPr>
          <a:lstStyle>
            <a:lvl1pPr marL="0" indent="0">
              <a:buNone/>
              <a:defRPr sz="1400" b="1">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AutoShape 2">
            <a:extLst>
              <a:ext uri="{FF2B5EF4-FFF2-40B4-BE49-F238E27FC236}">
                <a16:creationId xmlns:a16="http://schemas.microsoft.com/office/drawing/2014/main" id="{C7E92F9F-AFB1-6054-535D-E0F54FB6A585}"/>
              </a:ext>
            </a:extLst>
          </p:cNvPr>
          <p:cNvSpPr/>
          <p:nvPr userDrawn="1"/>
        </p:nvSpPr>
        <p:spPr>
          <a:xfrm rot="10800000">
            <a:off x="238329" y="1444279"/>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6" name="AutoShape 2">
            <a:extLst>
              <a:ext uri="{FF2B5EF4-FFF2-40B4-BE49-F238E27FC236}">
                <a16:creationId xmlns:a16="http://schemas.microsoft.com/office/drawing/2014/main" id="{806FC455-F5B4-2827-0E48-1D1A25236EBA}"/>
              </a:ext>
            </a:extLst>
          </p:cNvPr>
          <p:cNvSpPr/>
          <p:nvPr userDrawn="1"/>
        </p:nvSpPr>
        <p:spPr>
          <a:xfrm rot="10800000">
            <a:off x="252000" y="4371750"/>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7" name="Freeform 3" descr="A black and white logo&#10;&#10;AI-generated content may be incorrect.">
            <a:extLst>
              <a:ext uri="{FF2B5EF4-FFF2-40B4-BE49-F238E27FC236}">
                <a16:creationId xmlns:a16="http://schemas.microsoft.com/office/drawing/2014/main" id="{BA2BBF0F-DC0E-6D99-B6BB-6631CDE6C2A7}"/>
              </a:ext>
            </a:extLst>
          </p:cNvPr>
          <p:cNvSpPr/>
          <p:nvPr userDrawn="1"/>
        </p:nvSpPr>
        <p:spPr>
          <a:xfrm>
            <a:off x="64238" y="-59565"/>
            <a:ext cx="2780182" cy="153003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12000" y="168869"/>
            <a:ext cx="5611236" cy="871538"/>
          </a:xfrm>
        </p:spPr>
        <p:txBody>
          <a:bodyPr anchor="ctr"/>
          <a:lstStyle>
            <a:lvl1pPr algn="l">
              <a:defRPr sz="1500" b="1">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3294434" y="1131750"/>
            <a:ext cx="5611236"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8330" y="1702342"/>
            <a:ext cx="2592420" cy="2309408"/>
          </a:xfrm>
        </p:spPr>
        <p:txBody>
          <a:bodyPr>
            <a:normAutofit/>
          </a:bodyPr>
          <a:lstStyle>
            <a:lvl1pPr marL="0" indent="0">
              <a:buNone/>
              <a:defRPr sz="1400" b="1">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AutoShape 2">
            <a:extLst>
              <a:ext uri="{FF2B5EF4-FFF2-40B4-BE49-F238E27FC236}">
                <a16:creationId xmlns:a16="http://schemas.microsoft.com/office/drawing/2014/main" id="{C7E92F9F-AFB1-6054-535D-E0F54FB6A585}"/>
              </a:ext>
            </a:extLst>
          </p:cNvPr>
          <p:cNvSpPr/>
          <p:nvPr userDrawn="1"/>
        </p:nvSpPr>
        <p:spPr>
          <a:xfrm rot="10800000">
            <a:off x="238329" y="1444279"/>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6" name="AutoShape 2">
            <a:extLst>
              <a:ext uri="{FF2B5EF4-FFF2-40B4-BE49-F238E27FC236}">
                <a16:creationId xmlns:a16="http://schemas.microsoft.com/office/drawing/2014/main" id="{806FC455-F5B4-2827-0E48-1D1A25236EBA}"/>
              </a:ext>
            </a:extLst>
          </p:cNvPr>
          <p:cNvSpPr/>
          <p:nvPr userDrawn="1"/>
        </p:nvSpPr>
        <p:spPr>
          <a:xfrm rot="10800000">
            <a:off x="252000" y="4371750"/>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7" name="Freeform 3" descr="A black and white logo&#10;&#10;AI-generated content may be incorrect.">
            <a:extLst>
              <a:ext uri="{FF2B5EF4-FFF2-40B4-BE49-F238E27FC236}">
                <a16:creationId xmlns:a16="http://schemas.microsoft.com/office/drawing/2014/main" id="{BA2BBF0F-DC0E-6D99-B6BB-6631CDE6C2A7}"/>
              </a:ext>
            </a:extLst>
          </p:cNvPr>
          <p:cNvSpPr/>
          <p:nvPr userDrawn="1"/>
        </p:nvSpPr>
        <p:spPr>
          <a:xfrm>
            <a:off x="64238" y="-59565"/>
            <a:ext cx="2780182" cy="153003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a:p>
        </p:txBody>
      </p:sp>
    </p:spTree>
    <p:extLst>
      <p:ext uri="{BB962C8B-B14F-4D97-AF65-F5344CB8AC3E}">
        <p14:creationId xmlns:p14="http://schemas.microsoft.com/office/powerpoint/2010/main" val="3860362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pn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457200" y="1200151"/>
            <a:ext cx="8229600" cy="3737370"/>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8" r:id="rId10"/>
    <p:sldLayoutId id="2147483659" r:id="rId11"/>
  </p:sldLayoutIdLst>
  <p:txStyles>
    <p:titleStyle>
      <a:lvl1pPr algn="ctr" defTabSz="342900" eaLnBrk="1" hangingPunct="1" latinLnBrk="0" rtl="0">
        <a:spcBef>
          <a:spcPct val="0"/>
        </a:spcBef>
        <a:buNone/>
        <a:defRPr b="1" baseline="0" cap="all" i="0" kern="1200" sz="3300">
          <a:solidFill>
            <a:schemeClr val="tx2"/>
          </a:solidFill>
          <a:latin charset="0" panose="02000603060000020004" pitchFamily="2" typeface="Stag"/>
          <a:ea typeface="+mj-ea"/>
          <a:cs typeface="+mj-cs"/>
        </a:defRPr>
      </a:lvl1pPr>
    </p:titleStyle>
    <p:bodyStyle>
      <a:lvl1pPr algn="l" defTabSz="342900" eaLnBrk="1" hangingPunct="1" indent="-342900" latinLnBrk="0" marL="342900" rtl="0">
        <a:spcBef>
          <a:spcPct val="20000"/>
        </a:spcBef>
        <a:buFont typeface="Arial"/>
        <a:buChar char="•"/>
        <a:defRPr baseline="0" kern="1200" sz="2400">
          <a:solidFill>
            <a:schemeClr val="tx1"/>
          </a:solidFill>
          <a:latin charset="0" pitchFamily="2" typeface="Helvetica"/>
          <a:ea typeface="+mn-ea"/>
          <a:cs typeface="+mn-cs"/>
        </a:defRPr>
      </a:lvl1pPr>
      <a:lvl2pPr algn="l" defTabSz="342900" eaLnBrk="1" hangingPunct="1" indent="-342900" latinLnBrk="0" marL="685800" rtl="0">
        <a:spcBef>
          <a:spcPct val="20000"/>
        </a:spcBef>
        <a:buFont typeface="Arial"/>
        <a:buChar char="–"/>
        <a:defRPr baseline="0" kern="1200" sz="2100">
          <a:solidFill>
            <a:schemeClr val="tx1"/>
          </a:solidFill>
          <a:latin charset="0" pitchFamily="2" typeface="Helvetica"/>
          <a:ea typeface="+mn-ea"/>
          <a:cs typeface="+mn-cs"/>
        </a:defRPr>
      </a:lvl2pPr>
      <a:lvl3pPr algn="l" defTabSz="342900" eaLnBrk="1" hangingPunct="1" indent="-342900" latinLnBrk="0" marL="1028700" rtl="0">
        <a:spcBef>
          <a:spcPct val="20000"/>
        </a:spcBef>
        <a:buFont typeface="Arial"/>
        <a:buChar char="•"/>
        <a:defRPr baseline="0" kern="1200" sz="1800">
          <a:solidFill>
            <a:schemeClr val="tx1"/>
          </a:solidFill>
          <a:latin charset="0" pitchFamily="2" typeface="Helvetica"/>
          <a:ea typeface="+mn-ea"/>
          <a:cs typeface="+mn-cs"/>
        </a:defRPr>
      </a:lvl3pPr>
      <a:lvl4pPr algn="l" defTabSz="342900" eaLnBrk="1" hangingPunct="1" indent="-342900" latinLnBrk="0" marL="1371600" rtl="0">
        <a:spcBef>
          <a:spcPct val="20000"/>
        </a:spcBef>
        <a:buFont typeface="Arial"/>
        <a:buChar char="–"/>
        <a:defRPr baseline="0" kern="1200" sz="1500">
          <a:solidFill>
            <a:schemeClr val="tx1"/>
          </a:solidFill>
          <a:latin charset="0" pitchFamily="2" typeface="Helvetica"/>
          <a:ea typeface="+mn-ea"/>
          <a:cs typeface="+mn-cs"/>
        </a:defRPr>
      </a:lvl4pPr>
      <a:lvl5pPr algn="l" defTabSz="342900" eaLnBrk="1" hangingPunct="1" indent="-342900" latinLnBrk="0" marL="1714500" rtl="0">
        <a:spcBef>
          <a:spcPct val="20000"/>
        </a:spcBef>
        <a:buFont typeface="Arial"/>
        <a:buChar char="»"/>
        <a:defRPr baseline="0" kern="1200" sz="1500">
          <a:solidFill>
            <a:schemeClr val="tx1"/>
          </a:solidFill>
          <a:latin charset="0" pitchFamily="2" typeface="Helvetica"/>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6.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685800" y="2020490"/>
            <a:ext cx="7772400" cy="1102519"/>
          </a:xfrm>
        </p:spPr>
        <p:txBody>
          <a:bodyPr/>
          <a:lstStyle/>
          <a:p>
            <a:pPr lvl="0" indent="0" marL="0">
              <a:buNone/>
            </a:pPr>
            <a:r>
              <a:rPr/>
              <a:t>Housing</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Housing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House Prices and Affordability</a:t>
            </a:r>
          </a:p>
        </p:txBody>
      </p:sp>
      <p:sp>
        <p:nvSpPr>
          <p:cNvPr id="3" name="Content Placeholder 2"/>
          <p:cNvSpPr>
            <a:spLocks noGrp="1"/>
          </p:cNvSpPr>
          <p:nvPr>
            <p:ph idx="1"/>
          </p:nvPr>
        </p:nvSpPr>
        <p:spPr/>
        <p:txBody>
          <a:bodyPr/>
          <a:lstStyle/>
          <a:p>
            <a:pPr lvl="0"/>
            <a:r>
              <a:rPr/>
              <a:t>It is more difficult than ever for first home buyers.</a:t>
            </a:r>
          </a:p>
          <a:p>
            <a:pPr lvl="0"/>
            <a:r>
              <a:rPr/>
              <a:t>Household income has not grown as fast as house prices</a:t>
            </a:r>
          </a:p>
          <a:p>
            <a:pPr lvl="0"/>
            <a:r>
              <a:rPr/>
              <a:t>Saving for a deposit is also more difficult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House Prices and Affordability - Historical</a:t>
            </a:r>
          </a:p>
        </p:txBody>
      </p:sp>
      <p:pic>
        <p:nvPicPr>
          <p:cNvPr descr="housing_files/figure-pptx/unnamed-chunk-2-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House Prices and Affordability - Historical</a:t>
            </a:r>
          </a:p>
        </p:txBody>
      </p:sp>
      <p:graphicFrame>
        <p:nvGraphicFramePr>
          <p:cNvPr id="6" name="Content Placeholder 5"/>
          <p:cNvGraphicFramePr>
            <a:graphicFrameLocks noGrp="1"/>
          </p:cNvGraphicFramePr>
          <p:nvPr>
            <p:ph idx="1"/>
          </p:nvPr>
        </p:nvGraphicFramePr>
        <p:xfrm>
          <a:off x="457200" y="1587500"/>
          <a:ext cx="8229600" cy="33782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Year</a:t>
                      </a:r>
                    </a:p>
                  </a:txBody>
                  <a:tcPr/>
                </a:tc>
                <a:tc>
                  <a:txBody>
                    <a:bodyPr/>
                    <a:lstStyle/>
                    <a:p>
                      <a:pPr lvl="0" indent="0" marL="0">
                        <a:buNone/>
                      </a:pPr>
                      <a:r>
                        <a:rPr/>
                        <a:t>Average House Price ($)</a:t>
                      </a:r>
                    </a:p>
                  </a:txBody>
                  <a:tcPr/>
                </a:tc>
                <a:tc>
                  <a:txBody>
                    <a:bodyPr/>
                    <a:lstStyle/>
                    <a:p>
                      <a:pPr lvl="0" indent="0" marL="0">
                        <a:buNone/>
                      </a:pPr>
                      <a:r>
                        <a:rPr/>
                        <a:t>Average Per Capita Disposable Income ($)</a:t>
                      </a:r>
                    </a:p>
                  </a:txBody>
                  <a:tcPr/>
                </a:tc>
              </a:tr>
              <a:tr h="0">
                <a:tc>
                  <a:txBody>
                    <a:bodyPr/>
                    <a:lstStyle/>
                    <a:p>
                      <a:pPr lvl="0" indent="0" marL="0">
                        <a:buNone/>
                      </a:pPr>
                      <a:r>
                        <a:rPr/>
                        <a:t>1975</a:t>
                      </a:r>
                    </a:p>
                  </a:txBody>
                </a:tc>
                <a:tc>
                  <a:txBody>
                    <a:bodyPr/>
                    <a:lstStyle/>
                    <a:p>
                      <a:pPr lvl="0" indent="0" marL="0">
                        <a:buNone/>
                      </a:pPr>
                      <a:r>
                        <a:rPr/>
                        <a:t>$33,417</a:t>
                      </a:r>
                    </a:p>
                  </a:txBody>
                </a:tc>
                <a:tc>
                  <a:txBody>
                    <a:bodyPr/>
                    <a:lstStyle/>
                    <a:p>
                      <a:pPr lvl="0" indent="0" marL="0">
                        <a:buNone/>
                      </a:pPr>
                      <a:r>
                        <a:rPr/>
                        <a:t>$3,887</a:t>
                      </a:r>
                    </a:p>
                  </a:txBody>
                </a:tc>
              </a:tr>
              <a:tr h="0">
                <a:tc>
                  <a:txBody>
                    <a:bodyPr/>
                    <a:lstStyle/>
                    <a:p>
                      <a:pPr lvl="0" indent="0" marL="0">
                        <a:buNone/>
                      </a:pPr>
                      <a:r>
                        <a:rPr/>
                        <a:t>1985</a:t>
                      </a:r>
                    </a:p>
                  </a:txBody>
                </a:tc>
                <a:tc>
                  <a:txBody>
                    <a:bodyPr/>
                    <a:lstStyle/>
                    <a:p>
                      <a:pPr lvl="0" indent="0" marL="0">
                        <a:buNone/>
                      </a:pPr>
                      <a:r>
                        <a:rPr/>
                        <a:t>$83,905</a:t>
                      </a:r>
                    </a:p>
                  </a:txBody>
                </a:tc>
                <a:tc>
                  <a:txBody>
                    <a:bodyPr/>
                    <a:lstStyle/>
                    <a:p>
                      <a:pPr lvl="0" indent="0" marL="0">
                        <a:buNone/>
                      </a:pPr>
                      <a:r>
                        <a:rPr/>
                        <a:t>$10,508</a:t>
                      </a:r>
                    </a:p>
                  </a:txBody>
                </a:tc>
              </a:tr>
              <a:tr h="0">
                <a:tc>
                  <a:txBody>
                    <a:bodyPr/>
                    <a:lstStyle/>
                    <a:p>
                      <a:pPr lvl="0" indent="0" marL="0">
                        <a:buNone/>
                      </a:pPr>
                      <a:r>
                        <a:rPr/>
                        <a:t>1995</a:t>
                      </a:r>
                    </a:p>
                  </a:txBody>
                </a:tc>
                <a:tc>
                  <a:txBody>
                    <a:bodyPr/>
                    <a:lstStyle/>
                    <a:p>
                      <a:pPr lvl="0" indent="0" marL="0">
                        <a:buNone/>
                      </a:pPr>
                      <a:r>
                        <a:rPr/>
                        <a:t>$160,819</a:t>
                      </a:r>
                    </a:p>
                  </a:txBody>
                </a:tc>
                <a:tc>
                  <a:txBody>
                    <a:bodyPr/>
                    <a:lstStyle/>
                    <a:p>
                      <a:pPr lvl="0" indent="0" marL="0">
                        <a:buNone/>
                      </a:pPr>
                      <a:r>
                        <a:rPr/>
                        <a:t>$18,337</a:t>
                      </a:r>
                    </a:p>
                  </a:txBody>
                </a:tc>
              </a:tr>
              <a:tr h="0">
                <a:tc>
                  <a:txBody>
                    <a:bodyPr/>
                    <a:lstStyle/>
                    <a:p>
                      <a:pPr lvl="0" indent="0" marL="0">
                        <a:buNone/>
                      </a:pPr>
                      <a:r>
                        <a:rPr/>
                        <a:t>2005</a:t>
                      </a:r>
                    </a:p>
                  </a:txBody>
                </a:tc>
                <a:tc>
                  <a:txBody>
                    <a:bodyPr/>
                    <a:lstStyle/>
                    <a:p>
                      <a:pPr lvl="0" indent="0" marL="0">
                        <a:buNone/>
                      </a:pPr>
                      <a:r>
                        <a:rPr/>
                        <a:t>$354,508</a:t>
                      </a:r>
                    </a:p>
                  </a:txBody>
                </a:tc>
                <a:tc>
                  <a:txBody>
                    <a:bodyPr/>
                    <a:lstStyle/>
                    <a:p>
                      <a:pPr lvl="0" indent="0" marL="0">
                        <a:buNone/>
                      </a:pPr>
                      <a:r>
                        <a:rPr/>
                        <a:t>$29,420</a:t>
                      </a:r>
                    </a:p>
                  </a:txBody>
                </a:tc>
              </a:tr>
              <a:tr h="0">
                <a:tc>
                  <a:txBody>
                    <a:bodyPr/>
                    <a:lstStyle/>
                    <a:p>
                      <a:pPr lvl="0" indent="0" marL="0">
                        <a:buNone/>
                      </a:pPr>
                      <a:r>
                        <a:rPr/>
                        <a:t>2015</a:t>
                      </a:r>
                    </a:p>
                  </a:txBody>
                </a:tc>
                <a:tc>
                  <a:txBody>
                    <a:bodyPr/>
                    <a:lstStyle/>
                    <a:p>
                      <a:pPr lvl="0" indent="0" marL="0">
                        <a:buNone/>
                      </a:pPr>
                      <a:r>
                        <a:rPr/>
                        <a:t>$600,500</a:t>
                      </a:r>
                    </a:p>
                  </a:txBody>
                </a:tc>
                <a:tc>
                  <a:txBody>
                    <a:bodyPr/>
                    <a:lstStyle/>
                    <a:p>
                      <a:pPr lvl="0" indent="0" marL="0">
                        <a:buNone/>
                      </a:pPr>
                      <a:r>
                        <a:rPr/>
                        <a:t>$46,245</a:t>
                      </a:r>
                    </a:p>
                  </a:txBody>
                </a:tc>
              </a:tr>
              <a:tr h="0">
                <a:tc>
                  <a:txBody>
                    <a:bodyPr/>
                    <a:lstStyle/>
                    <a:p>
                      <a:pPr lvl="0" indent="0" marL="0">
                        <a:buNone/>
                      </a:pPr>
                      <a:r>
                        <a:rPr/>
                        <a:t>2025</a:t>
                      </a:r>
                    </a:p>
                  </a:txBody>
                </a:tc>
                <a:tc>
                  <a:txBody>
                    <a:bodyPr/>
                    <a:lstStyle/>
                    <a:p>
                      <a:pPr lvl="0" indent="0" marL="0">
                        <a:buNone/>
                      </a:pPr>
                      <a:r>
                        <a:rPr/>
                        <a:t>$1,044,350</a:t>
                      </a:r>
                    </a:p>
                  </a:txBody>
                </a:tc>
                <a:tc>
                  <a:txBody>
                    <a:bodyPr/>
                    <a:lstStyle/>
                    <a:p>
                      <a:pPr lvl="0" indent="0" marL="0">
                        <a:buNone/>
                      </a:pPr>
                      <a:r>
                        <a:rPr/>
                        <a:t>$62,771</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Investor Financing</a:t>
            </a:r>
          </a:p>
        </p:txBody>
      </p:sp>
      <p:pic>
        <p:nvPicPr>
          <p:cNvPr descr="housing_files/figure-pptx/unnamed-chunk-4-1.png" id="0" name="Picture 1"/>
          <p:cNvPicPr>
            <a:picLocks noGrp="1" noChangeAspect="1"/>
          </p:cNvPicPr>
          <p:nvPr/>
        </p:nvPicPr>
        <p:blipFill>
          <a:blip r:embed="rId2"/>
          <a:stretch>
            <a:fillRect/>
          </a:stretch>
        </p:blipFill>
        <p:spPr bwMode="auto">
          <a:xfrm>
            <a:off x="1193800" y="1587500"/>
            <a:ext cx="6756400" cy="33782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Budget Changes</a:t>
            </a:r>
          </a:p>
        </p:txBody>
      </p:sp>
      <p:sp>
        <p:nvSpPr>
          <p:cNvPr id="3" name="Content Placeholder 2"/>
          <p:cNvSpPr>
            <a:spLocks noGrp="1"/>
          </p:cNvSpPr>
          <p:nvPr>
            <p:ph idx="1"/>
          </p:nvPr>
        </p:nvSpPr>
        <p:spPr/>
        <p:txBody>
          <a:bodyPr/>
          <a:lstStyle/>
          <a:p>
            <a:pPr lvl="0"/>
            <a:r>
              <a:rPr/>
              <a:t>Negative gearing limited to new builds only from 1 July 2027.</a:t>
            </a:r>
          </a:p>
          <a:p>
            <a:pPr lvl="0"/>
            <a:r>
              <a:rPr/>
              <a:t>Losses accrued in running an investment property can no longer reduce your taxable income.</a:t>
            </a:r>
          </a:p>
          <a:p>
            <a:pPr lvl="0"/>
            <a:r>
              <a:rPr/>
              <a:t>A 30% minimum tax rate on capital gains is introduced.</a:t>
            </a:r>
          </a:p>
          <a:p>
            <a:pPr lvl="0"/>
            <a:r>
              <a:rPr/>
              <a:t>The Capital Gains Tax Discount is replaced with cost-based indexation</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Example</a:t>
            </a:r>
          </a:p>
        </p:txBody>
      </p:sp>
      <p:graphicFrame>
        <p:nvGraphicFramePr>
          <p:cNvPr id="6" name="Content Placeholder 5"/>
          <p:cNvGraphicFramePr>
            <a:graphicFrameLocks noGrp="1"/>
          </p:cNvGraphicFramePr>
          <p:nvPr>
            <p:ph idx="1"/>
          </p:nvPr>
        </p:nvGraphicFramePr>
        <p:xfrm>
          <a:off x="457200" y="1587500"/>
          <a:ext cx="8229600" cy="33782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Capital Gain</a:t>
                      </a:r>
                    </a:p>
                  </a:txBody>
                  <a:tcPr/>
                </a:tc>
                <a:tc>
                  <a:txBody>
                    <a:bodyPr/>
                    <a:lstStyle/>
                    <a:p>
                      <a:pPr lvl="0" indent="0" marL="0">
                        <a:buNone/>
                      </a:pPr>
                      <a:r>
                        <a:rPr/>
                        <a:t>Tax Rate</a:t>
                      </a:r>
                    </a:p>
                  </a:txBody>
                  <a:tcPr/>
                </a:tc>
                <a:tc>
                  <a:txBody>
                    <a:bodyPr/>
                    <a:lstStyle/>
                    <a:p>
                      <a:pPr lvl="0" indent="0" marL="0">
                        <a:buNone/>
                      </a:pPr>
                      <a:r>
                        <a:rPr/>
                        <a:t>Notes</a:t>
                      </a:r>
                    </a:p>
                  </a:txBody>
                  <a:tcPr/>
                </a:tc>
              </a:tr>
              <a:tr h="0">
                <a:tc>
                  <a:txBody>
                    <a:bodyPr/>
                    <a:lstStyle/>
                    <a:p>
                      <a:pPr lvl="0" indent="0" marL="0">
                        <a:buNone/>
                      </a:pPr>
                      <a:r>
                        <a:rPr/>
                        <a:t>50,000</a:t>
                      </a:r>
                    </a:p>
                  </a:txBody>
                </a:tc>
                <a:tc>
                  <a:txBody>
                    <a:bodyPr/>
                    <a:lstStyle/>
                    <a:p>
                      <a:pPr lvl="0" indent="0" marL="0">
                        <a:buNone/>
                      </a:pPr>
                      <a:r>
                        <a:rPr/>
                        <a:t>0</a:t>
                      </a:r>
                    </a:p>
                  </a:txBody>
                </a:tc>
                <a:tc>
                  <a:txBody>
                    <a:bodyPr/>
                    <a:lstStyle/>
                    <a:p>
                      <a:pPr lvl="0" indent="0" marL="0">
                        <a:buNone/>
                      </a:pPr>
                      <a:r>
                        <a:rPr/>
                        <a:t>Not taxed due to CGT discount</a:t>
                      </a:r>
                    </a:p>
                  </a:txBody>
                </a:tc>
              </a:tr>
              <a:tr h="0">
                <a:tc>
                  <a:txBody>
                    <a:bodyPr/>
                    <a:lstStyle/>
                    <a:p>
                      <a:pPr lvl="0" indent="0" marL="0">
                        <a:buNone/>
                      </a:pPr>
                      <a:r>
                        <a:rPr/>
                        <a:t>35,000</a:t>
                      </a:r>
                    </a:p>
                  </a:txBody>
                </a:tc>
                <a:tc>
                  <a:txBody>
                    <a:bodyPr/>
                    <a:lstStyle/>
                    <a:p>
                      <a:pPr lvl="0" indent="0" marL="0">
                        <a:buNone/>
                      </a:pPr>
                      <a:r>
                        <a:rPr/>
                        <a:t>30%</a:t>
                      </a:r>
                    </a:p>
                  </a:txBody>
                </a:tc>
                <a:tc>
                  <a:txBody>
                    <a:bodyPr/>
                    <a:lstStyle/>
                    <a:p>
                      <a:pPr lvl="0" indent="0" marL="0">
                        <a:buNone/>
                      </a:pPr>
                      <a:r>
                        <a:rPr/>
                        <a:t>The first 35,000 of the remaining 50,000 is taxed in the 45,001-135,000 bracket</a:t>
                      </a:r>
                    </a:p>
                  </a:txBody>
                </a:tc>
              </a:tr>
              <a:tr h="0">
                <a:tc>
                  <a:txBody>
                    <a:bodyPr/>
                    <a:lstStyle/>
                    <a:p>
                      <a:pPr lvl="0" indent="0" marL="0">
                        <a:buNone/>
                      </a:pPr>
                      <a:r>
                        <a:rPr/>
                        <a:t>15,000</a:t>
                      </a:r>
                    </a:p>
                  </a:txBody>
                </a:tc>
                <a:tc>
                  <a:txBody>
                    <a:bodyPr/>
                    <a:lstStyle/>
                    <a:p>
                      <a:pPr lvl="0" indent="0" marL="0">
                        <a:buNone/>
                      </a:pPr>
                      <a:r>
                        <a:rPr/>
                        <a:t>37%</a:t>
                      </a:r>
                    </a:p>
                  </a:txBody>
                </a:tc>
                <a:tc>
                  <a:txBody>
                    <a:bodyPr/>
                    <a:lstStyle/>
                    <a:p>
                      <a:pPr lvl="0" indent="0" marL="0">
                        <a:buNone/>
                      </a:pPr>
                      <a:r>
                        <a:rPr/>
                        <a:t>The remaining 15,00 is taxed in the 135,001-190,000 tax bracket</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Likely Impact</a:t>
            </a:r>
          </a:p>
        </p:txBody>
      </p:sp>
      <p:sp>
        <p:nvSpPr>
          <p:cNvPr id="3" name="Content Placeholder 2"/>
          <p:cNvSpPr>
            <a:spLocks noGrp="1"/>
          </p:cNvSpPr>
          <p:nvPr>
            <p:ph idx="1"/>
          </p:nvPr>
        </p:nvSpPr>
        <p:spPr/>
        <p:txBody>
          <a:bodyPr/>
          <a:lstStyle/>
          <a:p>
            <a:pPr lvl="0"/>
            <a:r>
              <a:rPr/>
              <a:t>The estimated impact on house prices and supply is minimal.</a:t>
            </a:r>
          </a:p>
          <a:p>
            <a:pPr lvl="0"/>
            <a:r>
              <a:rPr/>
              <a:t>First home buyers should face less competition when purchasing established homes.</a:t>
            </a:r>
          </a:p>
          <a:p>
            <a:pPr lvl="0"/>
            <a:r>
              <a:rPr/>
              <a:t>Changes only partially address the reasons why property investment was so popular.</a:t>
            </a:r>
          </a:p>
        </p:txBody>
      </p:sp>
    </p:spTree>
  </p:cSld>
</p:sld>
</file>

<file path=ppt/theme/theme1.xml><?xml version="1.0" encoding="utf-8"?>
<a:theme xmlns:a="http://schemas.openxmlformats.org/drawingml/2006/main" name="Office Theme">
  <a:themeElements>
    <a:clrScheme name="AMWU">
      <a:dk1>
        <a:sysClr val="windowText" lastClr="000000"/>
      </a:dk1>
      <a:lt1>
        <a:sysClr val="window" lastClr="FFFFFF"/>
      </a:lt1>
      <a:dk2>
        <a:srgbClr val="0E2841"/>
      </a:dk2>
      <a:lt2>
        <a:srgbClr val="E8E8E8"/>
      </a:lt2>
      <a:accent1>
        <a:srgbClr val="001D26"/>
      </a:accent1>
      <a:accent2>
        <a:srgbClr val="F15C30"/>
      </a:accent2>
      <a:accent3>
        <a:srgbClr val="094FA3"/>
      </a:accent3>
      <a:accent4>
        <a:srgbClr val="FEBE10"/>
      </a:accent4>
      <a:accent5>
        <a:srgbClr val="E4E4E4"/>
      </a:accent5>
      <a:accent6>
        <a:srgbClr val="231F20"/>
      </a:accent6>
      <a:hlink>
        <a:srgbClr val="094FA3"/>
      </a:hlink>
      <a:folHlink>
        <a:srgbClr val="F15C3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46</Words>
  <Application>Microsoft Office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Helvetica</vt:lpstr>
      <vt:lpstr>Stag</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Housing</dc:title>
  <dc:creator/>
  <cp:keywords/>
  <dcterms:created xsi:type="dcterms:W3CDTF">2026-07-28T00:47:30Z</dcterms:created>
  <dcterms:modified xsi:type="dcterms:W3CDTF">2026-07-28T00:47:30Z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
    <vt:lpwstr>National Research Centre</vt:lpwstr>
  </property>
  <property fmtid="{D5CDD505-2E9C-101B-9397-08002B2CF9AE}" pid="3" name="biblio-config">
    <vt:lpwstr>True</vt:lpwstr>
  </property>
  <property fmtid="{D5CDD505-2E9C-101B-9397-08002B2CF9AE}" pid="4" name="brand">
    <vt:lpwstr>_brand/brand.yml</vt:lpwstr>
  </property>
  <property fmtid="{D5CDD505-2E9C-101B-9397-08002B2CF9AE}" pid="5" name="editor">
    <vt:lpwstr>visual</vt:lpwstr>
  </property>
  <property fmtid="{D5CDD505-2E9C-101B-9397-08002B2CF9AE}" pid="6" name="engines">
    <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subtitle">
    <vt:lpwstr/>
  </property>
  <property fmtid="{D5CDD505-2E9C-101B-9397-08002B2CF9AE}" pid="13" name="toc-title">
    <vt:lpwstr>Table of contents</vt:lpwstr>
  </property>
</Properties>
</file>