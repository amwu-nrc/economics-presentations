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Talk about inflation and real wages. What they are, how they are measured, and importantly - what they are not.</a:t>
            </a:r>
          </a:p>
          <a:p>
            <a:pPr lvl="0" indent="0" marL="0">
              <a:buNone/>
            </a:pPr>
          </a:p>
          <a:p>
            <a:pPr lvl="0"/>
            <a:r>
              <a:rPr/>
              <a:t>How does inflation and real wages link with the AMWU broader goals of a living wage, and increasing the minimum wage for apprentices.</a:t>
            </a:r>
          </a:p>
          <a:p>
            <a:pPr lvl="0" indent="0" marL="0">
              <a:buNone/>
            </a:pPr>
          </a:p>
          <a:p>
            <a:pPr lvl="0"/>
            <a:r>
              <a:rPr/>
              <a:t>Talk about sovereign capability. What it means, why it is important, and how we’re advocating for industry policy through FMIA and the Defence industry.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78469" y="3831750"/>
            <a:ext cx="7772400" cy="1102519"/>
          </a:xfrm>
        </p:spPr>
        <p:txBody>
          <a:bodyPr/>
          <a:lstStyle>
            <a:lvl1pPr>
              <a:defRPr sz="4000" b="0" i="0" cap="none" baseline="0">
                <a:solidFill>
                  <a:schemeClr val="bg1"/>
                </a:solidFill>
                <a:latin typeface="Stag Medium" panose="02000603060000020004" pitchFamily="50" charset="0"/>
              </a:defRPr>
            </a:lvl1pPr>
          </a:lstStyle>
          <a:p>
            <a:r>
              <a:rPr lang="en-US" dirty="0"/>
              <a:t>Click to edit master title style</a:t>
            </a:r>
          </a:p>
        </p:txBody>
      </p:sp>
      <p:sp>
        <p:nvSpPr>
          <p:cNvPr id="10" name="Freeform 3" descr="A black and white logo&#10;&#10;AI-generated content may be incorrect.">
            <a:extLst>
              <a:ext uri="{FF2B5EF4-FFF2-40B4-BE49-F238E27FC236}">
                <a16:creationId xmlns:a16="http://schemas.microsoft.com/office/drawing/2014/main" id="{270EDBF1-C207-C2C2-D908-D5B5626E968B}"/>
              </a:ext>
            </a:extLst>
          </p:cNvPr>
          <p:cNvSpPr/>
          <p:nvPr userDrawn="1"/>
        </p:nvSpPr>
        <p:spPr>
          <a:xfrm>
            <a:off x="2232000" y="-283669"/>
            <a:ext cx="4140000" cy="2325288"/>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2"/>
            <a:stretch>
              <a:fillRect/>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AU"/>
          </a:p>
        </p:txBody>
      </p:sp>
      <p:pic>
        <p:nvPicPr>
          <p:cNvPr id="11" name="Picture 10" descr="A hand with a fist raised up&#10;&#10;AI-generated content may be incorrect.">
            <a:extLst>
              <a:ext uri="{FF2B5EF4-FFF2-40B4-BE49-F238E27FC236}">
                <a16:creationId xmlns:a16="http://schemas.microsoft.com/office/drawing/2014/main" id="{2F62BAD0-0F8C-738B-5360-E6C9FA58543F}"/>
              </a:ext>
            </a:extLst>
          </p:cNvPr>
          <p:cNvPicPr>
            <a:picLocks noChangeAspect="1"/>
          </p:cNvPicPr>
          <p:nvPr userDrawn="1"/>
        </p:nvPicPr>
        <p:blipFill>
          <a:blip r:embed="rId3"/>
          <a:stretch>
            <a:fillRect/>
          </a:stretch>
        </p:blipFill>
        <p:spPr>
          <a:xfrm>
            <a:off x="2592000" y="1733492"/>
            <a:ext cx="4140000" cy="1872746"/>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ack and white logo&#10;&#10;AI-generated content may be incorrect.">
            <a:extLst>
              <a:ext uri="{FF2B5EF4-FFF2-40B4-BE49-F238E27FC236}">
                <a16:creationId xmlns:a16="http://schemas.microsoft.com/office/drawing/2014/main" id="{32A4F8D5-E243-B007-9BD9-1940D15A99A4}"/>
              </a:ext>
            </a:extLst>
          </p:cNvPr>
          <p:cNvPicPr>
            <a:picLocks noChangeAspect="1"/>
          </p:cNvPicPr>
          <p:nvPr userDrawn="1"/>
        </p:nvPicPr>
        <p:blipFill>
          <a:blip r:embed="rId2"/>
          <a:stretch>
            <a:fillRect/>
          </a:stretch>
        </p:blipFill>
        <p:spPr>
          <a:xfrm>
            <a:off x="6732000" y="4416890"/>
            <a:ext cx="1444619" cy="796637"/>
          </a:xfrm>
          <a:prstGeom prst="rect">
            <a:avLst/>
          </a:prstGeom>
        </p:spPr>
      </p:pic>
      <p:pic>
        <p:nvPicPr>
          <p:cNvPr id="6" name="Picture 5" descr="A hand with a fist raised up&#10;&#10;AI-generated content may be incorrect.">
            <a:extLst>
              <a:ext uri="{FF2B5EF4-FFF2-40B4-BE49-F238E27FC236}">
                <a16:creationId xmlns:a16="http://schemas.microsoft.com/office/drawing/2014/main" id="{784379E0-3798-CE56-DAFB-6D40AB1671FE}"/>
              </a:ext>
            </a:extLst>
          </p:cNvPr>
          <p:cNvPicPr>
            <a:picLocks noChangeAspect="1"/>
          </p:cNvPicPr>
          <p:nvPr userDrawn="1"/>
        </p:nvPicPr>
        <p:blipFill>
          <a:blip r:embed="rId3"/>
          <a:stretch>
            <a:fillRect/>
          </a:stretch>
        </p:blipFill>
        <p:spPr>
          <a:xfrm>
            <a:off x="8314476" y="4697094"/>
            <a:ext cx="706502" cy="318244"/>
          </a:xfrm>
          <a:prstGeom prst="rect">
            <a:avLst/>
          </a:prstGeom>
        </p:spPr>
      </p:pic>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nchor="t"/>
          <a:lstStyle>
            <a:lvl1pPr algn="l">
              <a:defRPr sz="3000" b="1" i="0" cap="none" baseline="0">
                <a:solidFill>
                  <a:schemeClr val="bg1"/>
                </a:solidFill>
                <a:latin typeface="Stag Semibold" panose="02000703060000020004" pitchFamily="50" charset="0"/>
              </a:defRPr>
            </a:lvl1pPr>
          </a:lstStyle>
          <a:p>
            <a:r>
              <a:rPr lang="en-US" dirty="0"/>
              <a:t>Click to edit Master title style</a:t>
            </a:r>
          </a:p>
        </p:txBody>
      </p:sp>
      <p:sp>
        <p:nvSpPr>
          <p:cNvPr id="3" name="Text Placeholder 2"/>
          <p:cNvSpPr>
            <a:spLocks noGrp="1"/>
          </p:cNvSpPr>
          <p:nvPr>
            <p:ph type="body" idx="1"/>
          </p:nvPr>
        </p:nvSpPr>
        <p:spPr>
          <a:xfrm>
            <a:off x="252000" y="3291750"/>
            <a:ext cx="8640000" cy="1125140"/>
          </a:xfrm>
        </p:spPr>
        <p:txBody>
          <a:bodyPr anchor="ctr"/>
          <a:lstStyle>
            <a:lvl1pPr marL="0" indent="0" algn="l">
              <a:buNone/>
              <a:defRPr sz="1500" b="1" i="0" cap="none" baseline="0">
                <a:solidFill>
                  <a:schemeClr val="bg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Footer Placeholder 3">
            <a:extLst>
              <a:ext uri="{FF2B5EF4-FFF2-40B4-BE49-F238E27FC236}">
                <a16:creationId xmlns:a16="http://schemas.microsoft.com/office/drawing/2014/main" id="{03A6D417-94FA-60B8-7325-82B1CC677B33}"/>
              </a:ext>
            </a:extLst>
          </p:cNvPr>
          <p:cNvSpPr>
            <a:spLocks noGrp="1"/>
          </p:cNvSpPr>
          <p:nvPr>
            <p:ph type="ftr" sz="quarter" idx="10"/>
          </p:nvPr>
        </p:nvSpPr>
        <p:spPr>
          <a:xfrm>
            <a:off x="252000" y="4629944"/>
            <a:ext cx="3086100" cy="274637"/>
          </a:xfrm>
        </p:spPr>
        <p:txBody>
          <a:bodyPr/>
          <a:lstStyle>
            <a:lvl1pPr algn="l">
              <a:defRPr baseline="0">
                <a:solidFill>
                  <a:schemeClr val="bg1"/>
                </a:solidFill>
                <a:latin typeface="Helvetica" pitchFamily="2" charset="0"/>
              </a:defRPr>
            </a:lvl1pPr>
          </a:lstStyle>
          <a:p>
            <a:pPr algn="l"/>
            <a:endParaRPr lang="en-AU"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baseline="0">
                <a:solidFill>
                  <a:schemeClr val="bg1"/>
                </a:solidFill>
              </a:defRPr>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strike="dblStrike" cap="none" baseline="0">
                <a:solidFill>
                  <a:schemeClr val="tx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baseline="0">
                <a:solidFill>
                  <a:schemeClr val="tx1"/>
                </a:solidFill>
              </a:defRPr>
            </a:lvl1pPr>
            <a:lvl2pPr>
              <a:defRPr sz="2100" baseline="0">
                <a:solidFill>
                  <a:schemeClr val="tx1"/>
                </a:solidFill>
              </a:defRPr>
            </a:lvl2pPr>
            <a:lvl3pPr>
              <a:defRPr sz="1800" baseline="0">
                <a:solidFill>
                  <a:schemeClr val="tx1"/>
                </a:solidFill>
              </a:defRPr>
            </a:lvl3pPr>
            <a:lvl4pPr>
              <a:defRPr sz="1500" baseline="0">
                <a:solidFill>
                  <a:schemeClr val="tx1"/>
                </a:solidFill>
              </a:defRPr>
            </a:lvl4pPr>
            <a:lvl5pPr>
              <a:defRPr sz="1500" baseline="0">
                <a:solidFill>
                  <a:schemeClr val="tx1"/>
                </a:solidFill>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089564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cap="none" baseline="0">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Footer Placeholder 3">
            <a:extLst>
              <a:ext uri="{FF2B5EF4-FFF2-40B4-BE49-F238E27FC236}">
                <a16:creationId xmlns:a16="http://schemas.microsoft.com/office/drawing/2014/main" id="{3093270E-0C63-7AC9-B03A-19302E5A04E1}"/>
              </a:ext>
            </a:extLst>
          </p:cNvPr>
          <p:cNvSpPr>
            <a:spLocks noGrp="1"/>
          </p:cNvSpPr>
          <p:nvPr>
            <p:ph idx="3" sz="quarter" type="ftr"/>
          </p:nvPr>
        </p:nvSpPr>
        <p:spPr>
          <a:xfrm>
            <a:off x="3028950" y="4767263"/>
            <a:ext cx="3086100" cy="274637"/>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en-AU"/>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bg1"/>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bg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bg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bg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bg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bg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g6-lciEvkpA"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78469" y="3831750"/>
            <a:ext cx="7772400" cy="1102519"/>
          </a:xfrm>
        </p:spPr>
        <p:txBody>
          <a:bodyPr/>
          <a:lstStyle/>
          <a:p>
            <a:pPr lvl="0" indent="0" marL="0">
              <a:buNone/>
            </a:pPr>
            <a:r>
              <a:rPr/>
              <a:t>Economics in the Real World</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Am I?</a:t>
            </a:r>
          </a:p>
        </p:txBody>
      </p:sp>
      <p:sp>
        <p:nvSpPr>
          <p:cNvPr id="3" name="Content Placeholder 2"/>
          <p:cNvSpPr>
            <a:spLocks noGrp="1"/>
          </p:cNvSpPr>
          <p:nvPr>
            <p:ph idx="1"/>
          </p:nvPr>
        </p:nvSpPr>
        <p:spPr/>
        <p:txBody>
          <a:bodyPr/>
          <a:lstStyle/>
          <a:p>
            <a:pPr lvl="0"/>
            <a:r>
              <a:rPr/>
              <a:t>Economist, National Research Centre</a:t>
            </a:r>
          </a:p>
          <a:p>
            <a:pPr lvl="0"/>
            <a:r>
              <a:rPr/>
              <a:t>Research focus on industrial capabilities and economic complexity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Agenda</a:t>
            </a:r>
          </a:p>
        </p:txBody>
      </p:sp>
      <p:sp>
        <p:nvSpPr>
          <p:cNvPr id="3" name="Content Placeholder 2"/>
          <p:cNvSpPr>
            <a:spLocks noGrp="1"/>
          </p:cNvSpPr>
          <p:nvPr>
            <p:ph idx="1"/>
          </p:nvPr>
        </p:nvSpPr>
        <p:spPr/>
        <p:txBody>
          <a:bodyPr/>
          <a:lstStyle/>
          <a:p>
            <a:pPr lvl="0"/>
            <a:r>
              <a:rPr/>
              <a:t>Inflation, Real Wages, and the Living Wage</a:t>
            </a:r>
          </a:p>
          <a:p>
            <a:pPr lvl="0"/>
            <a:r>
              <a:rPr/>
              <a:t>Sovereign Capability, Economic Complexity and a Future Made in Australia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Inflation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elegates-forum-sa-2026_files/figure-pptx/inflation-pc-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elegates-forum-sa-2026_files/figure-pptx/inflation-index-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elegates-forum-sa-2026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https://www.youtube-nocookie.com/watch?v=g6-lciEvkpA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elegates-forum-sa-2026_files/figure-pptx/unnamed-chunk-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elegates-forum-sa-2026_files/figure-pptx/unnamed-chunk-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The AMWU and Wages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Industrial Capabilities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elegates-forum-sa-2026_files/figure-pptx/unnamed-chunk-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Western Australia?</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Questions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Arial</vt:lpstr>
      <vt:lpstr>Calibri</vt:lpstr>
      <vt:lpstr>Helvetica</vt:lpstr>
      <vt:lpstr>Stag</vt:lpstr>
      <vt:lpstr>Stag Medium</vt:lpstr>
      <vt:lpstr>Stag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in the Real World</dc:title>
  <dc:creator>Hamish Gamble</dc:creator>
  <cp:keywords/>
  <dcterms:created xsi:type="dcterms:W3CDTF">2026-06-09T06:07:58Z</dcterms:created>
  <dcterms:modified xsi:type="dcterms:W3CDTF">2026-06-09T06:07:58Z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SA Delegates Forum</vt:lpwstr>
  </property>
  <property fmtid="{D5CDD505-2E9C-101B-9397-08002B2CF9AE}" pid="14" name="toc-title">
    <vt:lpwstr>Table of contents</vt:lpwstr>
  </property>
</Properties>
</file>