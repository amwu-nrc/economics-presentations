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Since March 2023, prices have grown faster than wages.</a:t>
            </a:r>
          </a:p>
          <a:p>
            <a:pPr lvl="0" indent="0" marL="0">
              <a:buNone/>
            </a:pPr>
          </a:p>
          <a:p>
            <a:pPr lvl="0" indent="0" marL="0">
              <a:buNone/>
            </a:pPr>
            <a:r>
              <a:rPr/>
              <a:t>So what’s the problem?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Forget inflation. We’re talking about cost of living, not a measure created for the purposes of helping the RBA determine what interest rates should be. The CPI is designed to measure price inflation for the household sector </a:t>
            </a:r>
            <a:r>
              <a:rPr b="1"/>
              <a:t>as a whole</a:t>
            </a:r>
            <a:r>
              <a:rPr/>
              <a:t> and is not the ideal measure for assessing the changes in the purchasing power of the disposable incomes of households.</a:t>
            </a:r>
          </a:p>
          <a:p>
            <a:pPr lvl="0" indent="0" marL="0">
              <a:buNone/>
            </a:pPr>
          </a:p>
          <a:p>
            <a:pPr lvl="0" indent="0" marL="0">
              <a:buNone/>
            </a:pPr>
            <a:r>
              <a:rPr/>
              <a:t>The Cost of Living Index can be interpreted as “How much would after tax incomes need to change to allow households to purchase the same quantity of goods and services between period A and period B”.</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Looking only since 2023 suggests that wages have grown slightly faster than inflation. But the cost of living index shows that wages have not grown faster than the cost of living.</a:t>
            </a:r>
          </a:p>
          <a:p>
            <a:pPr lvl="0" indent="0" marL="0">
              <a:buNone/>
            </a:pPr>
          </a:p>
          <a:p>
            <a:pPr lvl="0" indent="0" marL="0">
              <a:buNone/>
            </a:pPr>
            <a:r>
              <a:rPr/>
              <a:t>The problem with looking only since 2023 is it neglects the impact of high inflation between 2021 and 2023, where real wages were seriously eroded.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78469" y="3831750"/>
            <a:ext cx="7772400" cy="1102519"/>
          </a:xfrm>
        </p:spPr>
        <p:txBody>
          <a:bodyPr/>
          <a:lstStyle>
            <a:lvl1pPr>
              <a:defRPr sz="4000" b="0" i="0" cap="none" baseline="0">
                <a:solidFill>
                  <a:schemeClr val="bg1"/>
                </a:solidFill>
                <a:latin typeface="Stag Medium" panose="02000603060000020004" pitchFamily="50" charset="0"/>
              </a:defRPr>
            </a:lvl1pPr>
          </a:lstStyle>
          <a:p>
            <a:r>
              <a:rPr lang="en-US" dirty="0"/>
              <a:t>Click to edit master title style</a:t>
            </a:r>
          </a:p>
        </p:txBody>
      </p:sp>
      <p:sp>
        <p:nvSpPr>
          <p:cNvPr id="10" name="Freeform 3" descr="A black and white logo&#10;&#10;AI-generated content may be incorrect.">
            <a:extLst>
              <a:ext uri="{FF2B5EF4-FFF2-40B4-BE49-F238E27FC236}">
                <a16:creationId xmlns:a16="http://schemas.microsoft.com/office/drawing/2014/main" id="{270EDBF1-C207-C2C2-D908-D5B5626E968B}"/>
              </a:ext>
            </a:extLst>
          </p:cNvPr>
          <p:cNvSpPr/>
          <p:nvPr userDrawn="1"/>
        </p:nvSpPr>
        <p:spPr>
          <a:xfrm>
            <a:off x="2232000" y="-283669"/>
            <a:ext cx="4140000" cy="2325288"/>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2"/>
            <a:stretch>
              <a:fillRect/>
            </a:stretch>
          </a:blipFill>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AU"/>
          </a:p>
        </p:txBody>
      </p:sp>
      <p:pic>
        <p:nvPicPr>
          <p:cNvPr id="11" name="Picture 10" descr="A hand with a fist raised up&#10;&#10;AI-generated content may be incorrect.">
            <a:extLst>
              <a:ext uri="{FF2B5EF4-FFF2-40B4-BE49-F238E27FC236}">
                <a16:creationId xmlns:a16="http://schemas.microsoft.com/office/drawing/2014/main" id="{2F62BAD0-0F8C-738B-5360-E6C9FA58543F}"/>
              </a:ext>
            </a:extLst>
          </p:cNvPr>
          <p:cNvPicPr>
            <a:picLocks noChangeAspect="1"/>
          </p:cNvPicPr>
          <p:nvPr userDrawn="1"/>
        </p:nvPicPr>
        <p:blipFill>
          <a:blip r:embed="rId3"/>
          <a:stretch>
            <a:fillRect/>
          </a:stretch>
        </p:blipFill>
        <p:spPr>
          <a:xfrm>
            <a:off x="2592000" y="1733492"/>
            <a:ext cx="4140000" cy="1872746"/>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descr="A black and white logo&#10;&#10;AI-generated content may be incorrect.">
            <a:extLst>
              <a:ext uri="{FF2B5EF4-FFF2-40B4-BE49-F238E27FC236}">
                <a16:creationId xmlns:a16="http://schemas.microsoft.com/office/drawing/2014/main" id="{32A4F8D5-E243-B007-9BD9-1940D15A99A4}"/>
              </a:ext>
            </a:extLst>
          </p:cNvPr>
          <p:cNvPicPr>
            <a:picLocks noChangeAspect="1"/>
          </p:cNvPicPr>
          <p:nvPr userDrawn="1"/>
        </p:nvPicPr>
        <p:blipFill>
          <a:blip r:embed="rId2"/>
          <a:stretch>
            <a:fillRect/>
          </a:stretch>
        </p:blipFill>
        <p:spPr>
          <a:xfrm>
            <a:off x="6732000" y="4416890"/>
            <a:ext cx="1444619" cy="796637"/>
          </a:xfrm>
          <a:prstGeom prst="rect">
            <a:avLst/>
          </a:prstGeom>
        </p:spPr>
      </p:pic>
      <p:pic>
        <p:nvPicPr>
          <p:cNvPr id="6" name="Picture 5" descr="A hand with a fist raised up&#10;&#10;AI-generated content may be incorrect.">
            <a:extLst>
              <a:ext uri="{FF2B5EF4-FFF2-40B4-BE49-F238E27FC236}">
                <a16:creationId xmlns:a16="http://schemas.microsoft.com/office/drawing/2014/main" id="{784379E0-3798-CE56-DAFB-6D40AB1671FE}"/>
              </a:ext>
            </a:extLst>
          </p:cNvPr>
          <p:cNvPicPr>
            <a:picLocks noChangeAspect="1"/>
          </p:cNvPicPr>
          <p:nvPr userDrawn="1"/>
        </p:nvPicPr>
        <p:blipFill>
          <a:blip r:embed="rId3"/>
          <a:stretch>
            <a:fillRect/>
          </a:stretch>
        </p:blipFill>
        <p:spPr>
          <a:xfrm>
            <a:off x="8314476" y="4697094"/>
            <a:ext cx="706502" cy="318244"/>
          </a:xfrm>
          <a:prstGeom prst="rect">
            <a:avLst/>
          </a:prstGeom>
        </p:spPr>
      </p:pic>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nchor="t"/>
          <a:lstStyle>
            <a:lvl1pPr algn="l">
              <a:defRPr sz="3000" b="1" i="0" cap="none" baseline="0">
                <a:solidFill>
                  <a:schemeClr val="bg1"/>
                </a:solidFill>
                <a:latin typeface="Stag Semibold" panose="02000703060000020004" pitchFamily="50" charset="0"/>
              </a:defRPr>
            </a:lvl1pPr>
          </a:lstStyle>
          <a:p>
            <a:r>
              <a:rPr lang="en-US" dirty="0"/>
              <a:t>Click to edit Master title style</a:t>
            </a:r>
          </a:p>
        </p:txBody>
      </p:sp>
      <p:sp>
        <p:nvSpPr>
          <p:cNvPr id="3" name="Text Placeholder 2"/>
          <p:cNvSpPr>
            <a:spLocks noGrp="1"/>
          </p:cNvSpPr>
          <p:nvPr>
            <p:ph type="body" idx="1"/>
          </p:nvPr>
        </p:nvSpPr>
        <p:spPr>
          <a:xfrm>
            <a:off x="252000" y="3291750"/>
            <a:ext cx="8640000" cy="1125140"/>
          </a:xfrm>
        </p:spPr>
        <p:txBody>
          <a:bodyPr anchor="ctr"/>
          <a:lstStyle>
            <a:lvl1pPr marL="0" indent="0" algn="l">
              <a:buNone/>
              <a:defRPr sz="1500" b="1" i="0" cap="none" baseline="0">
                <a:solidFill>
                  <a:schemeClr val="bg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Footer Placeholder 3">
            <a:extLst>
              <a:ext uri="{FF2B5EF4-FFF2-40B4-BE49-F238E27FC236}">
                <a16:creationId xmlns:a16="http://schemas.microsoft.com/office/drawing/2014/main" id="{03A6D417-94FA-60B8-7325-82B1CC677B33}"/>
              </a:ext>
            </a:extLst>
          </p:cNvPr>
          <p:cNvSpPr>
            <a:spLocks noGrp="1"/>
          </p:cNvSpPr>
          <p:nvPr>
            <p:ph type="ftr" sz="quarter" idx="10"/>
          </p:nvPr>
        </p:nvSpPr>
        <p:spPr>
          <a:xfrm>
            <a:off x="252000" y="4629944"/>
            <a:ext cx="3086100" cy="274637"/>
          </a:xfrm>
        </p:spPr>
        <p:txBody>
          <a:bodyPr/>
          <a:lstStyle>
            <a:lvl1pPr algn="l">
              <a:defRPr baseline="0">
                <a:solidFill>
                  <a:schemeClr val="bg1"/>
                </a:solidFill>
                <a:latin typeface="Helvetica" pitchFamily="2" charset="0"/>
              </a:defRPr>
            </a:lvl1pPr>
          </a:lstStyle>
          <a:p>
            <a:pPr algn="l"/>
            <a:endParaRPr lang="en-AU"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baseline="0">
                <a:solidFill>
                  <a:schemeClr val="bg1"/>
                </a:solidFill>
              </a:defRPr>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strike="dblStrike" cap="none" baseline="0">
                <a:solidFill>
                  <a:schemeClr val="tx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baseline="0">
                <a:solidFill>
                  <a:schemeClr val="tx1"/>
                </a:solidFill>
              </a:defRPr>
            </a:lvl1pPr>
            <a:lvl2pPr>
              <a:defRPr sz="2100" baseline="0">
                <a:solidFill>
                  <a:schemeClr val="tx1"/>
                </a:solidFill>
              </a:defRPr>
            </a:lvl2pPr>
            <a:lvl3pPr>
              <a:defRPr sz="1800" baseline="0">
                <a:solidFill>
                  <a:schemeClr val="tx1"/>
                </a:solidFill>
              </a:defRPr>
            </a:lvl3pPr>
            <a:lvl4pPr>
              <a:defRPr sz="1500" baseline="0">
                <a:solidFill>
                  <a:schemeClr val="tx1"/>
                </a:solidFill>
              </a:defRPr>
            </a:lvl4pPr>
            <a:lvl5pPr>
              <a:defRPr sz="1500" baseline="0">
                <a:solidFill>
                  <a:schemeClr val="tx1"/>
                </a:solidFill>
              </a:defRPr>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0895647"/>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cap="none" baseline="0">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Footer Placeholder 3">
            <a:extLst>
              <a:ext uri="{FF2B5EF4-FFF2-40B4-BE49-F238E27FC236}">
                <a16:creationId xmlns:a16="http://schemas.microsoft.com/office/drawing/2014/main" id="{3093270E-0C63-7AC9-B03A-19302E5A04E1}"/>
              </a:ext>
            </a:extLst>
          </p:cNvPr>
          <p:cNvSpPr>
            <a:spLocks noGrp="1"/>
          </p:cNvSpPr>
          <p:nvPr>
            <p:ph idx="3" sz="quarter" type="ftr"/>
          </p:nvPr>
        </p:nvSpPr>
        <p:spPr>
          <a:xfrm>
            <a:off x="3028950" y="4767263"/>
            <a:ext cx="3086100" cy="274637"/>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en-AU"/>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bg1"/>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bg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bg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bg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bg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bg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5.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78469" y="3831750"/>
            <a:ext cx="7772400" cy="1102519"/>
          </a:xfrm>
        </p:spPr>
        <p:txBody>
          <a:bodyPr/>
          <a:lstStyle/>
          <a:p>
            <a:pPr lvl="0" indent="0" marL="0">
              <a:buNone/>
            </a:pPr>
            <a:r>
              <a:rPr/>
              <a:t>Inflation, Cost of Living, and Real Wages</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Inflation, Cost of Living, and Real Wages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Overall Inflation Impact</a:t>
            </a:r>
          </a:p>
        </p:txBody>
      </p:sp>
      <p:pic>
        <p:nvPicPr>
          <p:cNvPr descr="delegates-forum-vic-2026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Bread</a:t>
            </a:r>
          </a:p>
        </p:txBody>
      </p:sp>
      <p:pic>
        <p:nvPicPr>
          <p:cNvPr descr="delegates-forum-vic-2026_files/figure-pptx/unnamed-chunk-2-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Milk</a:t>
            </a:r>
          </a:p>
        </p:txBody>
      </p:sp>
      <p:pic>
        <p:nvPicPr>
          <p:cNvPr descr="delegates-forum-vic-2026_files/figure-pptx/unnamed-chunk-3-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Gas</a:t>
            </a:r>
          </a:p>
        </p:txBody>
      </p:sp>
      <p:pic>
        <p:nvPicPr>
          <p:cNvPr descr="delegates-forum-vic-2026_files/figure-pptx/unnamed-chunk-4-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Electricity</a:t>
            </a:r>
          </a:p>
        </p:txBody>
      </p:sp>
      <p:pic>
        <p:nvPicPr>
          <p:cNvPr descr="delegates-forum-vic-2026_files/figure-pptx/unnamed-chunk-5-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Property Rates</a:t>
            </a:r>
          </a:p>
        </p:txBody>
      </p:sp>
      <p:pic>
        <p:nvPicPr>
          <p:cNvPr descr="delegates-forum-vic-2026_files/figure-pptx/unnamed-chunk-6-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Rents</a:t>
            </a:r>
          </a:p>
        </p:txBody>
      </p:sp>
      <p:pic>
        <p:nvPicPr>
          <p:cNvPr descr="delegates-forum-vic-2026_files/figure-pptx/unnamed-chunk-7-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Water</a:t>
            </a:r>
          </a:p>
        </p:txBody>
      </p:sp>
      <p:pic>
        <p:nvPicPr>
          <p:cNvPr descr="delegates-forum-vic-2026_files/figure-pptx/unnamed-chunk-8-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Food and Non-alcoholic Beverages</a:t>
            </a:r>
          </a:p>
        </p:txBody>
      </p:sp>
      <p:pic>
        <p:nvPicPr>
          <p:cNvPr descr="delegates-forum-vic-2026_files/figure-pptx/unnamed-chunk-9-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Housing - Including Mortgages</a:t>
            </a:r>
          </a:p>
        </p:txBody>
      </p:sp>
      <p:pic>
        <p:nvPicPr>
          <p:cNvPr descr="delegates-forum-vic-2026_files/figure-pptx/unnamed-chunk-10-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Summary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2023</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33.6%</a:t>
                      </a:r>
                    </a:p>
                  </a:txBody>
                </a:tc>
              </a:tr>
              <a:tr h="0">
                <a:tc>
                  <a:txBody>
                    <a:bodyPr/>
                    <a:lstStyle/>
                    <a:p>
                      <a:pPr lvl="0" indent="0" marL="0">
                        <a:buNone/>
                      </a:pPr>
                      <a:r>
                        <a:rPr/>
                        <a:t>Housing</a:t>
                      </a:r>
                    </a:p>
                  </a:txBody>
                </a:tc>
                <a:tc>
                  <a:txBody>
                    <a:bodyPr/>
                    <a:lstStyle/>
                    <a:p>
                      <a:pPr lvl="0" indent="0" marL="0">
                        <a:buNone/>
                      </a:pPr>
                      <a:r>
                        <a:rPr/>
                        <a:t>18.4%</a:t>
                      </a:r>
                    </a:p>
                  </a:txBody>
                </a:tc>
              </a:tr>
              <a:tr h="0">
                <a:tc>
                  <a:txBody>
                    <a:bodyPr/>
                    <a:lstStyle/>
                    <a:p>
                      <a:pPr lvl="0" indent="0" marL="0">
                        <a:buNone/>
                      </a:pPr>
                      <a:r>
                        <a:rPr/>
                        <a:t>Alcohol and tobacco</a:t>
                      </a:r>
                    </a:p>
                  </a:txBody>
                </a:tc>
                <a:tc>
                  <a:txBody>
                    <a:bodyPr/>
                    <a:lstStyle/>
                    <a:p>
                      <a:pPr lvl="0" indent="0" marL="0">
                        <a:buNone/>
                      </a:pPr>
                      <a:r>
                        <a:rPr/>
                        <a:t>17.9%</a:t>
                      </a:r>
                    </a:p>
                  </a:txBody>
                </a:tc>
              </a:tr>
              <a:tr h="0">
                <a:tc>
                  <a:txBody>
                    <a:bodyPr/>
                    <a:lstStyle/>
                    <a:p>
                      <a:pPr lvl="0" indent="0" marL="0">
                        <a:buNone/>
                      </a:pPr>
                      <a:r>
                        <a:rPr/>
                        <a:t>Education</a:t>
                      </a:r>
                    </a:p>
                  </a:txBody>
                </a:tc>
                <a:tc>
                  <a:txBody>
                    <a:bodyPr/>
                    <a:lstStyle/>
                    <a:p>
                      <a:pPr lvl="0" indent="0" marL="0">
                        <a:buNone/>
                      </a:pPr>
                      <a:r>
                        <a:rPr/>
                        <a:t>15.0%</a:t>
                      </a:r>
                    </a:p>
                  </a:txBody>
                </a:tc>
              </a:tr>
              <a:tr h="0">
                <a:tc>
                  <a:txBody>
                    <a:bodyPr/>
                    <a:lstStyle/>
                    <a:p>
                      <a:pPr lvl="0" indent="0" marL="0">
                        <a:buNone/>
                      </a:pPr>
                      <a:r>
                        <a:rPr/>
                        <a:t>All groups</a:t>
                      </a:r>
                    </a:p>
                  </a:txBody>
                </a:tc>
                <a:tc>
                  <a:txBody>
                    <a:bodyPr/>
                    <a:lstStyle/>
                    <a:p>
                      <a:pPr lvl="0" indent="0" marL="0">
                        <a:buNone/>
                      </a:pPr>
                      <a:r>
                        <a:rPr/>
                        <a:t>13.0%</a:t>
                      </a:r>
                    </a:p>
                  </a:txBody>
                </a:tc>
              </a:tr>
              <a:tr h="0">
                <a:tc>
                  <a:txBody>
                    <a:bodyPr/>
                    <a:lstStyle/>
                    <a:p>
                      <a:pPr lvl="0" indent="0" marL="0">
                        <a:buNone/>
                      </a:pPr>
                      <a:r>
                        <a:rPr/>
                        <a:t>Health</a:t>
                      </a:r>
                    </a:p>
                  </a:txBody>
                </a:tc>
                <a:tc>
                  <a:txBody>
                    <a:bodyPr/>
                    <a:lstStyle/>
                    <a:p>
                      <a:pPr lvl="0" indent="0" marL="0">
                        <a:buNone/>
                      </a:pPr>
                      <a:r>
                        <a:rPr/>
                        <a:t>12.5%</a:t>
                      </a:r>
                    </a:p>
                  </a:txBody>
                </a:tc>
              </a:tr>
              <a:tr h="0">
                <a:tc>
                  <a:txBody>
                    <a:bodyPr/>
                    <a:lstStyle/>
                    <a:p>
                      <a:pPr lvl="0" indent="0" marL="0">
                        <a:buNone/>
                      </a:pPr>
                      <a:r>
                        <a:rPr/>
                        <a:t>Wages</a:t>
                      </a:r>
                    </a:p>
                  </a:txBody>
                </a:tc>
                <a:tc>
                  <a:txBody>
                    <a:bodyPr/>
                    <a:lstStyle/>
                    <a:p>
                      <a:pPr lvl="0" indent="0" marL="0">
                        <a:buNone/>
                      </a:pPr>
                      <a:r>
                        <a:rPr/>
                        <a:t>11.0%</a:t>
                      </a:r>
                    </a:p>
                  </a:txBody>
                </a:tc>
              </a:tr>
              <a:tr h="0">
                <a:tc>
                  <a:txBody>
                    <a:bodyPr/>
                    <a:lstStyle/>
                    <a:p>
                      <a:pPr lvl="0" indent="0" marL="0">
                        <a:buNone/>
                      </a:pPr>
                      <a:r>
                        <a:rPr/>
                        <a:t>Food and non-alcoholic beverages</a:t>
                      </a:r>
                    </a:p>
                  </a:txBody>
                </a:tc>
                <a:tc>
                  <a:txBody>
                    <a:bodyPr/>
                    <a:lstStyle/>
                    <a:p>
                      <a:pPr lvl="0" indent="0" marL="0">
                        <a:buNone/>
                      </a:pPr>
                      <a:r>
                        <a:rPr/>
                        <a:t>10.5%</a:t>
                      </a:r>
                    </a:p>
                  </a:txBody>
                </a:tc>
              </a:tr>
              <a:tr h="0">
                <a:tc>
                  <a:txBody>
                    <a:bodyPr/>
                    <a:lstStyle/>
                    <a:p>
                      <a:pPr lvl="0" indent="0" marL="0">
                        <a:buNone/>
                      </a:pPr>
                      <a:r>
                        <a:rPr/>
                        <a:t>Clothing and footwear</a:t>
                      </a:r>
                    </a:p>
                  </a:txBody>
                </a:tc>
                <a:tc>
                  <a:txBody>
                    <a:bodyPr/>
                    <a:lstStyle/>
                    <a:p>
                      <a:pPr lvl="0" indent="0" marL="0">
                        <a:buNone/>
                      </a:pPr>
                      <a:r>
                        <a:rPr/>
                        <a:t>7.7%</a:t>
                      </a:r>
                    </a:p>
                  </a:txBody>
                </a:tc>
              </a:tr>
              <a:tr h="0">
                <a:tc>
                  <a:txBody>
                    <a:bodyPr/>
                    <a:lstStyle/>
                    <a:p>
                      <a:pPr lvl="0" indent="0" marL="0">
                        <a:buNone/>
                      </a:pPr>
                      <a:r>
                        <a:rPr/>
                        <a:t>Recreation and culture</a:t>
                      </a:r>
                    </a:p>
                  </a:txBody>
                </a:tc>
                <a:tc>
                  <a:txBody>
                    <a:bodyPr/>
                    <a:lstStyle/>
                    <a:p>
                      <a:pPr lvl="0" indent="0" marL="0">
                        <a:buNone/>
                      </a:pPr>
                      <a:r>
                        <a:rPr/>
                        <a:t>5.6%</a:t>
                      </a:r>
                    </a:p>
                  </a:txBody>
                </a:tc>
              </a:tr>
              <a:tr h="0">
                <a:tc>
                  <a:txBody>
                    <a:bodyPr/>
                    <a:lstStyle/>
                    <a:p>
                      <a:pPr lvl="0" indent="0" marL="0">
                        <a:buNone/>
                      </a:pPr>
                      <a:r>
                        <a:rPr/>
                        <a:t>Transport</a:t>
                      </a:r>
                    </a:p>
                  </a:txBody>
                </a:tc>
                <a:tc>
                  <a:txBody>
                    <a:bodyPr/>
                    <a:lstStyle/>
                    <a:p>
                      <a:pPr lvl="0" indent="0" marL="0">
                        <a:buNone/>
                      </a:pPr>
                      <a:r>
                        <a:rPr/>
                        <a:t>5.3%</a:t>
                      </a:r>
                    </a:p>
                  </a:txBody>
                </a:tc>
              </a:tr>
              <a:tr h="0">
                <a:tc>
                  <a:txBody>
                    <a:bodyPr/>
                    <a:lstStyle/>
                    <a:p>
                      <a:pPr lvl="0" indent="0" marL="0">
                        <a:buNone/>
                      </a:pPr>
                      <a:r>
                        <a:rPr/>
                        <a:t>Communication</a:t>
                      </a:r>
                    </a:p>
                  </a:txBody>
                </a:tc>
                <a:tc>
                  <a:txBody>
                    <a:bodyPr/>
                    <a:lstStyle/>
                    <a:p>
                      <a:pPr lvl="0" indent="0" marL="0">
                        <a:buNone/>
                      </a:pPr>
                      <a:r>
                        <a:rPr/>
                        <a:t>3.3%</a:t>
                      </a:r>
                    </a:p>
                  </a:txBody>
                </a:tc>
              </a:tr>
              <a:tr h="0">
                <a:tc>
                  <a:txBody>
                    <a:bodyPr/>
                    <a:lstStyle/>
                    <a:p>
                      <a:pPr lvl="0" indent="0" marL="0">
                        <a:buNone/>
                      </a:pPr>
                      <a:r>
                        <a:rPr/>
                        <a:t>Furnishings, household equipment and services</a:t>
                      </a:r>
                    </a:p>
                  </a:txBody>
                </a:tc>
                <a:tc>
                  <a:txBody>
                    <a:bodyPr/>
                    <a:lstStyle/>
                    <a:p>
                      <a:pPr lvl="0" indent="0" marL="0">
                        <a:buNone/>
                      </a:pPr>
                      <a:r>
                        <a:rPr/>
                        <a:t>2.7%</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and Wages</a:t>
            </a:r>
          </a:p>
        </p:txBody>
      </p:sp>
      <p:pic>
        <p:nvPicPr>
          <p:cNvPr descr="delegates-forum-vic-2026_files/figure-pptx/unnamed-chunk-1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Cost of Living and Wages</a:t>
            </a:r>
          </a:p>
        </p:txBody>
      </p:sp>
      <p:pic>
        <p:nvPicPr>
          <p:cNvPr descr="delegates-forum-vic-2026_files/figure-pptx/unnamed-chunk-15-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Arial</vt:lpstr>
      <vt:lpstr>Calibri</vt:lpstr>
      <vt:lpstr>Helvetica</vt:lpstr>
      <vt:lpstr>Stag</vt:lpstr>
      <vt:lpstr>Stag Medium</vt:lpstr>
      <vt:lpstr>Stag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Inflation, Cost of Living, and Real Wages</dc:title>
  <dc:creator>Hamish Gamble</dc:creator>
  <cp:keywords/>
  <dcterms:created xsi:type="dcterms:W3CDTF">2026-06-09T06:02:21Z</dcterms:created>
  <dcterms:modified xsi:type="dcterms:W3CDTF">2026-06-09T06:02:21Z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ditor">
    <vt:lpwstr>visual</vt:lpwstr>
  </property>
  <property fmtid="{D5CDD505-2E9C-101B-9397-08002B2CF9AE}" pid="8" name="engines">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subtitle">
    <vt:lpwstr>Victorian Delegates Training Day</vt:lpwstr>
  </property>
  <property fmtid="{D5CDD505-2E9C-101B-9397-08002B2CF9AE}" pid="15" name="toc-title">
    <vt:lpwstr>Table of contents</vt:lpwstr>
  </property>
</Properties>
</file>