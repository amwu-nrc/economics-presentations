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notesMaster" Target="notesMasters/notesMaster1.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Context</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 Last weeks unemployment figures showed that unemployment unexpectedly had increased to 4.2%. It would be cold comfort for those who find themselves recently unemployed that they’re doing their part to combat inflation and keep wages down!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possibly the most misunderstood economic indicator, but simultaneously one of the most spoken about. The newly elected government has set its focus on productivity, and productivity growth, and has got the Productivity Commission in on the action.</a:t>
            </a:r>
          </a:p>
          <a:p>
            <a:pPr lvl="0" indent="0" marL="0">
              <a:buNone/>
            </a:pPr>
          </a:p>
          <a:p>
            <a:pPr lvl="0" indent="0" marL="0">
              <a:buNone/>
            </a:pPr>
            <a:r>
              <a:rPr/>
              <a:t>The Productivity Commission by the way, should be seen as a complete joke. It was created by the Howard government in the 1990s, and sits within the Treasury department.</a:t>
            </a:r>
          </a:p>
          <a:p>
            <a:pPr lvl="0" indent="0" marL="0">
              <a:buNone/>
            </a:pPr>
          </a:p>
          <a:p>
            <a:pPr lvl="0" indent="0" marL="0">
              <a:buNone/>
            </a:pPr>
            <a:r>
              <a:rPr/>
              <a:t>In a FWC hearing in 2025, the chief economist of the Australian Chamber of Commerce and Industry (also a joke) was asked “what factors drove productivity”. He answered that “the Productivity Commission was currently examining those factors”. 35 years since their establishment, and the Productivity Commission is still examining what productivity even is!!!</a:t>
            </a:r>
          </a:p>
          <a:p>
            <a:pPr lvl="0" indent="0" marL="0">
              <a:buNone/>
            </a:pPr>
          </a:p>
          <a:p>
            <a:pPr lvl="0" indent="0" marL="0">
              <a:buNone/>
            </a:pPr>
            <a:r>
              <a:rPr/>
              <a:t>As an example of how productivity is misunderstood, here’s a quote from the Australian Constructors Association (an industry group):</a:t>
            </a:r>
          </a:p>
          <a:p>
            <a:pPr lvl="0" indent="0" marL="0">
              <a:buNone/>
            </a:pPr>
          </a:p>
          <a:p>
            <a:pPr lvl="0" indent="0" marL="1270000">
              <a:buNone/>
            </a:pPr>
            <a:r>
              <a:rPr sz="2000"/>
              <a:t>If we stay stuck on the current course, our living standards will go backward, with Australians working longer hours for less money.</a:t>
            </a:r>
          </a:p>
          <a:p>
            <a:pPr lvl="0" indent="0" marL="0">
              <a:buNone/>
            </a:pPr>
          </a:p>
          <a:p>
            <a:pPr lvl="0" indent="0" marL="0">
              <a:buNone/>
            </a:pPr>
            <a:r>
              <a:rPr/>
              <a:t>Productivity has nothing to do with wages - and working longer hours </a:t>
            </a:r>
            <a:r>
              <a:rPr b="1"/>
              <a:t>contributes</a:t>
            </a:r>
            <a:r>
              <a:rPr/>
              <a:t> to decreasing productivity, not the other way around!!</a:t>
            </a:r>
          </a:p>
          <a:p>
            <a:pPr lvl="0" indent="0" marL="0">
              <a:buNone/>
            </a:pPr>
          </a:p>
          <a:p>
            <a:pPr lvl="0" indent="0" marL="0">
              <a:buNone/>
            </a:pPr>
            <a:r>
              <a:rPr/>
              <a:t>As an aside, one of the ways to increase productivity in the construction industry would be to reform the apprentice system, pay higher wages, and encourage more people to become skilled tradespeople.</a:t>
            </a:r>
          </a:p>
          <a:p>
            <a:pPr lvl="0" indent="0" marL="0">
              <a:buNone/>
            </a:pPr>
          </a:p>
          <a:p>
            <a:pPr lvl="0" indent="0" marL="0">
              <a:buNone/>
            </a:pPr>
            <a:r>
              <a:rPr/>
              <a:t>Open the room to discussion on the dot points</a:t>
            </a:r>
          </a:p>
          <a:p>
            <a:pPr lvl="0" indent="0" marL="0">
              <a:buNone/>
            </a:pPr>
          </a:p>
          <a:p>
            <a:pPr lvl="0" indent="0" marL="0">
              <a:buNone/>
            </a:pPr>
            <a:r>
              <a:rPr/>
              <a:t>Productivity is about quantities, and not about costs. Its the rate at which we produce goods or services per unit of input. How many workers does it take to make a widget?</a:t>
            </a:r>
          </a:p>
          <a:p>
            <a:pPr lvl="0" indent="0" marL="0">
              <a:buNone/>
            </a:pPr>
          </a:p>
          <a:p>
            <a:pPr lvl="0" indent="0" marL="0">
              <a:buNone/>
            </a:pPr>
            <a:r>
              <a:rPr/>
              <a:t>Productivity is also about technological progress. If a new technology enables the production of the same number of goods in fewer man-hours, that increases productivity. But these are the decisions of management, not the decisions of workers.</a:t>
            </a:r>
          </a:p>
          <a:p>
            <a:pPr lvl="0" indent="0" marL="0">
              <a:buNone/>
            </a:pPr>
          </a:p>
          <a:p>
            <a:pPr lvl="0" indent="0" marL="0">
              <a:buNone/>
            </a:pPr>
            <a:r>
              <a:rPr/>
              <a:t>Measuring productivity is really hard. Output per worker-hour in industries which make a single output (like a car) is straightforward. But what about the interaction between capital and worker? How can you measure the output per capital-worker-hour? What does that even mean?</a:t>
            </a:r>
          </a:p>
          <a:p>
            <a:pPr lvl="0" indent="0" marL="0">
              <a:buNone/>
            </a:pPr>
          </a:p>
          <a:p>
            <a:pPr lvl="0" indent="0" marL="0">
              <a:buNone/>
            </a:pPr>
            <a:r>
              <a:rPr/>
              <a:t>Speaking of the Productivity Commission, their report into productivity identified that estimates of productivity are constantly being revised - sometimes by 0.5 percentage points or more. The June quarter estimate of productivity growth was 0.5%. There is a huge potential for error - there’s a big difference between 0%, 0.5%, and 1.0%.</a:t>
            </a:r>
          </a:p>
          <a:p>
            <a:pPr lvl="0" indent="0" marL="0">
              <a:buNone/>
            </a:pPr>
          </a:p>
          <a:p>
            <a:pPr lvl="0" indent="0" marL="0">
              <a:buNone/>
            </a:pPr>
            <a:r>
              <a:rPr/>
              <a:t>Estimates of productivity in non-market sectors like education, or health care, are even more ridiculous. What is the output you’re measuring? Number of students graduating? Number of patients discharged? If that’s the case, productivity would go up by reducing the number of teachers or the number of nurses.</a:t>
            </a:r>
          </a:p>
          <a:p>
            <a:pPr lvl="0" indent="0" marL="0">
              <a:buNone/>
            </a:pPr>
          </a:p>
          <a:p>
            <a:pPr lvl="0" indent="0" marL="0">
              <a:buNone/>
            </a:pPr>
            <a:r>
              <a:rPr/>
              <a:t>Finally, real wages and productivity decoupled long ago. Increased productivity no longer translates with increases in real wages. That means that private business is getting more output per unit of input, but they are not passing that on to the workers who actually supply their labour. Instead, productivity growth contributes to increasing worker exploitation through increased profit margins. How that profit is spent is then up to the capitalist, not the worker.</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youtu.be/mt2bVFkkMmQ"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cdRCDaQrHJ0"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Hot Topics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Hot Topics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BREAKING NEWS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Inflation Tumbles!</a:t>
            </a:r>
          </a:p>
        </p:txBody>
      </p:sp>
      <p:sp>
        <p:nvSpPr>
          <p:cNvPr id="3" name="Content Placeholder 2"/>
          <p:cNvSpPr>
            <a:spLocks noGrp="1"/>
          </p:cNvSpPr>
          <p:nvPr>
            <p:ph idx="1"/>
          </p:nvPr>
        </p:nvSpPr>
        <p:spPr/>
        <p:txBody>
          <a:bodyPr/>
          <a:lstStyle/>
          <a:p>
            <a:pPr lvl="0" indent="0" marL="0">
              <a:buNone/>
            </a:pPr>
            <a:r>
              <a:rPr>
                <a:hlinkClick r:id="rId2"/>
              </a:rPr>
              <a:t>https://youtu.be/mt2bVFkkMmQ</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Inflation: Discussion</a:t>
            </a:r>
          </a:p>
        </p:txBody>
      </p:sp>
      <p:sp>
        <p:nvSpPr>
          <p:cNvPr id="3" name="Content Placeholder 2"/>
          <p:cNvSpPr>
            <a:spLocks noGrp="1"/>
          </p:cNvSpPr>
          <p:nvPr>
            <p:ph idx="1"/>
          </p:nvPr>
        </p:nvSpPr>
        <p:spPr/>
        <p:txBody>
          <a:bodyPr/>
          <a:lstStyle/>
          <a:p>
            <a:pPr lvl="0"/>
            <a:r>
              <a:rPr/>
              <a:t>Why do economists care about inflation?</a:t>
            </a:r>
          </a:p>
          <a:p>
            <a:pPr lvl="0"/>
            <a:r>
              <a:rPr/>
              <a:t>What is inflation measuring?</a:t>
            </a:r>
          </a:p>
          <a:p>
            <a:pPr lvl="0"/>
            <a:r>
              <a:rPr/>
              <a:t>What does a decrease in inflation mean?</a:t>
            </a:r>
          </a:p>
          <a:p>
            <a:pPr lvl="0"/>
            <a:r>
              <a:rPr/>
              <a:t>How does the video match your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Productivity Disaster!</a:t>
            </a:r>
          </a:p>
        </p:txBody>
      </p:sp>
      <p:sp>
        <p:nvSpPr>
          <p:cNvPr id="3" name="Content Placeholder 2"/>
          <p:cNvSpPr>
            <a:spLocks noGrp="1"/>
          </p:cNvSpPr>
          <p:nvPr>
            <p:ph idx="1"/>
          </p:nvPr>
        </p:nvSpPr>
        <p:spPr/>
        <p:txBody>
          <a:bodyPr/>
          <a:lstStyle/>
          <a:p>
            <a:pPr lvl="0" indent="0" marL="0">
              <a:buNone/>
            </a:pPr>
            <a:r>
              <a:rPr>
                <a:hlinkClick r:id="rId2"/>
              </a:rPr>
              <a:t>https://www.youtube.com/watch?v=cdRCDaQrHJ0</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Productivity: Discussion</a:t>
            </a:r>
          </a:p>
        </p:txBody>
      </p:sp>
      <p:sp>
        <p:nvSpPr>
          <p:cNvPr id="3" name="Content Placeholder 2"/>
          <p:cNvSpPr>
            <a:spLocks noGrp="1"/>
          </p:cNvSpPr>
          <p:nvPr>
            <p:ph idx="1"/>
          </p:nvPr>
        </p:nvSpPr>
        <p:spPr/>
        <p:txBody>
          <a:bodyPr/>
          <a:lstStyle/>
          <a:p>
            <a:pPr lvl="0"/>
            <a:r>
              <a:rPr/>
              <a:t>Why do economists care about productivity?</a:t>
            </a:r>
          </a:p>
          <a:p>
            <a:pPr lvl="0"/>
            <a:r>
              <a:rPr/>
              <a:t>What is productivity measuring?</a:t>
            </a:r>
          </a:p>
          <a:p>
            <a:pPr lvl="0"/>
            <a:r>
              <a:rPr/>
              <a:t>Who benefits from increased productivity?</a:t>
            </a:r>
          </a:p>
          <a:p>
            <a:pPr lvl="0"/>
            <a:r>
              <a:rPr/>
              <a:t>What factors influence how productive you feel at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Hot Topics</dc:title>
  <dc:creator/>
  <cp:keywords/>
  <dcterms:created xsi:type="dcterms:W3CDTF">2025-12-11T02:45:29Z</dcterms:created>
  <dcterms:modified xsi:type="dcterms:W3CDTF">2025-12-11T02:45:29Z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biblio-config">
    <vt:lpwstr>True</vt:lpwstr>
  </property>
  <property fmtid="{D5CDD505-2E9C-101B-9397-08002B2CF9AE}" pid="4" name="brand">
    <vt:lpwstr>_extensions/amwu-nrc/amwu-brand/brand.yml</vt:lpwstr>
  </property>
  <property fmtid="{D5CDD505-2E9C-101B-9397-08002B2CF9AE}" pid="5" name="editor">
    <vt:lpwstr>visual</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
  </property>
  <property fmtid="{D5CDD505-2E9C-101B-9397-08002B2CF9AE}" pid="12" name="toc-title">
    <vt:lpwstr>Table of contents</vt:lpwstr>
  </property>
</Properties>
</file>