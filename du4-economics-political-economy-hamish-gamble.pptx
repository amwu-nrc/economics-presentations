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webp" ContentType="image/webp"/>
  <Default Extension="jpg" ContentType="image/jpeg"/>
  <Override PartName="/docProps/app.xml" ContentType="application/vnd.openxmlformats-officedocument.extended-properties+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8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Objects="1">
      <p:cViewPr varScale="1">
        <p:scale>
          <a:sx d="100" n="147"/>
          <a:sy d="100" n="147"/>
        </p:scale>
        <p:origin x="564" y="12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180000" cy="1800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notesMaster" Target="notesMasters/notesMaster1.xml" /><Relationship Id="rId88" Type="http://schemas.openxmlformats.org/officeDocument/2006/relationships/viewProps" Target="viewProps.xml" /><Relationship Id="rId87" Type="http://schemas.openxmlformats.org/officeDocument/2006/relationships/presProps" Target="presProps.xml" /><Relationship Id="rId1" Type="http://schemas.openxmlformats.org/officeDocument/2006/relationships/slideMaster" Target="slideMasters/slideMaster1.xml" /><Relationship Id="rId90" Type="http://schemas.openxmlformats.org/officeDocument/2006/relationships/tableStyles" Target="tableStyles.xml" /><Relationship Id="rId89"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74.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75.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76.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78.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80.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8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Context</a:t>
            </a:r>
          </a:p>
          <a:p>
            <a:pPr lvl="0" indent="0" marL="0">
              <a:buNone/>
            </a:pPr>
          </a:p>
          <a:p>
            <a:pPr lvl="0" indent="0" marL="0">
              <a:buNone/>
            </a:pPr>
            <a:r>
              <a:rPr/>
              <a:t>Inflation, under neo-liberalism has become the single most important economic priority.</a:t>
            </a:r>
          </a:p>
          <a:p>
            <a:pPr lvl="0" indent="0" marL="0">
              <a:buNone/>
            </a:pPr>
          </a:p>
          <a:p>
            <a:pPr lvl="0" indent="0" marL="0">
              <a:buNone/>
            </a:pPr>
            <a:r>
              <a:rPr/>
              <a:t>This coincides with the increased dominance and ‘importance’ of the financial industry and the decline in productive industry like manufacturing.</a:t>
            </a:r>
          </a:p>
          <a:p>
            <a:pPr lvl="0" indent="0" marL="0">
              <a:buNone/>
            </a:pPr>
          </a:p>
          <a:p>
            <a:pPr lvl="0" indent="0" marL="0">
              <a:buNone/>
            </a:pPr>
            <a:r>
              <a:rPr/>
              <a:t>Controlling inflation is More Important than:</a:t>
            </a:r>
          </a:p>
          <a:p>
            <a:pPr lvl="0" indent="0" marL="0">
              <a:buNone/>
            </a:pPr>
          </a:p>
          <a:p>
            <a:pPr lvl="0"/>
            <a:r>
              <a:rPr/>
              <a:t>full employment</a:t>
            </a:r>
          </a:p>
          <a:p>
            <a:pPr lvl="0" indent="0" marL="0">
              <a:buNone/>
            </a:pPr>
          </a:p>
          <a:p>
            <a:pPr lvl="0"/>
            <a:r>
              <a:rPr/>
              <a:t>reducing inequality</a:t>
            </a:r>
          </a:p>
          <a:p>
            <a:pPr lvl="0" indent="0" marL="0">
              <a:buNone/>
            </a:pPr>
          </a:p>
          <a:p>
            <a:pPr lvl="0"/>
            <a:r>
              <a:rPr/>
              <a:t>housing affordability</a:t>
            </a:r>
          </a:p>
          <a:p>
            <a:pPr lvl="0" indent="0" marL="0">
              <a:buNone/>
            </a:pPr>
          </a:p>
          <a:p>
            <a:pPr lvl="0"/>
            <a:r>
              <a:rPr/>
              <a:t>alleviating poverty</a:t>
            </a:r>
          </a:p>
          <a:p>
            <a:pPr lvl="0" indent="0" marL="0">
              <a:buNone/>
            </a:pPr>
          </a:p>
          <a:p>
            <a:pPr lvl="0" indent="0" marL="0">
              <a:buNone/>
            </a:pPr>
            <a:r>
              <a:rPr/>
              <a:t>Instead of full employment, government and institutions now push the “non-accelerating inflation rate of unemployment” which suggests there is a minimum level of unemployment necessary in order to stop wages growth and rising inflation. Of course, we can’t measure the NAIRU, only show that it might exist, if a bunch of assumptions are made about how the economy works. Estimates from data suggest that it falls somewhere between 4 and 5%.</a:t>
            </a:r>
          </a:p>
          <a:p>
            <a:pPr lvl="0" indent="0" marL="0">
              <a:buNone/>
            </a:pPr>
          </a:p>
          <a:p>
            <a:pPr lvl="0" indent="0" marL="0">
              <a:buNone/>
            </a:pPr>
            <a:r>
              <a:rPr/>
              <a:t>This means that it is explicit government policy to keep up-to 5% of the labour force out of work, in order to keep wages and inflation down.</a:t>
            </a:r>
          </a:p>
          <a:p>
            <a:pPr lvl="0" indent="0" marL="0">
              <a:buNone/>
            </a:pPr>
          </a:p>
          <a:p>
            <a:pPr lvl="0" indent="0" marL="0">
              <a:buNone/>
            </a:pPr>
            <a:r>
              <a:rPr/>
              <a:t>Such policy MIGHT be palatable if there was a strong social safety net to support workers who lose their job and are looking for another one. Of course, we don’t even get that, with only the below poverty JobSeeker payment available.</a:t>
            </a:r>
          </a:p>
          <a:p>
            <a:pPr lvl="0" indent="0" marL="0">
              <a:buNone/>
            </a:pPr>
          </a:p>
          <a:p>
            <a:pPr lvl="0" indent="0" marL="0">
              <a:buNone/>
            </a:pPr>
            <a:r>
              <a:rPr/>
              <a:t>But it is still a very inefficient use of the labour power that our economy has access to. Why shouldn’t someone who wants to work not have access to a job? It also means that policy is designed to discipline labour.</a:t>
            </a:r>
          </a:p>
          <a:p>
            <a:pPr lvl="0" indent="0" marL="0">
              <a:buNone/>
            </a:pPr>
          </a:p>
          <a:p>
            <a:pPr lvl="0" indent="0" marL="0">
              <a:buNone/>
            </a:pPr>
            <a:r>
              <a:rPr/>
              <a:t>Which by the way, is why the budget in 2024, by the nominative party of labour, forecast that the plan was to tackle inflation by driving the unemployment rate UP to at least 4.5 percent by June 2025. Last weeks unemployment figures showed that unemployment unexpectedly had increased to 4.2%. It would be cold comfort for those who find themselves recently unemployed that they’re doing their part to combat inflation and keep wages down!</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Productivity is possibly the most misunderstood economic indicator, but simultaneously one of the most spoken about. The newly elected government has set its focus on productivity, and productivity growth, and has got the Productivity Commission in on the action.</a:t>
            </a:r>
          </a:p>
          <a:p>
            <a:pPr lvl="0" indent="0" marL="0">
              <a:buNone/>
            </a:pPr>
          </a:p>
          <a:p>
            <a:pPr lvl="0" indent="0" marL="0">
              <a:buNone/>
            </a:pPr>
            <a:r>
              <a:rPr/>
              <a:t>The Productivity Commission by the way, should be seen as a complete joke. It was created by the Howard government in the 1990s, and sits within the Treasury department.</a:t>
            </a:r>
          </a:p>
          <a:p>
            <a:pPr lvl="0" indent="0" marL="0">
              <a:buNone/>
            </a:pPr>
          </a:p>
          <a:p>
            <a:pPr lvl="0" indent="0" marL="0">
              <a:buNone/>
            </a:pPr>
            <a:r>
              <a:rPr/>
              <a:t>In a FWC hearing in 2025, the chief economist of the Australian Chamber of Commerce and Industry (also a joke) was asked “what factors drove productivity”. He answered that “the Productivity Commission was currently examining those factors”. 35 years since their establishment, and the Productivity Commission is still examining what productivity even is!!!</a:t>
            </a:r>
          </a:p>
          <a:p>
            <a:pPr lvl="0" indent="0" marL="0">
              <a:buNone/>
            </a:pPr>
          </a:p>
          <a:p>
            <a:pPr lvl="0" indent="0" marL="0">
              <a:buNone/>
            </a:pPr>
            <a:r>
              <a:rPr/>
              <a:t>As an example of how productivity is misunderstood, here’s a quote from the Australian Constructors Association (an industry group):</a:t>
            </a:r>
          </a:p>
          <a:p>
            <a:pPr lvl="0" indent="0" marL="0">
              <a:buNone/>
            </a:pPr>
          </a:p>
          <a:p>
            <a:pPr lvl="0" indent="0" marL="1270000">
              <a:buNone/>
            </a:pPr>
            <a:r>
              <a:rPr sz="2000"/>
              <a:t>If we stay stuck on the current course, our living standards will go backward, with Australians working longer hours for less money.</a:t>
            </a:r>
          </a:p>
          <a:p>
            <a:pPr lvl="0" indent="0" marL="0">
              <a:buNone/>
            </a:pPr>
          </a:p>
          <a:p>
            <a:pPr lvl="0" indent="0" marL="0">
              <a:buNone/>
            </a:pPr>
            <a:r>
              <a:rPr/>
              <a:t>Productivity has nothing to do with wages - and working longer hours </a:t>
            </a:r>
            <a:r>
              <a:rPr b="1"/>
              <a:t>contributes</a:t>
            </a:r>
            <a:r>
              <a:rPr/>
              <a:t> to decreasing productivity, not the other way around!!</a:t>
            </a:r>
          </a:p>
          <a:p>
            <a:pPr lvl="0" indent="0" marL="0">
              <a:buNone/>
            </a:pPr>
          </a:p>
          <a:p>
            <a:pPr lvl="0" indent="0" marL="0">
              <a:buNone/>
            </a:pPr>
            <a:r>
              <a:rPr/>
              <a:t>As an aside, one of the ways to increase productivity in the construction industry would be to reform the apprentice system, pay higher wages, and encourage more people to become skilled tradespeople.</a:t>
            </a:r>
          </a:p>
          <a:p>
            <a:pPr lvl="0" indent="0" marL="0">
              <a:buNone/>
            </a:pPr>
          </a:p>
          <a:p>
            <a:pPr lvl="0" indent="0" marL="0">
              <a:buNone/>
            </a:pPr>
            <a:r>
              <a:rPr/>
              <a:t>Open the room to discussion on the dot points</a:t>
            </a:r>
          </a:p>
          <a:p>
            <a:pPr lvl="0" indent="0" marL="0">
              <a:buNone/>
            </a:pPr>
          </a:p>
          <a:p>
            <a:pPr lvl="0" indent="0" marL="0">
              <a:buNone/>
            </a:pPr>
            <a:r>
              <a:rPr/>
              <a:t>Productivity is about quantities, and not about costs. Its the rate at which we produce goods or services per unit of input. How many workers does it take to make a widget?</a:t>
            </a:r>
          </a:p>
          <a:p>
            <a:pPr lvl="0" indent="0" marL="0">
              <a:buNone/>
            </a:pPr>
          </a:p>
          <a:p>
            <a:pPr lvl="0" indent="0" marL="0">
              <a:buNone/>
            </a:pPr>
            <a:r>
              <a:rPr/>
              <a:t>Productivity is also about technological progress. If a new technology enables the production of the same number of goods in fewer man-hours, that increases productivity. But these are the decisions of management, not the decisions of workers.</a:t>
            </a:r>
          </a:p>
          <a:p>
            <a:pPr lvl="0" indent="0" marL="0">
              <a:buNone/>
            </a:pPr>
          </a:p>
          <a:p>
            <a:pPr lvl="0" indent="0" marL="0">
              <a:buNone/>
            </a:pPr>
            <a:r>
              <a:rPr/>
              <a:t>Measuring productivity is really hard. Output per worker-hour in industries which make a single output (like a car) is straightforward. But what about the interaction between capital and worker? How can you measure the output per capital-worker-hour? What does that even mean?</a:t>
            </a:r>
          </a:p>
          <a:p>
            <a:pPr lvl="0" indent="0" marL="0">
              <a:buNone/>
            </a:pPr>
          </a:p>
          <a:p>
            <a:pPr lvl="0" indent="0" marL="0">
              <a:buNone/>
            </a:pPr>
            <a:r>
              <a:rPr/>
              <a:t>Speaking of the Productivity Commission, their report into productivity identified that estimates of productivity are constantly being revised - sometimes by 0.5 percentage points or more. The June quarter estimate of productivity growth was 0.5%. There is a huge potential for error - there’s a big difference between 0%, 0.5%, and 1.0%.</a:t>
            </a:r>
          </a:p>
          <a:p>
            <a:pPr lvl="0" indent="0" marL="0">
              <a:buNone/>
            </a:pPr>
          </a:p>
          <a:p>
            <a:pPr lvl="0" indent="0" marL="0">
              <a:buNone/>
            </a:pPr>
            <a:r>
              <a:rPr/>
              <a:t>Estimates of productivity in non-market sectors like education, or health care, are even more ridiculous. What is the output you’re measuring? Number of students graduating? Number of patients discharged? If that’s the case, productivity would go up by reducing the number of teachers or the number of nurses.</a:t>
            </a:r>
          </a:p>
          <a:p>
            <a:pPr lvl="0" indent="0" marL="0">
              <a:buNone/>
            </a:pPr>
          </a:p>
          <a:p>
            <a:pPr lvl="0" indent="0" marL="0">
              <a:buNone/>
            </a:pPr>
            <a:r>
              <a:rPr/>
              <a:t>Finally, real wages and productivity decoupled long ago. Increased productivity no longer translates with increases in real wages. That means that private business is getting more output per unit of input, but they are not passing that on to the workers who actually supply their labour. Instead, productivity growth contributes to increasing worker exploitation through increased profit margins. How that profit is spent is then up to the capitalist, not the worker.</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We’re going to talk about:</a:t>
            </a:r>
          </a:p>
          <a:p>
            <a:pPr lvl="0" indent="0" marL="0">
              <a:buNone/>
            </a:pPr>
          </a:p>
          <a:p>
            <a:pPr lvl="0"/>
            <a:r>
              <a:rPr/>
              <a:t>inflation</a:t>
            </a:r>
          </a:p>
          <a:p>
            <a:pPr lvl="0" indent="0" marL="0">
              <a:buNone/>
            </a:pPr>
          </a:p>
          <a:p>
            <a:pPr lvl="0"/>
            <a:r>
              <a:rPr/>
              <a:t>why “economic good news” doesn’t necessarily translate to how you feel</a:t>
            </a:r>
          </a:p>
          <a:p>
            <a:pPr lvl="0" indent="0" marL="0">
              <a:buNone/>
            </a:pPr>
          </a:p>
          <a:p>
            <a:pPr lvl="0"/>
            <a:r>
              <a:rPr/>
              <a:t>things your boss will use to justify why you shouldn’t get a pay rise</a:t>
            </a:r>
          </a:p>
          <a:p>
            <a:pPr lvl="0" indent="0" marL="0">
              <a:buNone/>
            </a:pPr>
          </a:p>
          <a:p>
            <a:pPr lvl="0" indent="0" marL="0">
              <a:buNone/>
            </a:pPr>
            <a:r>
              <a:rPr/>
              <a:t>Hopefully give you confidence to talk about economic indicators, by letting you know the tricks that “economists” use.</a:t>
            </a:r>
          </a:p>
          <a:p>
            <a:pPr lvl="0" indent="0" marL="0">
              <a:buNone/>
            </a:pPr>
          </a:p>
          <a:p>
            <a:pPr lvl="0" indent="0" marL="0">
              <a:buNone/>
            </a:pPr>
            <a:r>
              <a:rPr/>
              <a:t>Inflation, under neo-liberalism has become the single most important economic priority.</a:t>
            </a:r>
          </a:p>
          <a:p>
            <a:pPr lvl="0" indent="0" marL="0">
              <a:buNone/>
            </a:pPr>
          </a:p>
          <a:p>
            <a:pPr lvl="0" indent="0" marL="0">
              <a:buNone/>
            </a:pPr>
            <a:r>
              <a:rPr/>
              <a:t>This coincides with the increased dominance and ‘importance’ of the financial industry and the decline in productive industry like manufacturing.</a:t>
            </a:r>
          </a:p>
          <a:p>
            <a:pPr lvl="0" indent="0" marL="0">
              <a:buNone/>
            </a:pPr>
          </a:p>
          <a:p>
            <a:pPr lvl="0" indent="0" marL="0">
              <a:buNone/>
            </a:pPr>
            <a:r>
              <a:rPr/>
              <a:t>Controlling inflation is More Important than:</a:t>
            </a:r>
          </a:p>
          <a:p>
            <a:pPr lvl="0" indent="0" marL="0">
              <a:buNone/>
            </a:pPr>
          </a:p>
          <a:p>
            <a:pPr lvl="0"/>
            <a:r>
              <a:rPr/>
              <a:t>full employment</a:t>
            </a:r>
          </a:p>
          <a:p>
            <a:pPr lvl="0" indent="0" marL="0">
              <a:buNone/>
            </a:pPr>
          </a:p>
          <a:p>
            <a:pPr lvl="0"/>
            <a:r>
              <a:rPr/>
              <a:t>reducing inequality</a:t>
            </a:r>
          </a:p>
          <a:p>
            <a:pPr lvl="0" indent="0" marL="0">
              <a:buNone/>
            </a:pPr>
          </a:p>
          <a:p>
            <a:pPr lvl="0"/>
            <a:r>
              <a:rPr/>
              <a:t>housing affordability</a:t>
            </a:r>
          </a:p>
          <a:p>
            <a:pPr lvl="0" indent="0" marL="0">
              <a:buNone/>
            </a:pPr>
          </a:p>
          <a:p>
            <a:pPr lvl="0"/>
            <a:r>
              <a:rPr/>
              <a:t>alleviating poverty</a:t>
            </a:r>
          </a:p>
          <a:p>
            <a:pPr lvl="0" indent="0" marL="0">
              <a:buNone/>
            </a:pPr>
          </a:p>
          <a:p>
            <a:pPr lvl="0" indent="0" marL="0">
              <a:buNone/>
            </a:pPr>
            <a:r>
              <a:rPr/>
              <a:t>Instead of full employment, government and institutions now push the “non-accelerating inflation rate of unemployment” which suggests there is a minimum level of unemployment necessary in order to stop wages growth and rising inflation. Of course, we can’t measure the NAIRU, only show that it might exist, if a bunch of assumptions are made about how the economy works. Estimates from data suggest that it falls somewhere between 4 and 5%.</a:t>
            </a:r>
          </a:p>
          <a:p>
            <a:pPr lvl="0" indent="0" marL="0">
              <a:buNone/>
            </a:pPr>
          </a:p>
          <a:p>
            <a:pPr lvl="0" indent="0" marL="0">
              <a:buNone/>
            </a:pPr>
            <a:r>
              <a:rPr/>
              <a:t>This means that it is explicit government policy to keep up-to 5% of the labour force out of work, in order to keep wages and inflation down.</a:t>
            </a:r>
          </a:p>
          <a:p>
            <a:pPr lvl="0" indent="0" marL="0">
              <a:buNone/>
            </a:pPr>
          </a:p>
          <a:p>
            <a:pPr lvl="0" indent="0" marL="0">
              <a:buNone/>
            </a:pPr>
            <a:r>
              <a:rPr/>
              <a:t>Such policy MIGHT be palatable if there was a strong social safety net to support workers who lose their job and are looking for another one. Of course, we don’t even get that, with only the below poverty JobSeeker payment available.</a:t>
            </a:r>
          </a:p>
          <a:p>
            <a:pPr lvl="0" indent="0" marL="0">
              <a:buNone/>
            </a:pPr>
          </a:p>
          <a:p>
            <a:pPr lvl="0" indent="0" marL="0">
              <a:buNone/>
            </a:pPr>
            <a:r>
              <a:rPr/>
              <a:t>But it is still a very inefficient use of the labour power that our economy has access to. Why shouldn’t someone who wants to work not have access to a job? It also means that policy is designed to discipline labour.</a:t>
            </a:r>
          </a:p>
          <a:p>
            <a:pPr lvl="0" indent="0" marL="0">
              <a:buNone/>
            </a:pPr>
          </a:p>
          <a:p>
            <a:pPr lvl="0" indent="0" marL="0">
              <a:buNone/>
            </a:pPr>
            <a:r>
              <a:rPr/>
              <a:t>Which by the way, is why the budget in 2024, by the nominative party of labour, forecast that the plan was to tackle inflation by driving the unemployment rate UP to at least 4.5 percent by June 2025</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By their nature, averages are not representative of individuals. Statistical agencies have to make a lot of decisions when calculating price indices, including:</a:t>
            </a:r>
          </a:p>
          <a:p>
            <a:pPr lvl="0" indent="0" marL="0">
              <a:buNone/>
            </a:pPr>
          </a:p>
          <a:p>
            <a:pPr lvl="0"/>
            <a:r>
              <a:rPr/>
              <a:t>What goes into the basket?</a:t>
            </a:r>
          </a:p>
          <a:p>
            <a:pPr lvl="0" indent="0" marL="0">
              <a:buNone/>
            </a:pPr>
          </a:p>
          <a:p>
            <a:pPr lvl="0"/>
            <a:r>
              <a:rPr/>
              <a:t>How should like items be grouped?</a:t>
            </a:r>
          </a:p>
          <a:p>
            <a:pPr lvl="0" indent="0" marL="0">
              <a:buNone/>
            </a:pPr>
          </a:p>
          <a:p>
            <a:pPr lvl="0"/>
            <a:r>
              <a:rPr/>
              <a:t>How should each group be weighted into the overall?</a:t>
            </a:r>
          </a:p>
          <a:p>
            <a:pPr lvl="0" indent="0" marL="0">
              <a:buNone/>
            </a:pPr>
          </a:p>
          <a:p>
            <a:pPr lvl="0"/>
            <a:r>
              <a:rPr/>
              <a:t>How often should the weighting change?</a:t>
            </a:r>
          </a:p>
          <a:p>
            <a:pPr lvl="0" indent="0" marL="0">
              <a:buNone/>
            </a:pPr>
          </a:p>
          <a:p>
            <a:pPr lvl="0" indent="0" marL="0">
              <a:buNone/>
            </a:pPr>
            <a:r>
              <a:rPr/>
              <a:t>Ultimately, the basket of goods and services does not represent the spending or expenditure patterns of any one individual.</a:t>
            </a:r>
          </a:p>
          <a:p>
            <a:pPr lvl="0" indent="0" marL="0">
              <a:buNone/>
            </a:pPr>
          </a:p>
          <a:p>
            <a:pPr lvl="0" indent="0" marL="0">
              <a:buNone/>
            </a:pPr>
            <a:r>
              <a:rPr/>
              <a:t>There will be a disconnect between how the CPI is reported, and how you feel it as an individual.</a:t>
            </a:r>
          </a:p>
          <a:p>
            <a:pPr lvl="0" indent="0" marL="0">
              <a:buNone/>
            </a:pPr>
          </a:p>
          <a:p>
            <a:pPr lvl="0" indent="0" marL="0">
              <a:buNone/>
            </a:pPr>
            <a:r>
              <a:rPr/>
              <a:t>For example, in 2025 the weight of tobacco in the CPI was reduced because tobacco sales fell as fewer people are smoking. That means increases in the price of cigarettes don’t impact on the overall CPI as much. So smokers will feel that prices are increasing faster than the CPI.</a:t>
            </a:r>
          </a:p>
          <a:p>
            <a:pPr lvl="0" indent="0" marL="0">
              <a:buNone/>
            </a:pPr>
          </a:p>
          <a:p>
            <a:pPr lvl="0" indent="0" marL="0">
              <a:buNone/>
            </a:pPr>
            <a:r>
              <a:rPr/>
              <a:t>That doesn’t mean your feelings are wrong, or that you’re spending money ‘incorrectly’. It also means that we should not accept pay rises equal to changes in the CPI.</a:t>
            </a:r>
          </a:p>
          <a:p>
            <a:pPr lvl="0" indent="0" marL="0">
              <a:buNone/>
            </a:pPr>
          </a:p>
          <a:p>
            <a:pPr lvl="0" indent="0" marL="0">
              <a:buNone/>
            </a:pPr>
            <a:r>
              <a:rPr/>
              <a:t>Note that I specified housing as a good/service that is included in the consumer price index. What would you expect that to measure? The cost of housing is measured as the price of a new home (excluding land). Mortgage payments are excluded.</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ABS indexes the CPI such that the 2011/12 financial year = 100. All index numbers are reported relative to this period. That means that an index of 110 in March 2020 would mean that prices have increased by 10% since the 2011/12 financial year.</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Annual Change</a:t>
            </a:r>
          </a:p>
          <a:p>
            <a:pPr lvl="0" indent="0" marL="0">
              <a:buNone/>
            </a:pPr>
          </a:p>
          <a:p>
            <a:pPr lvl="0"/>
            <a:r>
              <a:rPr/>
              <a:t>The </a:t>
            </a:r>
            <a:r>
              <a:rPr i="1"/>
              <a:t>annual change</a:t>
            </a:r>
            <a:r>
              <a:rPr/>
              <a:t> is a measure of the price now compared to the price one year ago.</a:t>
            </a:r>
          </a:p>
          <a:p>
            <a:pPr lvl="0" indent="0" marL="0">
              <a:buNone/>
            </a:pPr>
          </a:p>
          <a:p>
            <a:pPr lvl="0" indent="0" marL="0">
              <a:buNone/>
            </a:pPr>
            <a:r>
              <a:rPr/>
              <a:t>Change from Previous Quarter:</a:t>
            </a:r>
          </a:p>
          <a:p>
            <a:pPr lvl="0" indent="0" marL="0">
              <a:buNone/>
            </a:pPr>
          </a:p>
          <a:p>
            <a:pPr lvl="0"/>
            <a:r>
              <a:rPr/>
              <a:t>The </a:t>
            </a:r>
            <a:r>
              <a:rPr i="1"/>
              <a:t>change from previous quarter</a:t>
            </a:r>
            <a:r>
              <a:rPr/>
              <a:t> is a measure of the price now compared to the price 3 months ago.</a:t>
            </a:r>
          </a:p>
          <a:p>
            <a:pPr lvl="0" indent="0" marL="0">
              <a:buNone/>
            </a:pPr>
          </a:p>
          <a:p>
            <a:pPr lvl="0" indent="0" marL="0">
              <a:buNone/>
            </a:pPr>
            <a:r>
              <a:rPr/>
              <a:t>Example 1</a:t>
            </a:r>
          </a:p>
          <a:p>
            <a:pPr lvl="0" indent="0" marL="0">
              <a:buNone/>
            </a:pPr>
          </a:p>
          <a:p>
            <a:pPr lvl="0"/>
            <a:r>
              <a:rPr/>
              <a:t>An annual change of 7.8% in December 2022 means prices in December 2022 were 7.8% higher than they were in December 2021.</a:t>
            </a:r>
          </a:p>
          <a:p>
            <a:pPr lvl="0" indent="0" marL="0">
              <a:buNone/>
            </a:pPr>
          </a:p>
          <a:p>
            <a:pPr lvl="0" indent="0" marL="0">
              <a:buNone/>
            </a:pPr>
            <a:r>
              <a:rPr/>
              <a:t>Example 2</a:t>
            </a:r>
          </a:p>
          <a:p>
            <a:pPr lvl="0" indent="0" marL="0">
              <a:buNone/>
            </a:pPr>
          </a:p>
          <a:p>
            <a:pPr lvl="0"/>
            <a:r>
              <a:rPr/>
              <a:t>A change from previous quarter of -1.9% in June 2020 means that prices in June 2020 were 1.9% lower than they were in March 2020.</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the % change way of measuring inflation.</a:t>
            </a:r>
          </a:p>
          <a:p>
            <a:pPr lvl="0" indent="0" marL="0">
              <a:buNone/>
            </a:pPr>
          </a:p>
          <a:p>
            <a:pPr lvl="0"/>
            <a:r>
              <a:rPr/>
              <a:t>Inflation goes up when the % change in one period is higher than the last period</a:t>
            </a:r>
          </a:p>
          <a:p>
            <a:pPr lvl="0" indent="0" marL="0">
              <a:buNone/>
            </a:pPr>
          </a:p>
          <a:p>
            <a:pPr lvl="0"/>
            <a:r>
              <a:rPr/>
              <a:t>All the numbers (except for one in 2020) are positive. In fact, since the September quarter of 1948, inflation has only been negative 5 times.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Now looking at the index number approach.</a:t>
            </a:r>
          </a:p>
          <a:p>
            <a:pPr lvl="0" indent="0" marL="0">
              <a:buNone/>
            </a:pPr>
          </a:p>
          <a:p>
            <a:pPr lvl="0"/>
            <a:r>
              <a:rPr/>
              <a:t>Decreasing inflation is usually presented in the media as good news. But because inflation measures the rate of change of a rate of change (i.e. how much the change in prices changed), decreasing inflation just means that prices didn’t increase as fast.</a:t>
            </a:r>
          </a:p>
          <a:p>
            <a:pPr lvl="0" indent="0" marL="0">
              <a:buNone/>
            </a:pPr>
          </a:p>
          <a:p>
            <a:pPr lvl="0"/>
            <a:r>
              <a:rPr/>
              <a:t>The index measure shows you the effect of ‘cumulative’ inflation on prices.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Reported inflation tends to focus on the overall average - but it’s collected at a highly disaggregated level, of 87 different groups.</a:t>
            </a:r>
          </a:p>
          <a:p>
            <a:pPr lvl="0" indent="0" marL="0">
              <a:buNone/>
            </a:pPr>
          </a:p>
          <a:p>
            <a:pPr lvl="0" indent="0" marL="0">
              <a:buNone/>
            </a:pPr>
            <a:r>
              <a:rPr/>
              <a:t>Things that have increased faster than the average since March 2020 include: housing, food, alcohol and tobacco, health, transport, education, and insurance</a:t>
            </a:r>
          </a:p>
          <a:p>
            <a:pPr lvl="0" indent="0" marL="0">
              <a:buNone/>
            </a:pPr>
          </a:p>
          <a:p>
            <a:pPr lvl="0" indent="0" marL="0">
              <a:buNone/>
            </a:pPr>
            <a:r>
              <a:rPr/>
              <a:t>Compared to things which have gone down? Clothing and footwear, and furnishings…</a:t>
            </a:r>
          </a:p>
          <a:p>
            <a:pPr lvl="0" indent="0" marL="0">
              <a:buNone/>
            </a:pPr>
          </a:p>
          <a:p>
            <a:pPr lvl="0" indent="0" marL="0">
              <a:buNone/>
            </a:pPr>
            <a:r>
              <a:rPr/>
              <a:t>Other weird things about inflation - it hasn’t included mortgage repayments (since 1998).</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 mentioned previously, the CPI is not a measure of the cost of living. In fact there is no definitive cost of living measure collected by the ABS but the ABS does collect a living cost index, which looks at different household types expenditure patterns.</a:t>
            </a:r>
          </a:p>
          <a:p>
            <a:pPr lvl="0" indent="0" marL="0">
              <a:buNone/>
            </a:pPr>
          </a:p>
          <a:p>
            <a:pPr lvl="0" indent="0" marL="0">
              <a:buNone/>
            </a:pPr>
            <a:r>
              <a:rPr/>
              <a:t>The living cost index asks “By how much would after tax money incomes need to change to allow households to purchase the same quantity of consumer goods and services that they purchased in the base period?”</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What is relevant to everyone is how well wages are keeping up with increased costs. It isn’t particularly worrisome if the price of everything doubles but your income also doubles.</a:t>
            </a:r>
          </a:p>
          <a:p>
            <a:pPr lvl="0" indent="0" marL="0">
              <a:buNone/>
            </a:pPr>
          </a:p>
          <a:p>
            <a:pPr lvl="0" indent="0" marL="0">
              <a:buNone/>
            </a:pPr>
            <a:r>
              <a:rPr/>
              <a:t>Unfortunately it’s not really that easy to tell if this is happening or not.</a:t>
            </a:r>
          </a:p>
          <a:p>
            <a:pPr lvl="0" indent="0" marL="0">
              <a:buNone/>
            </a:pPr>
          </a:p>
          <a:p>
            <a:pPr lvl="0" indent="0" marL="0">
              <a:buNone/>
            </a:pPr>
            <a:r>
              <a:rPr/>
              <a:t>Does it feel to you that things are more expensive relative to how much your earning?</a:t>
            </a:r>
          </a:p>
          <a:p>
            <a:pPr lvl="0" indent="0" marL="0">
              <a:buNone/>
            </a:pPr>
          </a:p>
          <a:p>
            <a:pPr lvl="0" indent="0" marL="0">
              <a:buNone/>
            </a:pPr>
            <a:r>
              <a:rPr/>
              <a:t>Because the CPI is measured using a basket of goods, which is supposed to represent the ‘average’ consumer, it is guaranteed that your experience is different - because you buy different things in different proportions than the “representative” consumer.</a:t>
            </a:r>
          </a:p>
          <a:p>
            <a:pPr lvl="0" indent="0" marL="0">
              <a:buNone/>
            </a:pPr>
          </a:p>
          <a:p>
            <a:pPr lvl="0" indent="0" marL="0">
              <a:buNone/>
            </a:pPr>
            <a:r>
              <a:rPr/>
              <a:t>But we can look at the “real” value of wages - how far their purchasing power goes. And here we have another trick of the economist. How do you convert “nominal” dollars - how much you earn today (or yesterday) into “real” dollars - how much does that dollar buy you?</a:t>
            </a:r>
          </a:p>
          <a:p>
            <a:pPr lvl="0" indent="0" marL="0">
              <a:buNone/>
            </a:pPr>
          </a:p>
          <a:p>
            <a:pPr lvl="0" indent="0" marL="0">
              <a:buNone/>
            </a:pPr>
            <a:r>
              <a:rPr/>
              <a:t>What would this chart look like if you got a 6% pay rise for the next year, and inflation grew at the RBAs target of 2.5%?</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We’re really far away from </a:t>
            </a:r>
            <a:r>
              <a:rPr b="1" i="1"/>
              <a:t>IMPROVING</a:t>
            </a:r>
            <a:r>
              <a:rPr/>
              <a:t> living standards.</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need to understand productivity - how it’s measured, and how bosses talk about it - because it is simultaneously misunderstood and over-emphasised in the media.</a:t>
            </a:r>
          </a:p>
          <a:p>
            <a:pPr lvl="0" indent="0" marL="0">
              <a:buNone/>
            </a:pPr>
          </a:p>
          <a:p>
            <a:pPr lvl="0" indent="0" marL="0">
              <a:buNone/>
            </a:pPr>
            <a:r>
              <a:rPr/>
              <a:t>The newly elected government has set its focus on productivity, and productivity growth, and has got the Productivity Commission in on the action.</a:t>
            </a:r>
          </a:p>
          <a:p>
            <a:pPr lvl="0" indent="0" marL="0">
              <a:buNone/>
            </a:pPr>
          </a:p>
          <a:p>
            <a:pPr lvl="0" indent="0" marL="0">
              <a:buNone/>
            </a:pPr>
            <a:r>
              <a:rPr/>
              <a:t>The Productivity Commission by the way, should be seen as a complete joke. It was created by the Howard government in the 1990s, and sits within the Treasury department.</a:t>
            </a:r>
          </a:p>
          <a:p>
            <a:pPr lvl="0" indent="0" marL="0">
              <a:buNone/>
            </a:pPr>
          </a:p>
          <a:p>
            <a:pPr lvl="0" indent="0" marL="0">
              <a:buNone/>
            </a:pPr>
            <a:r>
              <a:rPr/>
              <a:t>In a FWC hearing in 2025, the chief economist of the Australian Chamber of Commerce and Industry (also a joke) was asked “what factors drove productivity”. He answered that “the Productivity Commission was currently examining those factors”. 35 years since their establishment, and the Productivity Commission is still examining what productivity even is!!!</a:t>
            </a:r>
          </a:p>
          <a:p>
            <a:pPr lvl="0" indent="0" marL="0">
              <a:buNone/>
            </a:pPr>
          </a:p>
          <a:p>
            <a:pPr lvl="0" indent="0" marL="0">
              <a:buNone/>
            </a:pPr>
            <a:r>
              <a:rPr/>
              <a:t>For example, you could lose output in Agriculture from bad weather destroying a crop. Similarly, you could gain output in Mining because high prices make some difficult deposits worth mining.</a:t>
            </a:r>
          </a:p>
          <a:p>
            <a:pPr lvl="0" indent="0" marL="0">
              <a:buNone/>
            </a:pPr>
          </a:p>
          <a:p>
            <a:pPr lvl="0" indent="0" marL="0">
              <a:buNone/>
            </a:pPr>
            <a:r>
              <a:rPr/>
              <a:t>Labour productivity is the most commonly reported productivity. It is relatively simple to measure and describe.</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non-market sector includes the Education and Health Care sectors. How is output measured in these sectors? Students graduating? Patients discharged? What would productivity look like? Students graduating per teacher? A measure like that would mean that productivity in the Education sector could be improved by fewer teachers and bigger classes. Anyone who works in Education would say that is not realistic.</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GDP per hour worked, with June 1991 set as the base or reference year.</a:t>
            </a:r>
          </a:p>
          <a:p>
            <a:pPr lvl="0" indent="0" marL="0">
              <a:buNone/>
            </a:pPr>
          </a:p>
          <a:p>
            <a:pPr lvl="0"/>
            <a:r>
              <a:rPr/>
              <a:t>Growth was slowing prior to 2020 anyway, with the increases seen during then probably due to the pandemic.</a:t>
            </a:r>
          </a:p>
          <a:p>
            <a:pPr lvl="0" indent="0" marL="0">
              <a:buNone/>
            </a:pPr>
          </a:p>
          <a:p>
            <a:pPr lvl="0"/>
            <a:r>
              <a:rPr/>
              <a:t>This has been called a productivity ‘bubble’ which I think I agree with.</a:t>
            </a:r>
          </a:p>
          <a:p>
            <a:pPr lvl="0" indent="0" marL="0">
              <a:buNone/>
            </a:pPr>
          </a:p>
          <a:p>
            <a:pPr lvl="0"/>
            <a:r>
              <a:rPr/>
              <a:t>Periods of slow growth have been occurring since the 2000s really.</a:t>
            </a:r>
          </a:p>
          <a:p>
            <a:pPr lvl="0" indent="0" marL="0">
              <a:buNone/>
            </a:pPr>
          </a:p>
          <a:p>
            <a:pPr lvl="0"/>
            <a:r>
              <a:rPr/>
              <a:t>The market sector includes industries like manufacturing, mining, construction, and some services. Things that are produced and sold in the market.</a:t>
            </a:r>
          </a:p>
          <a:p>
            <a:pPr lvl="0" indent="0" marL="0">
              <a:buNone/>
            </a:pPr>
          </a:p>
          <a:p>
            <a:pPr lvl="0"/>
            <a:r>
              <a:rPr/>
              <a:t>The non-market sector</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Productivity is a volatile measure. It is better to measure it across a long time period.</a:t>
            </a:r>
          </a:p>
          <a:p>
            <a:pPr lvl="0" indent="0" marL="0">
              <a:buNone/>
            </a:pPr>
          </a:p>
          <a:p>
            <a:pPr lvl="0" indent="0" marL="0">
              <a:buNone/>
            </a:pPr>
            <a:r>
              <a:rPr/>
              <a:t>The ABS uses a 20 year average “compound average growth rate” formula.</a:t>
            </a:r>
          </a:p>
          <a:p>
            <a:pPr lvl="0" indent="0" marL="0">
              <a:buNone/>
            </a:pPr>
          </a:p>
          <a:p>
            <a:pPr lvl="0"/>
            <a:r>
              <a:rPr/>
              <a:t>Clearly not a new problem</a:t>
            </a:r>
          </a:p>
          <a:p>
            <a:pPr lvl="0" indent="0" marL="0">
              <a:buNone/>
            </a:pPr>
          </a:p>
          <a:p>
            <a:pPr lvl="0"/>
            <a:r>
              <a:rPr/>
              <a:t>20-year average productivity growth was pretty stable up until about 2013</a:t>
            </a:r>
          </a:p>
          <a:p>
            <a:pPr lvl="0" indent="0" marL="0">
              <a:buNone/>
            </a:pPr>
          </a:p>
          <a:p>
            <a:pPr lvl="0"/>
            <a:r>
              <a:rPr/>
              <a:t>Significant declines since then. Covid rebound probably an illusion</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Productivity is measured as GDP per hour worked. So we need to look at what is happening with hours worked, and with GDP.</a:t>
            </a:r>
          </a:p>
          <a:p>
            <a:pPr lvl="0" indent="0" marL="0">
              <a:buNone/>
            </a:pPr>
          </a:p>
          <a:p>
            <a:pPr lvl="0" indent="0" marL="0">
              <a:buNone/>
            </a:pPr>
            <a:r>
              <a:rPr/>
              <a:t>I don’t know about you but the increase in hours worked looks like it’s pretty steep.</a:t>
            </a:r>
          </a:p>
          <a:p>
            <a:pPr lvl="0" indent="0" marL="0">
              <a:buNone/>
            </a:pPr>
          </a:p>
          <a:p>
            <a:pPr lvl="0" indent="0" marL="0">
              <a:buNone/>
            </a:pPr>
            <a:r>
              <a:rPr/>
              <a:t>What do we think could have caused that? Are you working more hours? Do you know people who are working more hours? Why?</a:t>
            </a:r>
          </a:p>
          <a:p>
            <a:pPr lvl="0" indent="0" marL="0">
              <a:buNone/>
            </a:pPr>
          </a:p>
          <a:p>
            <a:pPr lvl="0" indent="0" marL="0">
              <a:buNone/>
            </a:pPr>
            <a:r>
              <a:rPr/>
              <a:t>Could it be people working more hours because they’re struggling to make ends meet because of inflation?</a:t>
            </a:r>
          </a:p>
          <a:p>
            <a:pPr lvl="0" indent="0" marL="0">
              <a:buNone/>
            </a:pPr>
          </a:p>
          <a:p>
            <a:pPr lvl="0" indent="0" marL="0">
              <a:buNone/>
            </a:pPr>
            <a:r>
              <a:rPr/>
              <a:t>Even the Productivity Commission recognise that high hours worked is pulling productivity down</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Damn.</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Some sectors have experienced productivity growth, and others productivity declines.</a:t>
            </a:r>
          </a:p>
          <a:p>
            <a:pPr lvl="0" indent="0" marL="0">
              <a:buNone/>
            </a:pPr>
          </a:p>
          <a:p>
            <a:pPr lvl="0" indent="0" marL="0">
              <a:buNone/>
            </a:pPr>
            <a:r>
              <a:rPr/>
              <a:t>The Mining sector tends to be a real drag on productivity.</a:t>
            </a:r>
          </a:p>
          <a:p>
            <a:pPr lvl="0" indent="0" marL="0">
              <a:buNone/>
            </a:pPr>
          </a:p>
          <a:p>
            <a:pPr lvl="0" indent="0" marL="0">
              <a:buNone/>
            </a:pPr>
            <a:r>
              <a:rPr/>
              <a:t>Manufacturing outperforms the average.</a:t>
            </a:r>
          </a:p>
          <a:p>
            <a:pPr lvl="0" indent="0" marL="0">
              <a:buNone/>
            </a:pPr>
          </a:p>
          <a:p>
            <a:pPr lvl="0" indent="0" marL="0">
              <a:buNone/>
            </a:pPr>
            <a:r>
              <a:rPr/>
              <a:t>Big productivity improvements in Information media and telecommunications, and Agriculture.</a:t>
            </a:r>
          </a:p>
          <a:p>
            <a:pPr lvl="0" indent="0" marL="0">
              <a:buNone/>
            </a:pPr>
          </a:p>
          <a:p>
            <a:pPr lvl="0" indent="0" marL="0">
              <a:buNone/>
            </a:pPr>
            <a:r>
              <a:rPr/>
              <a:t>Productivity laggards? Non-market sector, like Health Care, Education, Real estate services.</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We’re going to talk about the housing market, house prices, and the changes made in relation to housing in the 2026 Budget</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House prices have grown much faster than incomes in Australia. The median household income per year (before-tax) in September 2025 was estimated at about $105,000. Meanwhile, the median dwelling value was $860,000 and the median weekly rent was $670.</a:t>
            </a:r>
          </a:p>
          <a:p>
            <a:pPr lvl="0" indent="0" marL="0">
              <a:buNone/>
            </a:pPr>
          </a:p>
          <a:p>
            <a:pPr lvl="0" indent="0" marL="0">
              <a:buNone/>
            </a:pPr>
            <a:r>
              <a:rPr/>
              <a:t>The average time required to save up a 20% deposit for the average dwelling is 11 years. While saving for the deposit, you’re committing 33% of your income on rent. After securing a loan, you’re committing 45% of your income just to service the mortgage.</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How has the picture changed over time?</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Before we move onto the next section, I wanted to stop for a discussion about how you relate to the economy.</a:t>
            </a:r>
          </a:p>
          <a:p>
            <a:pPr lvl="0" indent="0" marL="0">
              <a:buNone/>
            </a:pPr>
          </a:p>
          <a:p>
            <a:pPr lvl="0" indent="0" marL="0">
              <a:buNone/>
            </a:pPr>
            <a:r>
              <a:rPr/>
              <a:t>How do you feel about the “big picture” economy?</a:t>
            </a:r>
          </a:p>
          <a:p>
            <a:pPr lvl="0" indent="0" marL="0">
              <a:buNone/>
            </a:pPr>
          </a:p>
          <a:p>
            <a:pPr lvl="0" indent="0" marL="0">
              <a:buNone/>
            </a:pPr>
            <a:r>
              <a:rPr/>
              <a:t>How do you feel about your economic situation?</a:t>
            </a:r>
          </a:p>
          <a:p>
            <a:pPr lvl="0" indent="0" marL="0">
              <a:buNone/>
            </a:pPr>
          </a:p>
          <a:p>
            <a:pPr lvl="0" indent="0" marL="0">
              <a:buNone/>
            </a:pPr>
            <a:r>
              <a:rPr/>
              <a:t>How do your neighbours, mates, colleagues feel?</a:t>
            </a:r>
          </a:p>
          <a:p>
            <a:pPr lvl="0" indent="0" marL="0">
              <a:buNone/>
            </a:pPr>
          </a:p>
          <a:p>
            <a:pPr lvl="0" indent="0" marL="0">
              <a:buNone/>
            </a:pPr>
            <a:r>
              <a:rPr/>
              <a:t>If you’re feeling anxious, I don’t blame you.</a:t>
            </a:r>
          </a:p>
          <a:p>
            <a:pPr lvl="0" indent="0" marL="0">
              <a:buNone/>
            </a:pPr>
          </a:p>
          <a:p>
            <a:pPr lvl="0" indent="0" marL="0">
              <a:buNone/>
            </a:pPr>
            <a:r>
              <a:rPr/>
              <a:t>The world has become increasingly competitive, and isolated. The rise of neo-liberalism, the decline in the power of labour, and the increased concentration of wealth have been disastrous.</a:t>
            </a:r>
          </a:p>
          <a:p>
            <a:pPr lvl="0" indent="0" marL="0">
              <a:buNone/>
            </a:pPr>
          </a:p>
          <a:p>
            <a:pPr lvl="0" indent="0" marL="0">
              <a:buNone/>
            </a:pPr>
            <a:r>
              <a:rPr/>
              <a:t>Workers are more precarious than ever:</a:t>
            </a:r>
          </a:p>
          <a:p>
            <a:pPr lvl="0" indent="0" marL="0">
              <a:buNone/>
            </a:pPr>
          </a:p>
          <a:p>
            <a:pPr lvl="0"/>
            <a:r>
              <a:rPr/>
              <a:t>gig economy, 0-hour contract, no protection, a safety net that isn’t safe at all.</a:t>
            </a:r>
          </a:p>
          <a:p>
            <a:pPr lvl="0" indent="0" marL="0">
              <a:buNone/>
            </a:pPr>
          </a:p>
          <a:p>
            <a:pPr lvl="0" indent="0" marL="0">
              <a:buNone/>
            </a:pPr>
            <a:r>
              <a:rPr/>
              <a:t>Workers are forced to pursue their personal monetary interest, because you need to to survive. This competition, and precarity, are used to keep employees divided, and to try and minimise solidarity between workers. And it’s been happening since the 1980s. It is scary to put your head above the parapet and ask for better conditions because there is so much to lose.</a:t>
            </a:r>
          </a:p>
          <a:p>
            <a:pPr lvl="0" indent="0" marL="0">
              <a:buNone/>
            </a:pPr>
          </a:p>
          <a:p>
            <a:pPr lvl="0" indent="0" marL="0">
              <a:buNone/>
            </a:pPr>
            <a:r>
              <a:rPr/>
              <a:t>Solidarity is more important than ever. We are powerful as a collective.</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Trade surplus countries take advantage by using subsidies on domestic production, manipulate currency to keep their exchange rate low, and have their own tariffs on US imports.</a:t>
            </a:r>
          </a:p>
          <a:p>
            <a:pPr lvl="0" indent="0" marL="0">
              <a:buNone/>
            </a:pPr>
          </a:p>
          <a:p>
            <a:pPr lvl="0" indent="0" marL="0">
              <a:buNone/>
            </a:pPr>
            <a:r>
              <a:rPr/>
              <a:t>There was a recent bit of news in the AFR:</a:t>
            </a:r>
          </a:p>
          <a:p>
            <a:pPr lvl="0" indent="0" marL="0">
              <a:buNone/>
            </a:pPr>
          </a:p>
          <a:p>
            <a:pPr lvl="0" indent="0" marL="0">
              <a:buNone/>
            </a:pPr>
            <a:r>
              <a:rPr/>
              <a:t>Century Aluminum has urged US President Donald Trump’s top trade official to register the Albanese government’s $22.7 billion Future Made in Australia industrial policy, which aims to encourage onshore manufacturing, in its annual report on foreign trade barriers.</a:t>
            </a:r>
          </a:p>
          <a:p>
            <a:pPr lvl="0" indent="0" marL="0">
              <a:buNone/>
            </a:pPr>
          </a:p>
          <a:p>
            <a:pPr lvl="0" indent="0" marL="0">
              <a:buNone/>
            </a:pPr>
            <a:r>
              <a:rPr/>
              <a:t>The impact on domestic industry (through price competition) resonates a lot with workers I think.</a:t>
            </a:r>
          </a:p>
          <a:p>
            <a:pPr lvl="0" indent="0" marL="0">
              <a:buNone/>
            </a:pPr>
          </a:p>
          <a:p>
            <a:pPr lvl="0" indent="0" marL="0">
              <a:buNone/>
            </a:pPr>
            <a:r>
              <a:rPr/>
              <a:t>The impact of deindustrialisation on the US (and other western economies) is real, and has caused significant community disruption, and destruction. Former (and current) industrial towns in the Midwest have suffered real impacts.</a:t>
            </a:r>
          </a:p>
          <a:p>
            <a:pPr lvl="0" indent="0" marL="0">
              <a:buNone/>
            </a:pPr>
          </a:p>
          <a:p>
            <a:pPr lvl="0" indent="0" marL="0">
              <a:buNone/>
            </a:pPr>
            <a:r>
              <a:rPr/>
              <a:t>Trump isn’t even arguing that the tariffs will bring back manufacturing jobs in the US, instead focusing on using AI, automation, and robotics to do the work.</a:t>
            </a:r>
          </a:p>
          <a:p>
            <a:pPr lvl="0" indent="0" marL="0">
              <a:buNone/>
            </a:pPr>
          </a:p>
          <a:p>
            <a:pPr lvl="0" indent="0" marL="0">
              <a:buNone/>
            </a:pPr>
            <a:r>
              <a:rPr/>
              <a:t>So even if it’s successful, even if the argument is believable, there is no room in the policy for workers to share the benefits. There is certainly no guarantee that a revitalised manufacturing industry in the US, brought upon by tariffs, would bring back many if any manufacturing jobs.</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It’s a classic “pull the ladder up after you” situation.</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 manufacturing moved off-shore as capitalists sought higher profit through lower labour costs during a period where the US dollar was very high. The US dollar was very high because Paul Volcker increased interest rates to 19% to curb inflation (through demand destruction, i.e. make everyone unemployed and poor)</a:t>
            </a:r>
          </a:p>
          <a:p>
            <a:pPr lvl="0" indent="0" marL="0">
              <a:buNone/>
            </a:pPr>
          </a:p>
          <a:p>
            <a:pPr lvl="0" indent="0" marL="0">
              <a:buNone/>
            </a:pPr>
            <a:r>
              <a:rPr/>
              <a:t>The question is - can tariffs work for a country trying to reindustrialise?</a:t>
            </a:r>
          </a:p>
          <a:p>
            <a:pPr lvl="0" indent="0" marL="0">
              <a:buNone/>
            </a:pPr>
          </a:p>
          <a:p>
            <a:pPr lvl="0" indent="0" marL="0">
              <a:buNone/>
            </a:pPr>
            <a:r>
              <a:rPr/>
              <a:t>America is a special case. If it could work for anyone, it would be them.</a:t>
            </a:r>
          </a:p>
          <a:p>
            <a:pPr lvl="0" indent="0" marL="0">
              <a:buNone/>
            </a:pPr>
          </a:p>
          <a:p>
            <a:pPr lvl="0" indent="0" marL="0">
              <a:buNone/>
            </a:pPr>
            <a:r>
              <a:rPr/>
              <a:t>They maintain economic, political, and military power over much of the rest of the world - especially across the west.</a:t>
            </a:r>
          </a:p>
          <a:p>
            <a:pPr lvl="0" indent="0" marL="0">
              <a:buNone/>
            </a:pPr>
          </a:p>
          <a:p>
            <a:pPr lvl="0" indent="0" marL="0">
              <a:buNone/>
            </a:pPr>
            <a:r>
              <a:rPr/>
              <a:t>But the strategy still faces significant head winds, including:</a:t>
            </a:r>
          </a:p>
          <a:p>
            <a:pPr lvl="0" indent="0" marL="0">
              <a:buNone/>
            </a:pPr>
          </a:p>
          <a:p>
            <a:pPr lvl="0"/>
            <a:r>
              <a:rPr/>
              <a:t>Final product manufacturing in the US still requires intermediate inputs which are sourced from all over the world. So the price increase still gets passed on to domestic production!</a:t>
            </a:r>
          </a:p>
          <a:p>
            <a:pPr lvl="0" indent="0" marL="0">
              <a:buNone/>
            </a:pPr>
          </a:p>
          <a:p>
            <a:pPr lvl="0"/>
            <a:r>
              <a:rPr/>
              <a:t>There’s not sufficient domestic capabilities to meet consumers demand. But the price increases are already coming.</a:t>
            </a:r>
          </a:p>
          <a:p>
            <a:pPr lvl="0" indent="0" marL="0">
              <a:buNone/>
            </a:pPr>
          </a:p>
          <a:p>
            <a:pPr lvl="0"/>
            <a:r>
              <a:rPr/>
              <a:t>With no comprehensive industrial strategy, investment and onshoring just means that manufacturing firms would have to accept lower profits out of the kindness of their hearts. Do we think the capitalist would do that?</a:t>
            </a:r>
          </a:p>
          <a:p>
            <a:pPr lvl="0" indent="0" marL="0">
              <a:buNone/>
            </a:pPr>
          </a:p>
          <a:p>
            <a:pPr lvl="0" indent="0" marL="0">
              <a:buNone/>
            </a:pPr>
            <a:r>
              <a:rPr/>
              <a:t>Even if it works for them, it is not going to be a viable strategy for the rest of us.</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response to declining profit, capitalists try to discipline labour, move production somewhere cheaper, inflates asset bubbles, and retreat behind protective barriers.</a:t>
            </a:r>
          </a:p>
          <a:p>
            <a:pPr lvl="0" indent="0" marL="0">
              <a:buNone/>
            </a:pPr>
          </a:p>
          <a:p>
            <a:pPr lvl="0" indent="0" marL="0">
              <a:buNone/>
            </a:pPr>
            <a:r>
              <a:rPr/>
              <a:t>Most likely what is going on is that the capital class is using tariffs to try and protect their profits because they are no longer competitive.</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Australia’s ranking in 2024 was 74th- Sandwiched between Madagascar and Uruguay</a:t>
            </a:r>
          </a:p>
          <a:p>
            <a:pPr lvl="0" indent="0" marL="0">
              <a:buNone/>
            </a:pPr>
          </a:p>
          <a:p>
            <a:pPr lvl="0"/>
            <a:r>
              <a:rPr/>
              <a:t>Australia’s exports are concentrated in only a few products</a:t>
            </a:r>
          </a:p>
          <a:p>
            <a:pPr lvl="0" indent="0" marL="0">
              <a:buNone/>
            </a:pPr>
          </a:p>
          <a:p>
            <a:pPr lvl="0"/>
            <a:r>
              <a:rPr/>
              <a:t>Australia’s exports are lower in average complexity</a:t>
            </a:r>
          </a:p>
          <a:p>
            <a:pPr lvl="0" indent="0" marL="0">
              <a:buNone/>
            </a:pPr>
          </a:p>
          <a:p>
            <a:pPr lvl="0"/>
            <a:r>
              <a:rPr/>
              <a:t>Australia does not have the industrial capabilities of other developed countries.</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problem:</a:t>
            </a:r>
          </a:p>
          <a:p>
            <a:pPr lvl="0" indent="0" marL="0">
              <a:buNone/>
            </a:pPr>
          </a:p>
          <a:p>
            <a:pPr lvl="0"/>
            <a:r>
              <a:rPr/>
              <a:t>is real, will not be solved by the market and will not be solved with small tweaks and adjustments.</a:t>
            </a:r>
          </a:p>
          <a:p>
            <a:pPr lvl="0" indent="0" marL="0">
              <a:buNone/>
            </a:pPr>
          </a:p>
          <a:p>
            <a:pPr lvl="0"/>
            <a:r>
              <a:rPr/>
              <a:t>just transition and decarbonisation is an opportunity to PLAN something, and then to DO something.</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 part of a Future Made in Australia, what do we want to see? What will we be campaigning for?</a:t>
            </a:r>
          </a:p>
          <a:p>
            <a:pPr lvl="0" indent="0" marL="0">
              <a:buNone/>
            </a:pPr>
          </a:p>
          <a:p>
            <a:pPr lvl="0"/>
            <a:r>
              <a:rPr/>
              <a:t>A Secure Australian Jobs Code</a:t>
            </a:r>
          </a:p>
          <a:p>
            <a:pPr lvl="0" indent="0" marL="0">
              <a:buNone/>
            </a:pPr>
          </a:p>
          <a:p>
            <a:pPr lvl="0"/>
            <a:r>
              <a:rPr/>
              <a:t>Establishing a Manufacturing Competitiveness Council</a:t>
            </a:r>
          </a:p>
          <a:p>
            <a:pPr lvl="0" indent="0" marL="0">
              <a:buNone/>
            </a:pPr>
          </a:p>
          <a:p>
            <a:pPr lvl="0"/>
            <a:r>
              <a:rPr/>
              <a:t>Demand local content</a:t>
            </a:r>
          </a:p>
          <a:p>
            <a:pPr lvl="0" indent="0" marL="0">
              <a:buNone/>
            </a:pPr>
          </a:p>
          <a:p>
            <a:pPr lvl="0"/>
            <a:r>
              <a:rPr/>
              <a:t>Mandate apprentice participation</a:t>
            </a:r>
          </a:p>
          <a:p>
            <a:pPr lvl="0" indent="0" marL="0">
              <a:buNone/>
            </a:pPr>
          </a:p>
          <a:p>
            <a:pPr lvl="0"/>
            <a:r>
              <a:rPr/>
              <a:t>Establish </a:t>
            </a:r>
            <a:r>
              <a:rPr b="1"/>
              <a:t>fair trade</a:t>
            </a:r>
            <a:r>
              <a:rPr/>
              <a:t> over free trade</a:t>
            </a:r>
          </a:p>
          <a:p>
            <a:pPr lvl="0" indent="0" marL="0">
              <a:buNone/>
            </a:pPr>
          </a:p>
          <a:p>
            <a:pPr lvl="0"/>
            <a:r>
              <a:rPr/>
              <a:t>Nationalise strategic infrastructure</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about public money for a public good. Not subsidies to private capital to continue to exploit their workers. We are calling on the Labor government to mandate collective agreements for any businesses receiving public money, which reflect union rates of pay.</a:t>
            </a:r>
          </a:p>
          <a:p>
            <a:pPr lvl="0" indent="0" marL="0">
              <a:buNone/>
            </a:pPr>
          </a:p>
          <a:p>
            <a:pPr lvl="0" indent="0" marL="0">
              <a:buNone/>
            </a:pPr>
            <a:r>
              <a:rPr b="1"/>
              <a:t>Local Content</a:t>
            </a:r>
          </a:p>
          <a:p>
            <a:pPr lvl="0" indent="0" marL="0">
              <a:buNone/>
            </a:pPr>
          </a:p>
          <a:p>
            <a:pPr lvl="0"/>
            <a:r>
              <a:rPr/>
              <a:t>Procurement is one of the most powerful levers we have for rebuilding our industrial base.</a:t>
            </a:r>
          </a:p>
          <a:p>
            <a:pPr lvl="0" indent="0" marL="0">
              <a:buNone/>
            </a:pPr>
          </a:p>
          <a:p>
            <a:pPr lvl="0"/>
            <a:r>
              <a:rPr/>
              <a:t>Public money must explicitly support local industry.</a:t>
            </a:r>
          </a:p>
          <a:p>
            <a:pPr lvl="0" indent="0" marL="0">
              <a:buNone/>
            </a:pPr>
          </a:p>
          <a:p>
            <a:pPr lvl="0"/>
            <a:r>
              <a:rPr/>
              <a:t>How do we make them enforceable?</a:t>
            </a:r>
          </a:p>
          <a:p>
            <a:pPr lvl="0" indent="0" marL="0">
              <a:buNone/>
            </a:pPr>
          </a:p>
          <a:p>
            <a:pPr lvl="0"/>
            <a:r>
              <a:rPr/>
              <a:t>Local content, local content targets, and local industry participation. The government can provide certainty to businesses looking to expand to supply infrastructure to the energy transition.</a:t>
            </a:r>
          </a:p>
          <a:p>
            <a:pPr lvl="0" indent="0" marL="0">
              <a:buNone/>
            </a:pPr>
          </a:p>
          <a:p>
            <a:pPr lvl="0" indent="0" marL="0">
              <a:buNone/>
            </a:pPr>
            <a:r>
              <a:rPr b="1"/>
              <a:t>Skills and Apprentices</a:t>
            </a:r>
          </a:p>
          <a:p>
            <a:pPr lvl="0" indent="0" marL="0">
              <a:buNone/>
            </a:pPr>
          </a:p>
          <a:p>
            <a:pPr lvl="0"/>
            <a:r>
              <a:rPr/>
              <a:t>To rebuild our industrial base we need skilled manufacturing workers</a:t>
            </a:r>
          </a:p>
          <a:p>
            <a:pPr lvl="0" indent="0" marL="0">
              <a:buNone/>
            </a:pPr>
          </a:p>
          <a:p>
            <a:pPr lvl="0"/>
            <a:r>
              <a:rPr/>
              <a:t>Current apprentice requirements are toothless, letting employers off the hook</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goal of economic sovereignty cannot be achieved if the nation’s most vital infrastructure remains subject to the profit demands of private capital. Labor must move to nationalise strategic infrastructure essential to the Future Made in Australia Act agenda, particularly in the energy and green manufacturing sectors</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Economics was originally a philosophical subject. What happens when the economy interacts with the government? How do different classes interact? How do different classes experience the economy? It was a social science studying a social phenomenon.</a:t>
            </a:r>
          </a:p>
          <a:p>
            <a:pPr lvl="0" indent="0" marL="0">
              <a:buNone/>
            </a:pPr>
          </a:p>
          <a:p>
            <a:pPr lvl="0" indent="0" marL="0">
              <a:buNone/>
            </a:pPr>
            <a:r>
              <a:rPr/>
              <a:t>In about the 1950s to 1960s, a new school of economists decided that adding maths equations to economics made it more rigorous, and more scientific, and more “true”. The economy is this abstract thing, which we can model using mathematics. If we change one parameter (like investment or the unemployment rate or interest rates) we can see what happens to other parameters. Predictions from the model are used to make predictions about society.</a:t>
            </a:r>
          </a:p>
        </p:txBody>
      </p:sp>
      <p:sp>
        <p:nvSpPr>
          <p:cNvPr id="4" name="Slide Number Placeholder 3"/>
          <p:cNvSpPr>
            <a:spLocks noGrp="1"/>
          </p:cNvSpPr>
          <p:nvPr>
            <p:ph type="sldNum" sz="quarter" idx="10"/>
          </p:nvPr>
        </p:nvSpPr>
        <p:spPr/>
        <p:txBody>
          <a:bodyPr/>
          <a:lstStyle/>
          <a:p>
            <a:fld id="{18BDFEC3-8487-43E8-A154-7C12CBC1FFF2}" type="slidenum">
              <a:rPr lang="en-US"/>
              <a:t>74</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What we call ‘economics’ today is very different from what would have been called economics in the 1960s, economics in the 1890s, economics in the 1600s, and economics prior to the invention of agriculture.</a:t>
            </a:r>
          </a:p>
          <a:p>
            <a:pPr lvl="0" indent="0" marL="0">
              <a:buNone/>
            </a:pPr>
          </a:p>
          <a:p>
            <a:pPr lvl="0" indent="0" marL="0">
              <a:buNone/>
            </a:pPr>
            <a:r>
              <a:rPr/>
              <a:t>The study of economics is ideological. It is a social science, not a hard science. There is no Nobel prize in economics (the Nobel Memorial Prize in Economic Sciences was not and is not one of the original 5).</a:t>
            </a:r>
          </a:p>
          <a:p>
            <a:pPr lvl="0" indent="0" marL="0">
              <a:buNone/>
            </a:pPr>
          </a:p>
          <a:p>
            <a:pPr lvl="0" indent="0" marL="0">
              <a:buNone/>
            </a:pPr>
            <a:r>
              <a:rPr/>
              <a:t>Early economics was philosophical - looking at questions like:</a:t>
            </a:r>
          </a:p>
          <a:p>
            <a:pPr lvl="0" indent="0" marL="0">
              <a:buNone/>
            </a:pPr>
          </a:p>
          <a:p>
            <a:pPr lvl="0"/>
            <a:r>
              <a:rPr/>
              <a:t>What is work? What is production?</a:t>
            </a:r>
          </a:p>
          <a:p>
            <a:pPr lvl="0" indent="0" marL="0">
              <a:buNone/>
            </a:pPr>
          </a:p>
          <a:p>
            <a:pPr lvl="0"/>
            <a:r>
              <a:rPr/>
              <a:t>What is value?</a:t>
            </a:r>
          </a:p>
          <a:p>
            <a:pPr lvl="0" indent="0" marL="0">
              <a:buNone/>
            </a:pPr>
          </a:p>
          <a:p>
            <a:pPr lvl="0" indent="0" marL="0">
              <a:buNone/>
            </a:pPr>
            <a:r>
              <a:rPr/>
              <a:t>In the 1600s, the dominant ideology of Britain was </a:t>
            </a:r>
            <a:r>
              <a:rPr i="1"/>
              <a:t>mercantilism,</a:t>
            </a:r>
            <a:r>
              <a:rPr/>
              <a:t> based on the growing power of Britain, and the vast trade networks they had developed through colonialism. The economics of the time was a reflection of this ideology, highlighting the ways in which trade was important for a country’s economic development. Economists argued for increased power of the state (to strengthen colonial power) and for government’s to maintain a trade surplus.</a:t>
            </a:r>
          </a:p>
          <a:p>
            <a:pPr lvl="0" indent="0" marL="0">
              <a:buNone/>
            </a:pPr>
          </a:p>
          <a:p>
            <a:pPr lvl="0" indent="0" marL="0">
              <a:buNone/>
            </a:pPr>
            <a:r>
              <a:rPr/>
              <a:t>In France, about 100 years later, the </a:t>
            </a:r>
            <a:r>
              <a:rPr i="1"/>
              <a:t>physiocrats</a:t>
            </a:r>
            <a:r>
              <a:rPr/>
              <a:t> considered two distinct industries - agricultural, and non-agricultural, in reflection of the growing industrialisation in workshops and of artisans. The physiocrats believed that only agricultural labour could create value in the products of society, and that non-agricultural labour was unproductive.</a:t>
            </a:r>
          </a:p>
        </p:txBody>
      </p:sp>
      <p:sp>
        <p:nvSpPr>
          <p:cNvPr id="4" name="Slide Number Placeholder 3"/>
          <p:cNvSpPr>
            <a:spLocks noGrp="1"/>
          </p:cNvSpPr>
          <p:nvPr>
            <p:ph type="sldNum" sz="quarter" idx="10"/>
          </p:nvPr>
        </p:nvSpPr>
        <p:spPr/>
        <p:txBody>
          <a:bodyPr/>
          <a:lstStyle/>
          <a:p>
            <a:fld id="{18BDFEC3-8487-43E8-A154-7C12CBC1FFF2}" type="slidenum">
              <a:rPr lang="en-US"/>
              <a:t>75</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Classical Economics</a:t>
            </a:r>
          </a:p>
          <a:p>
            <a:pPr lvl="0" indent="0" marL="0">
              <a:buNone/>
            </a:pPr>
          </a:p>
          <a:p>
            <a:pPr lvl="0" indent="0" marL="0">
              <a:buNone/>
            </a:pPr>
            <a:r>
              <a:rPr/>
              <a:t>Prior to and during the industrial revolution, classical economics was developed, primarily through Adam Smith - advancing the theory of the divisibility of labour - that it is more productive for individuals to specialise in one part of the creation of a product, rather than the whole chain. Again - the economics is reflective of the political - increased work in factories, industrial revolution, factory work. Adam Smith is seen by some as the guy who invented free market economics. But Smith was strongly opposed to monopolies, and recognised the importance of </a:t>
            </a:r>
            <a:r>
              <a:rPr i="1"/>
              <a:t>class</a:t>
            </a:r>
            <a:r>
              <a:rPr/>
              <a:t>, compared to </a:t>
            </a:r>
            <a:r>
              <a:rPr i="1"/>
              <a:t>individual.</a:t>
            </a:r>
          </a:p>
          <a:p>
            <a:pPr lvl="0" indent="0" marL="0">
              <a:buNone/>
            </a:pPr>
          </a:p>
          <a:p>
            <a:pPr lvl="0" indent="0" marL="0">
              <a:buNone/>
            </a:pPr>
            <a:r>
              <a:rPr/>
              <a:t>Some ideas have lasted longer than others. Smith’s division of labour is still popular today. Others, like Malthus who argued that any wages greater than that required to subside would fuel unstable population growth that absorbed any real income growth, have </a:t>
            </a:r>
            <a:r>
              <a:rPr i="1"/>
              <a:t>mostly</a:t>
            </a:r>
            <a:r>
              <a:rPr/>
              <a:t> died out.</a:t>
            </a:r>
          </a:p>
          <a:p>
            <a:pPr lvl="0" indent="0" marL="0">
              <a:buNone/>
            </a:pPr>
          </a:p>
          <a:p>
            <a:pPr lvl="0" indent="0" marL="0">
              <a:buNone/>
            </a:pPr>
            <a:r>
              <a:rPr/>
              <a:t>Ricardo invented a theory of free trade which said that all economies are made better off by specialising in the industry they have comparative advantage which is only true in theory - but is still trotted out by free market advocates today.</a:t>
            </a:r>
          </a:p>
          <a:p>
            <a:pPr lvl="0" indent="0" marL="0">
              <a:buNone/>
            </a:pPr>
          </a:p>
          <a:p>
            <a:pPr lvl="0" indent="0" marL="0">
              <a:buNone/>
            </a:pPr>
            <a:r>
              <a:rPr b="1"/>
              <a:t>Marxism</a:t>
            </a:r>
            <a:r>
              <a:rPr/>
              <a:t> was a response to the conditions under which labour was treated during the industrial period - long hours, terrible conditions, high death rates, child labour etc, as well as the growing and obvious disaprities in wealth between the owners of capital, and those who had to work for a living. One insight from Marxism about capitalism is “the tendency for the rate of profit to fall”, which says basically, over time, the rate of profit to the amount of invested capital decreases over time. I think that such a theory explains a lot about the development of capitalism and economics since the 1900s.</a:t>
            </a:r>
          </a:p>
          <a:p>
            <a:pPr lvl="0" indent="0" marL="0">
              <a:buNone/>
            </a:pPr>
          </a:p>
          <a:p>
            <a:pPr lvl="0" indent="0" marL="0">
              <a:buNone/>
            </a:pPr>
            <a:r>
              <a:rPr b="1"/>
              <a:t>Neoclassical</a:t>
            </a:r>
          </a:p>
          <a:p>
            <a:pPr lvl="0" indent="0" marL="0">
              <a:buNone/>
            </a:pPr>
          </a:p>
          <a:p>
            <a:pPr lvl="0" indent="0" marL="0">
              <a:buNone/>
            </a:pPr>
            <a:r>
              <a:rPr/>
              <a:t>Focus on the individual, and equilibrium in markets. Bring in mathematics and models to try and answer economic questions. Neoclassical theories are based on abstract ideas, rather than the visible realities. Stuff like:</a:t>
            </a:r>
          </a:p>
          <a:p>
            <a:pPr lvl="0" indent="0" marL="0">
              <a:buNone/>
            </a:pPr>
          </a:p>
          <a:p>
            <a:pPr lvl="0"/>
            <a:r>
              <a:rPr/>
              <a:t>Everyone is born with some endowment of labour power, skill, or another resource.</a:t>
            </a:r>
          </a:p>
          <a:p>
            <a:pPr lvl="0" indent="0" marL="0">
              <a:buNone/>
            </a:pPr>
          </a:p>
          <a:p>
            <a:pPr lvl="0"/>
            <a:r>
              <a:rPr/>
              <a:t>Everyone is born with a set of preferences which determine what they like to consume.</a:t>
            </a:r>
          </a:p>
          <a:p>
            <a:pPr lvl="0" indent="0" marL="0">
              <a:buNone/>
            </a:pPr>
          </a:p>
          <a:p>
            <a:pPr lvl="0"/>
            <a:r>
              <a:rPr/>
              <a:t>Technology converts endowments into usable goods and services.</a:t>
            </a:r>
          </a:p>
          <a:p>
            <a:pPr lvl="0" indent="0" marL="0">
              <a:buNone/>
            </a:pPr>
          </a:p>
          <a:p>
            <a:pPr lvl="0"/>
            <a:r>
              <a:rPr/>
              <a:t>Trading through markets makes sure that everything is optimal.</a:t>
            </a:r>
          </a:p>
          <a:p>
            <a:pPr lvl="0" indent="0" marL="0">
              <a:buNone/>
            </a:pPr>
          </a:p>
          <a:p>
            <a:pPr lvl="0" indent="0" marL="0">
              <a:buNone/>
            </a:pPr>
            <a:r>
              <a:rPr/>
              <a:t>Which leads to the conclusion that:</a:t>
            </a:r>
          </a:p>
          <a:p>
            <a:pPr lvl="0" indent="0" marL="0">
              <a:buNone/>
            </a:pPr>
          </a:p>
          <a:p>
            <a:pPr lvl="0"/>
            <a:r>
              <a:rPr/>
              <a:t>the market fixes everything and;</a:t>
            </a:r>
          </a:p>
          <a:p>
            <a:pPr lvl="0" indent="0" marL="0">
              <a:buNone/>
            </a:pPr>
          </a:p>
          <a:p>
            <a:pPr lvl="0"/>
            <a:r>
              <a:rPr/>
              <a:t>profit represents the productivity of owned capital - and it is morally justifiable - just explain away the exploitation.</a:t>
            </a:r>
          </a:p>
          <a:p>
            <a:pPr lvl="0" indent="0" marL="0">
              <a:buNone/>
            </a:pPr>
          </a:p>
          <a:p>
            <a:pPr lvl="0" indent="0" marL="0">
              <a:buNone/>
            </a:pPr>
            <a:r>
              <a:rPr/>
              <a:t>Brief interlude with Keynesianism (explicitly a response to the great depression)- the situation won’t resolve itself, and government can stop unemployment by boosting demand (govt spending, taxation, interest rates)</a:t>
            </a:r>
          </a:p>
          <a:p>
            <a:pPr lvl="0" indent="0" marL="0">
              <a:buNone/>
            </a:pPr>
          </a:p>
          <a:p>
            <a:pPr lvl="0" indent="0" marL="0">
              <a:buNone/>
            </a:pPr>
            <a:r>
              <a:rPr/>
              <a:t>But the return in the 1970s of neoclassical economics (explicitly a response to the stagflation of the 1970s), consolidated today as neoliberalism returns us back to the market solving everyone’s problems.</a:t>
            </a:r>
          </a:p>
          <a:p>
            <a:pPr lvl="0" indent="0" marL="0">
              <a:buNone/>
            </a:pPr>
          </a:p>
          <a:p>
            <a:pPr lvl="0" indent="0" marL="0">
              <a:buNone/>
            </a:pPr>
            <a:r>
              <a:rPr/>
              <a:t>The most important message is:</a:t>
            </a:r>
          </a:p>
          <a:p>
            <a:pPr lvl="0" indent="0" marL="0">
              <a:buNone/>
            </a:pPr>
          </a:p>
          <a:p>
            <a:pPr lvl="0"/>
            <a:r>
              <a:rPr/>
              <a:t>Economics </a:t>
            </a:r>
            <a:r>
              <a:rPr i="1"/>
              <a:t>reflects</a:t>
            </a:r>
            <a:r>
              <a:rPr/>
              <a:t> the the political ideology, not the other way around!</a:t>
            </a:r>
          </a:p>
          <a:p>
            <a:pPr lvl="0" indent="0" marL="0">
              <a:buNone/>
            </a:pPr>
          </a:p>
          <a:p>
            <a:pPr lvl="0"/>
            <a:r>
              <a:rPr/>
              <a:t>Economists (as social scientists) have ideas about ways that the economy </a:t>
            </a:r>
            <a:r>
              <a:rPr i="1"/>
              <a:t>should</a:t>
            </a:r>
            <a:r>
              <a:rPr/>
              <a:t> function</a:t>
            </a:r>
          </a:p>
        </p:txBody>
      </p:sp>
      <p:sp>
        <p:nvSpPr>
          <p:cNvPr id="4" name="Slide Number Placeholder 3"/>
          <p:cNvSpPr>
            <a:spLocks noGrp="1"/>
          </p:cNvSpPr>
          <p:nvPr>
            <p:ph type="sldNum" sz="quarter" idx="10"/>
          </p:nvPr>
        </p:nvSpPr>
        <p:spPr/>
        <p:txBody>
          <a:bodyPr/>
          <a:lstStyle/>
          <a:p>
            <a:fld id="{18BDFEC3-8487-43E8-A154-7C12CBC1FFF2}" type="slidenum">
              <a:rPr lang="en-US"/>
              <a:t>76</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It is impossible to produce value without work. Even fully automated production lines require:</a:t>
            </a:r>
          </a:p>
          <a:p>
            <a:pPr lvl="0" indent="0" marL="0">
              <a:buNone/>
            </a:pPr>
          </a:p>
          <a:p>
            <a:pPr lvl="0"/>
            <a:r>
              <a:rPr/>
              <a:t>Labour to produce the equipment</a:t>
            </a:r>
          </a:p>
          <a:p>
            <a:pPr lvl="0" indent="0" marL="0">
              <a:buNone/>
            </a:pPr>
          </a:p>
          <a:p>
            <a:pPr lvl="0"/>
            <a:r>
              <a:rPr/>
              <a:t>Labour to monitor the equipment</a:t>
            </a:r>
          </a:p>
          <a:p>
            <a:pPr lvl="0" indent="0" marL="0">
              <a:buNone/>
            </a:pPr>
          </a:p>
          <a:p>
            <a:pPr lvl="0"/>
            <a:r>
              <a:rPr/>
              <a:t>Labour to repair the equipment</a:t>
            </a:r>
          </a:p>
          <a:p>
            <a:pPr lvl="0" indent="0" marL="0">
              <a:buNone/>
            </a:pPr>
          </a:p>
          <a:p>
            <a:pPr lvl="0" indent="0" marL="0">
              <a:buNone/>
            </a:pPr>
            <a:r>
              <a:rPr/>
              <a:t>Profit represents a payment on private capital to the owner of that capital. But profit itself is not a productive activity - but a social relationship between owner, worker, and capital. Profit can be used to re-invest into more capital - and this was the fundamental driver of capitalism during the industrial revolution. Productivity increases from the increased division of labour rapidly increased profits. SOME of these profits were re-invested into production - both to maintain machinery, and to improve processes. Of course, some of the profits were consumed by the ‘capitalist fat cat’ - which is why they’re always depicted as such during this period.</a:t>
            </a:r>
          </a:p>
        </p:txBody>
      </p:sp>
      <p:sp>
        <p:nvSpPr>
          <p:cNvPr id="4" name="Slide Number Placeholder 3"/>
          <p:cNvSpPr>
            <a:spLocks noGrp="1"/>
          </p:cNvSpPr>
          <p:nvPr>
            <p:ph type="sldNum" sz="quarter" idx="10"/>
          </p:nvPr>
        </p:nvSpPr>
        <p:spPr/>
        <p:txBody>
          <a:bodyPr/>
          <a:lstStyle/>
          <a:p>
            <a:fld id="{18BDFEC3-8487-43E8-A154-7C12CBC1FFF2}" type="slidenum">
              <a:rPr lang="en-US"/>
              <a:t>78</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Class solidarity is important - in a positive and negative sense. Capitalists maintain strong class consciousness and solidarity, and work hard to prevent solidarity forming in other classes.</a:t>
            </a:r>
          </a:p>
          <a:p>
            <a:pPr lvl="0" indent="0" marL="0">
              <a:buNone/>
            </a:pPr>
          </a:p>
          <a:p>
            <a:pPr lvl="0" indent="0" marL="0">
              <a:buNone/>
            </a:pPr>
            <a:r>
              <a:rPr/>
              <a:t>When the economy was based on manufacturing and heavy industry like mining, steel working, and shipbuilding, it was very easy to characterize the classes.</a:t>
            </a:r>
          </a:p>
          <a:p>
            <a:pPr lvl="0" indent="0" marL="0">
              <a:buNone/>
            </a:pPr>
          </a:p>
          <a:p>
            <a:pPr lvl="0" indent="0" marL="0">
              <a:buNone/>
            </a:pPr>
            <a:r>
              <a:rPr/>
              <a:t>A small number of people owned capital in the form of a factory, or mine - or occasionally - state run monopolies in sectors like automotive manufacturing - with very few ‘supervisors’.</a:t>
            </a:r>
          </a:p>
          <a:p>
            <a:pPr lvl="0" indent="0" marL="0">
              <a:buNone/>
            </a:pPr>
          </a:p>
          <a:p>
            <a:pPr lvl="0" indent="0" marL="0">
              <a:buNone/>
            </a:pPr>
            <a:r>
              <a:rPr/>
              <a:t>The division of labour was stark - you had workers on one side and the bosses or state on the other. Most households were </a:t>
            </a:r>
            <a:r>
              <a:rPr i="1"/>
              <a:t>proletarian</a:t>
            </a:r>
            <a:r>
              <a:rPr/>
              <a:t> or “working class” and the bosses were the </a:t>
            </a:r>
            <a:r>
              <a:rPr i="1"/>
              <a:t>bourgeois</a:t>
            </a:r>
            <a:r>
              <a:rPr/>
              <a:t> or capitalist class.</a:t>
            </a:r>
          </a:p>
          <a:p>
            <a:pPr lvl="0" indent="0" marL="0">
              <a:buNone/>
            </a:pPr>
          </a:p>
          <a:p>
            <a:pPr lvl="0"/>
            <a:r>
              <a:rPr/>
              <a:t>See: the Simpsons nuclear power plant.</a:t>
            </a:r>
          </a:p>
          <a:p>
            <a:pPr lvl="0" indent="0" marL="0">
              <a:buNone/>
            </a:pPr>
          </a:p>
          <a:p>
            <a:pPr lvl="0" indent="0" marL="0">
              <a:buNone/>
            </a:pPr>
            <a:r>
              <a:rPr/>
              <a:t>This period coincides with strong trade union membership, a strong sense of working class identity, and a strong understanding of the power that existed in its collectivism.</a:t>
            </a:r>
          </a:p>
          <a:p>
            <a:pPr lvl="0" indent="0" marL="0">
              <a:buNone/>
            </a:pPr>
          </a:p>
          <a:p>
            <a:pPr lvl="0" indent="0" marL="0">
              <a:buNone/>
            </a:pPr>
            <a:r>
              <a:rPr/>
              <a:t>The theoretical underpinning behind class is rooted in the relationship between individual and the means of production. If you didn’t own the equipment which made the product you were working class.</a:t>
            </a:r>
          </a:p>
          <a:p>
            <a:pPr lvl="0" indent="0" marL="0">
              <a:buNone/>
            </a:pPr>
          </a:p>
          <a:p>
            <a:pPr lvl="0" indent="0" marL="0">
              <a:buNone/>
            </a:pPr>
            <a:r>
              <a:rPr/>
              <a:t>Beyond the theoretical (or economical), there are </a:t>
            </a:r>
            <a:r>
              <a:rPr i="1"/>
              <a:t>social</a:t>
            </a:r>
            <a:r>
              <a:rPr/>
              <a:t> elements to class as well - including culture, pastimes, institutions, even where you live.</a:t>
            </a:r>
          </a:p>
          <a:p>
            <a:pPr lvl="0" indent="0" marL="0">
              <a:buNone/>
            </a:pPr>
          </a:p>
          <a:p>
            <a:pPr lvl="0" indent="0" marL="0">
              <a:buNone/>
            </a:pPr>
            <a:r>
              <a:rPr/>
              <a:t>Post the 1960s, the decline in mining, construction, and manufacturing resulted in a change in the structure of the economy - away from manual work, and towards clerical, administrative, and supervisory work - the white collar. Advances in technology further resulted in increases in technician or supervisory, foreman style work at the expense of manual labour.</a:t>
            </a:r>
          </a:p>
          <a:p>
            <a:pPr lvl="0" indent="0" marL="0">
              <a:buNone/>
            </a:pPr>
          </a:p>
          <a:p>
            <a:pPr lvl="0" indent="0" marL="0">
              <a:buNone/>
            </a:pPr>
            <a:r>
              <a:rPr/>
              <a:t>Ratio of services output to manufacturing output.</a:t>
            </a:r>
          </a:p>
          <a:p>
            <a:pPr lvl="0" indent="0" marL="0">
              <a:buNone/>
            </a:pPr>
          </a:p>
          <a:p>
            <a:pPr lvl="0" indent="0" marL="0">
              <a:buNone/>
            </a:pPr>
            <a:r>
              <a:rPr/>
              <a:t>This has had a huge impact on trade union density.</a:t>
            </a:r>
          </a:p>
          <a:p>
            <a:pPr lvl="0" indent="0" marL="0">
              <a:buNone/>
            </a:pPr>
          </a:p>
          <a:p>
            <a:pPr lvl="0" indent="0" marL="0">
              <a:buNone/>
            </a:pPr>
            <a:r>
              <a:rPr/>
              <a:t>Just as the capitalist today is aesthetically different from the factory owner of the industrial revolution, so too has the working class changed.</a:t>
            </a:r>
          </a:p>
          <a:p>
            <a:pPr lvl="0" indent="0" marL="0">
              <a:buNone/>
            </a:pPr>
          </a:p>
          <a:p>
            <a:pPr lvl="0" indent="0" marL="0">
              <a:buNone/>
            </a:pPr>
            <a:r>
              <a:rPr/>
              <a:t>It isn’t as easy today to spot the capitalist class. Unlike in the industrial revolution, the company owner is unlikely to be on the factory floor - patrolling and keeping everyone in line. The modern capitalist tries to trade on the aesthetics of the working class.</a:t>
            </a:r>
          </a:p>
          <a:p>
            <a:pPr lvl="0" indent="0" marL="0">
              <a:buNone/>
            </a:pPr>
          </a:p>
          <a:p>
            <a:pPr lvl="0" indent="0" marL="0">
              <a:buNone/>
            </a:pPr>
            <a:r>
              <a:rPr/>
              <a:t>The concentration of wealth among the capital class however, has only increased since the industrial age. More and more wealth is held by fewer and fewer people. Owning shares, or investing in a mutual fund, does not make you a member of the capitalist class.</a:t>
            </a:r>
          </a:p>
        </p:txBody>
      </p:sp>
      <p:sp>
        <p:nvSpPr>
          <p:cNvPr id="4" name="Slide Number Placeholder 3"/>
          <p:cNvSpPr>
            <a:spLocks noGrp="1"/>
          </p:cNvSpPr>
          <p:nvPr>
            <p:ph type="sldNum" sz="quarter" idx="10"/>
          </p:nvPr>
        </p:nvSpPr>
        <p:spPr/>
        <p:txBody>
          <a:bodyPr/>
          <a:lstStyle/>
          <a:p>
            <a:fld id="{18BDFEC3-8487-43E8-A154-7C12CBC1FFF2}" type="slidenum">
              <a:rPr lang="en-US"/>
              <a:t>80</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Power comes from recognising that productive labour is the only source of value created in the economy. Without workers, there are no products. Without products, there is no profit to be collected by the capitalist. Financial institutions might keep swapping IOUs but this doesn’t make for a happy or fed society.</a:t>
            </a:r>
          </a:p>
          <a:p>
            <a:pPr lvl="0" indent="0" marL="0">
              <a:buNone/>
            </a:pPr>
          </a:p>
          <a:p>
            <a:pPr lvl="0" indent="0" marL="0">
              <a:buNone/>
            </a:pPr>
            <a:r>
              <a:rPr/>
              <a:t>Building labour power</a:t>
            </a:r>
          </a:p>
          <a:p>
            <a:pPr lvl="0" indent="0" marL="0">
              <a:buNone/>
            </a:pPr>
          </a:p>
          <a:p>
            <a:pPr lvl="0" indent="0" marL="0">
              <a:buNone/>
            </a:pPr>
            <a:r>
              <a:rPr/>
              <a:t>Building labour density</a:t>
            </a:r>
          </a:p>
          <a:p>
            <a:pPr lvl="0" indent="0" marL="0">
              <a:buNone/>
            </a:pPr>
          </a:p>
          <a:p>
            <a:pPr lvl="0" indent="0" marL="0">
              <a:buNone/>
            </a:pPr>
            <a:r>
              <a:rPr/>
              <a:t>Individual actions like voting, calling your local MP, protesting, signing a petition. Might work. But constrained by the choices we are offered, lobbying, one person can’t make a difference.</a:t>
            </a:r>
          </a:p>
        </p:txBody>
      </p:sp>
      <p:sp>
        <p:nvSpPr>
          <p:cNvPr id="4" name="Slide Number Placeholder 3"/>
          <p:cNvSpPr>
            <a:spLocks noGrp="1"/>
          </p:cNvSpPr>
          <p:nvPr>
            <p:ph type="sldNum" sz="quarter" idx="10"/>
          </p:nvPr>
        </p:nvSpPr>
        <p:spPr/>
        <p:txBody>
          <a:bodyPr/>
          <a:lstStyle/>
          <a:p>
            <a:fld id="{18BDFEC3-8487-43E8-A154-7C12CBC1FFF2}" type="slidenum">
              <a:rPr lang="en-US"/>
              <a:t>84</a:t>
            </a:fld>
            <a:endParaRPr lang="en-US"/>
          </a:p>
        </p:txBody>
      </p:sp>
    </p:spTree>
  </p:cSld>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020490"/>
            <a:ext cx="7772400" cy="1102519"/>
          </a:xfrm>
        </p:spPr>
        <p:txBody>
          <a:bodyPr/>
          <a:lstStyle>
            <a:lvl1pPr>
              <a:defRPr sz="4000" b="1" i="0" cap="none" baseline="0">
                <a:solidFill>
                  <a:schemeClr val="tx2"/>
                </a:solidFill>
                <a:latin typeface="Stag" panose="02000603060000020004" pitchFamily="2" charset="0"/>
              </a:defRPr>
            </a:lvl1pPr>
          </a:lstStyle>
          <a:p>
            <a:r>
              <a:rPr lang="en-US" dirty="0"/>
              <a:t>Click to edit master title style</a:t>
            </a:r>
          </a:p>
        </p:txBody>
      </p:sp>
      <p:sp>
        <p:nvSpPr>
          <p:cNvPr id="3" name="Subtitle 2"/>
          <p:cNvSpPr>
            <a:spLocks noGrp="1"/>
          </p:cNvSpPr>
          <p:nvPr>
            <p:ph type="subTitle" idx="1"/>
          </p:nvPr>
        </p:nvSpPr>
        <p:spPr>
          <a:xfrm>
            <a:off x="1512000" y="3529538"/>
            <a:ext cx="6400800" cy="508533"/>
          </a:xfrm>
        </p:spPr>
        <p:txBody>
          <a:bodyPr/>
          <a:lstStyle>
            <a:lvl1pPr marL="0" indent="0" algn="ctr">
              <a:buNone/>
              <a:defRPr sz="2200" b="1" i="0" cap="all" baseline="0">
                <a:solidFill>
                  <a:schemeClr val="tx2"/>
                </a:solidFill>
                <a:latin typeface="Helvetica"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pic>
        <p:nvPicPr>
          <p:cNvPr id="7" name="Picture 6" descr="A black and blue logo&#10;&#10;AI-generated content may be incorrect.">
            <a:extLst>
              <a:ext uri="{FF2B5EF4-FFF2-40B4-BE49-F238E27FC236}">
                <a16:creationId xmlns:a16="http://schemas.microsoft.com/office/drawing/2014/main" id="{FE5328CA-2CF8-7AA1-BFBF-639DE8A51604}"/>
              </a:ext>
            </a:extLst>
          </p:cNvPr>
          <p:cNvPicPr>
            <a:picLocks noChangeAspect="1"/>
          </p:cNvPicPr>
          <p:nvPr userDrawn="1"/>
        </p:nvPicPr>
        <p:blipFill>
          <a:blip r:embed="rId3"/>
          <a:srcRect l="1" t="17400" r="-676" b="16465"/>
          <a:stretch>
            <a:fillRect/>
          </a:stretch>
        </p:blipFill>
        <p:spPr>
          <a:xfrm>
            <a:off x="2412000" y="0"/>
            <a:ext cx="3780000" cy="1359694"/>
          </a:xfrm>
          <a:prstGeom prst="rect">
            <a:avLst/>
          </a:prstGeom>
        </p:spPr>
      </p:pic>
      <p:sp>
        <p:nvSpPr>
          <p:cNvPr id="4" name="AutoShape 2">
            <a:extLst>
              <a:ext uri="{FF2B5EF4-FFF2-40B4-BE49-F238E27FC236}">
                <a16:creationId xmlns:a16="http://schemas.microsoft.com/office/drawing/2014/main" id="{BA7A2B98-05DA-985B-02B4-7BF429D6FC88}"/>
              </a:ext>
            </a:extLst>
          </p:cNvPr>
          <p:cNvSpPr/>
          <p:nvPr userDrawn="1"/>
        </p:nvSpPr>
        <p:spPr>
          <a:xfrm rot="10800000">
            <a:off x="4102963" y="3291750"/>
            <a:ext cx="938074" cy="0"/>
          </a:xfrm>
          <a:prstGeom prst="line">
            <a:avLst/>
          </a:prstGeom>
          <a:ln w="28575" cap="flat">
            <a:solidFill>
              <a:srgbClr val="FF5800"/>
            </a:solidFill>
            <a:prstDash val="solid"/>
            <a:headEnd type="none" w="sm" len="sm"/>
            <a:tailEnd type="none" w="sm" len="sm"/>
          </a:ln>
        </p:spPr>
        <p:txBody>
          <a:bodyPr/>
          <a:lstStyle/>
          <a:p>
            <a:endParaRPr lang="en-AU"/>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noAutofit/>
          </a:bodyPr>
          <a:lstStyle>
            <a:lvl1pPr>
              <a:defRPr sz="2400"/>
            </a:lvl1pPr>
          </a:lstStyle>
          <a:p>
            <a:r>
              <a:rPr lang="en-US" dirty="0"/>
              <a:t>Click to edit Master title style</a:t>
            </a:r>
          </a:p>
        </p:txBody>
      </p:sp>
      <p:sp>
        <p:nvSpPr>
          <p:cNvPr id="3" name="Content Placeholder 2"/>
          <p:cNvSpPr>
            <a:spLocks noGrp="1"/>
          </p:cNvSpPr>
          <p:nvPr>
            <p:ph idx="1"/>
          </p:nvPr>
        </p:nvSpPr>
        <p:spPr>
          <a:xfrm>
            <a:off x="457200" y="1587600"/>
            <a:ext cx="8229600" cy="3388923"/>
          </a:xfrm>
        </p:spPr>
        <p:txBody>
          <a:bodyPr>
            <a:normAutofit/>
          </a:bodyPr>
          <a:lstStyle>
            <a:lvl1pPr>
              <a:defRPr sz="1800"/>
            </a:lvl1pPr>
            <a:lvl2pPr>
              <a:defRPr sz="18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reeform 3" descr="A black and white logo&#10;&#10;AI-generated content may be incorrect.">
            <a:extLst>
              <a:ext uri="{FF2B5EF4-FFF2-40B4-BE49-F238E27FC236}">
                <a16:creationId xmlns:a16="http://schemas.microsoft.com/office/drawing/2014/main" id="{FE1CDE46-3A4A-2014-8F77-5556E9DC868E}"/>
              </a:ext>
            </a:extLst>
          </p:cNvPr>
          <p:cNvSpPr/>
          <p:nvPr userDrawn="1"/>
        </p:nvSpPr>
        <p:spPr>
          <a:xfrm>
            <a:off x="6942719" y="-242685"/>
            <a:ext cx="2110375" cy="116141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dirty="0"/>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nchor="t"/>
          <a:lstStyle>
            <a:lvl1pPr algn="ctr">
              <a:defRPr sz="3000" b="1" i="0" cap="none" baseline="0"/>
            </a:lvl1pPr>
          </a:lstStyle>
          <a:p>
            <a:r>
              <a:rPr lang="en-US" dirty="0"/>
              <a:t>Click to edit Master title style</a:t>
            </a:r>
          </a:p>
        </p:txBody>
      </p:sp>
      <p:sp>
        <p:nvSpPr>
          <p:cNvPr id="3" name="Text Placeholder 2"/>
          <p:cNvSpPr>
            <a:spLocks noGrp="1"/>
          </p:cNvSpPr>
          <p:nvPr>
            <p:ph type="body" idx="1"/>
          </p:nvPr>
        </p:nvSpPr>
        <p:spPr>
          <a:xfrm>
            <a:off x="579303" y="2997122"/>
            <a:ext cx="7772400" cy="1125140"/>
          </a:xfrm>
        </p:spPr>
        <p:txBody>
          <a:bodyPr anchor="ctr"/>
          <a:lstStyle>
            <a:lvl1pPr marL="0" indent="0" algn="ctr">
              <a:buNone/>
              <a:defRPr sz="1500" b="1" i="0" cap="all" baseline="0">
                <a:solidFill>
                  <a:schemeClr val="tx2"/>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7" name="AutoShape 2">
            <a:extLst>
              <a:ext uri="{FF2B5EF4-FFF2-40B4-BE49-F238E27FC236}">
                <a16:creationId xmlns:a16="http://schemas.microsoft.com/office/drawing/2014/main" id="{72358C08-E3A7-86ED-0094-0406B22E75B3}"/>
              </a:ext>
            </a:extLst>
          </p:cNvPr>
          <p:cNvSpPr/>
          <p:nvPr userDrawn="1"/>
        </p:nvSpPr>
        <p:spPr>
          <a:xfrm rot="10800000">
            <a:off x="4102963" y="2571750"/>
            <a:ext cx="938074" cy="0"/>
          </a:xfrm>
          <a:prstGeom prst="line">
            <a:avLst/>
          </a:prstGeom>
          <a:ln w="28575" cap="flat">
            <a:solidFill>
              <a:srgbClr val="FF5800"/>
            </a:solidFill>
            <a:prstDash val="solid"/>
            <a:headEnd type="none" w="sm" len="sm"/>
            <a:tailEnd type="none" w="sm" len="sm"/>
          </a:ln>
        </p:spPr>
        <p:txBody>
          <a:bodyPr/>
          <a:lstStyle/>
          <a:p>
            <a:endParaRPr lang="en-AU"/>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lvl1pPr>
          </a:lstStyle>
          <a:p>
            <a:r>
              <a:rPr lang="en-US" dirty="0"/>
              <a:t>Click to edit Master title style</a:t>
            </a:r>
          </a:p>
        </p:txBody>
      </p:sp>
      <p:sp>
        <p:nvSpPr>
          <p:cNvPr id="3" name="Content Placeholder 2"/>
          <p:cNvSpPr>
            <a:spLocks noGrp="1"/>
          </p:cNvSpPr>
          <p:nvPr>
            <p:ph sz="half" idx="1"/>
          </p:nvPr>
        </p:nvSpPr>
        <p:spPr>
          <a:xfrm>
            <a:off x="457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4" name="Content Placeholder 3"/>
          <p:cNvSpPr>
            <a:spLocks noGrp="1"/>
          </p:cNvSpPr>
          <p:nvPr>
            <p:ph sz="half" idx="2"/>
          </p:nvPr>
        </p:nvSpPr>
        <p:spPr>
          <a:xfrm>
            <a:off x="458787" y="1170712"/>
            <a:ext cx="4040188" cy="3881185"/>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6" y="1170712"/>
            <a:ext cx="4041775" cy="3881184"/>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12000" y="168869"/>
            <a:ext cx="5611236" cy="871538"/>
          </a:xfrm>
        </p:spPr>
        <p:txBody>
          <a:bodyPr anchor="ctr"/>
          <a:lstStyle>
            <a:lvl1pPr algn="l">
              <a:defRPr sz="1500" b="1">
                <a:solidFill>
                  <a:schemeClr val="bg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3294434" y="1131750"/>
            <a:ext cx="5611236" cy="385529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38330" y="1702342"/>
            <a:ext cx="2592420" cy="2309408"/>
          </a:xfrm>
        </p:spPr>
        <p:txBody>
          <a:bodyPr>
            <a:normAutofit/>
          </a:bodyPr>
          <a:lstStyle>
            <a:lvl1pPr marL="0" indent="0">
              <a:buNone/>
              <a:defRPr sz="1400" b="1">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AutoShape 2">
            <a:extLst>
              <a:ext uri="{FF2B5EF4-FFF2-40B4-BE49-F238E27FC236}">
                <a16:creationId xmlns:a16="http://schemas.microsoft.com/office/drawing/2014/main" id="{C7E92F9F-AFB1-6054-535D-E0F54FB6A585}"/>
              </a:ext>
            </a:extLst>
          </p:cNvPr>
          <p:cNvSpPr/>
          <p:nvPr userDrawn="1"/>
        </p:nvSpPr>
        <p:spPr>
          <a:xfrm rot="10800000">
            <a:off x="238329" y="1444279"/>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6" name="AutoShape 2">
            <a:extLst>
              <a:ext uri="{FF2B5EF4-FFF2-40B4-BE49-F238E27FC236}">
                <a16:creationId xmlns:a16="http://schemas.microsoft.com/office/drawing/2014/main" id="{806FC455-F5B4-2827-0E48-1D1A25236EBA}"/>
              </a:ext>
            </a:extLst>
          </p:cNvPr>
          <p:cNvSpPr/>
          <p:nvPr userDrawn="1"/>
        </p:nvSpPr>
        <p:spPr>
          <a:xfrm rot="10800000">
            <a:off x="252000" y="4371750"/>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7" name="Freeform 3" descr="A black and white logo&#10;&#10;AI-generated content may be incorrect.">
            <a:extLst>
              <a:ext uri="{FF2B5EF4-FFF2-40B4-BE49-F238E27FC236}">
                <a16:creationId xmlns:a16="http://schemas.microsoft.com/office/drawing/2014/main" id="{BA2BBF0F-DC0E-6D99-B6BB-6631CDE6C2A7}"/>
              </a:ext>
            </a:extLst>
          </p:cNvPr>
          <p:cNvSpPr/>
          <p:nvPr userDrawn="1"/>
        </p:nvSpPr>
        <p:spPr>
          <a:xfrm>
            <a:off x="64238" y="-59565"/>
            <a:ext cx="2780182" cy="153003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12000" y="168869"/>
            <a:ext cx="5611236" cy="871538"/>
          </a:xfrm>
        </p:spPr>
        <p:txBody>
          <a:bodyPr anchor="ctr"/>
          <a:lstStyle>
            <a:lvl1pPr algn="l">
              <a:defRPr sz="1500" b="1">
                <a:solidFill>
                  <a:schemeClr val="bg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3294434" y="1131750"/>
            <a:ext cx="5611236" cy="385529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38330" y="1702342"/>
            <a:ext cx="2592420" cy="2309408"/>
          </a:xfrm>
        </p:spPr>
        <p:txBody>
          <a:bodyPr>
            <a:normAutofit/>
          </a:bodyPr>
          <a:lstStyle>
            <a:lvl1pPr marL="0" indent="0">
              <a:buNone/>
              <a:defRPr sz="1400" b="1">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AutoShape 2">
            <a:extLst>
              <a:ext uri="{FF2B5EF4-FFF2-40B4-BE49-F238E27FC236}">
                <a16:creationId xmlns:a16="http://schemas.microsoft.com/office/drawing/2014/main" id="{C7E92F9F-AFB1-6054-535D-E0F54FB6A585}"/>
              </a:ext>
            </a:extLst>
          </p:cNvPr>
          <p:cNvSpPr/>
          <p:nvPr userDrawn="1"/>
        </p:nvSpPr>
        <p:spPr>
          <a:xfrm rot="10800000">
            <a:off x="238329" y="1444279"/>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6" name="AutoShape 2">
            <a:extLst>
              <a:ext uri="{FF2B5EF4-FFF2-40B4-BE49-F238E27FC236}">
                <a16:creationId xmlns:a16="http://schemas.microsoft.com/office/drawing/2014/main" id="{806FC455-F5B4-2827-0E48-1D1A25236EBA}"/>
              </a:ext>
            </a:extLst>
          </p:cNvPr>
          <p:cNvSpPr/>
          <p:nvPr userDrawn="1"/>
        </p:nvSpPr>
        <p:spPr>
          <a:xfrm rot="10800000">
            <a:off x="252000" y="4371750"/>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7" name="Freeform 3" descr="A black and white logo&#10;&#10;AI-generated content may be incorrect.">
            <a:extLst>
              <a:ext uri="{FF2B5EF4-FFF2-40B4-BE49-F238E27FC236}">
                <a16:creationId xmlns:a16="http://schemas.microsoft.com/office/drawing/2014/main" id="{BA2BBF0F-DC0E-6D99-B6BB-6631CDE6C2A7}"/>
              </a:ext>
            </a:extLst>
          </p:cNvPr>
          <p:cNvSpPr/>
          <p:nvPr userDrawn="1"/>
        </p:nvSpPr>
        <p:spPr>
          <a:xfrm>
            <a:off x="64238" y="-59565"/>
            <a:ext cx="2780182" cy="153003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a:p>
        </p:txBody>
      </p:sp>
    </p:spTree>
    <p:extLst>
      <p:ext uri="{BB962C8B-B14F-4D97-AF65-F5344CB8AC3E}">
        <p14:creationId xmlns:p14="http://schemas.microsoft.com/office/powerpoint/2010/main" val="3860362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media/image1.png" Type="http://schemas.openxmlformats.org/officeDocument/2006/relationships/imag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dirty="0" lang="en-US"/>
              <a:t>Click to edit Master title style</a:t>
            </a:r>
          </a:p>
        </p:txBody>
      </p:sp>
      <p:sp>
        <p:nvSpPr>
          <p:cNvPr id="3" name="Text Placeholder 2"/>
          <p:cNvSpPr>
            <a:spLocks noGrp="1"/>
          </p:cNvSpPr>
          <p:nvPr>
            <p:ph idx="1" type="body"/>
          </p:nvPr>
        </p:nvSpPr>
        <p:spPr>
          <a:xfrm>
            <a:off x="457200" y="1200151"/>
            <a:ext cx="8229600" cy="3737370"/>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58" r:id="rId10"/>
    <p:sldLayoutId id="2147483659" r:id="rId11"/>
  </p:sldLayoutIdLst>
  <p:txStyles>
    <p:titleStyle>
      <a:lvl1pPr algn="ctr" defTabSz="342900" eaLnBrk="1" hangingPunct="1" latinLnBrk="0" rtl="0">
        <a:spcBef>
          <a:spcPct val="0"/>
        </a:spcBef>
        <a:buNone/>
        <a:defRPr b="1" baseline="0" cap="all" i="0" kern="1200" sz="3300">
          <a:solidFill>
            <a:schemeClr val="tx2"/>
          </a:solidFill>
          <a:latin charset="0" panose="02000603060000020004" pitchFamily="2" typeface="Stag"/>
          <a:ea typeface="+mj-ea"/>
          <a:cs typeface="+mj-cs"/>
        </a:defRPr>
      </a:lvl1pPr>
    </p:titleStyle>
    <p:bodyStyle>
      <a:lvl1pPr algn="l" defTabSz="342900" eaLnBrk="1" hangingPunct="1" indent="-342900" latinLnBrk="0" marL="342900" rtl="0">
        <a:spcBef>
          <a:spcPct val="20000"/>
        </a:spcBef>
        <a:buFont typeface="Arial"/>
        <a:buChar char="•"/>
        <a:defRPr baseline="0" kern="1200" sz="2400">
          <a:solidFill>
            <a:schemeClr val="tx1"/>
          </a:solidFill>
          <a:latin charset="0" pitchFamily="2" typeface="Helvetica"/>
          <a:ea typeface="+mn-ea"/>
          <a:cs typeface="+mn-cs"/>
        </a:defRPr>
      </a:lvl1pPr>
      <a:lvl2pPr algn="l" defTabSz="342900" eaLnBrk="1" hangingPunct="1" indent="-342900" latinLnBrk="0" marL="685800" rtl="0">
        <a:spcBef>
          <a:spcPct val="20000"/>
        </a:spcBef>
        <a:buFont typeface="Arial"/>
        <a:buChar char="–"/>
        <a:defRPr baseline="0" kern="1200" sz="2100">
          <a:solidFill>
            <a:schemeClr val="tx1"/>
          </a:solidFill>
          <a:latin charset="0" pitchFamily="2" typeface="Helvetica"/>
          <a:ea typeface="+mn-ea"/>
          <a:cs typeface="+mn-cs"/>
        </a:defRPr>
      </a:lvl2pPr>
      <a:lvl3pPr algn="l" defTabSz="342900" eaLnBrk="1" hangingPunct="1" indent="-342900" latinLnBrk="0" marL="1028700" rtl="0">
        <a:spcBef>
          <a:spcPct val="20000"/>
        </a:spcBef>
        <a:buFont typeface="Arial"/>
        <a:buChar char="•"/>
        <a:defRPr baseline="0" kern="1200" sz="1800">
          <a:solidFill>
            <a:schemeClr val="tx1"/>
          </a:solidFill>
          <a:latin charset="0" pitchFamily="2" typeface="Helvetica"/>
          <a:ea typeface="+mn-ea"/>
          <a:cs typeface="+mn-cs"/>
        </a:defRPr>
      </a:lvl3pPr>
      <a:lvl4pPr algn="l" defTabSz="342900" eaLnBrk="1" hangingPunct="1" indent="-342900" latinLnBrk="0" marL="1371600" rtl="0">
        <a:spcBef>
          <a:spcPct val="20000"/>
        </a:spcBef>
        <a:buFont typeface="Arial"/>
        <a:buChar char="–"/>
        <a:defRPr baseline="0" kern="1200" sz="1500">
          <a:solidFill>
            <a:schemeClr val="tx1"/>
          </a:solidFill>
          <a:latin charset="0" pitchFamily="2" typeface="Helvetica"/>
          <a:ea typeface="+mn-ea"/>
          <a:cs typeface="+mn-cs"/>
        </a:defRPr>
      </a:lvl4pPr>
      <a:lvl5pPr algn="l" defTabSz="342900" eaLnBrk="1" hangingPunct="1" indent="-342900" latinLnBrk="0" marL="1714500" rtl="0">
        <a:spcBef>
          <a:spcPct val="20000"/>
        </a:spcBef>
        <a:buFont typeface="Arial"/>
        <a:buChar char="»"/>
        <a:defRPr baseline="0" kern="1200" sz="1500">
          <a:solidFill>
            <a:schemeClr val="tx1"/>
          </a:solidFill>
          <a:latin charset="0" pitchFamily="2" typeface="Helvetica"/>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youtu.be/mt2bVFkkMmQ"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nocookie.com/watch?v=MVErL94YLGM" TargetMode="Externa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nocookie.com/watch?v=KSS6wEb-fvA" TargetMode="Externa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6.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7.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8.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nocookie.com/watch?v=g6-lciEvkpA" TargetMode="Externa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9.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10.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nocookie.com/watch?v=00npeUY_1Vg" TargetMode="Externa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image" Target="../media/image11.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12.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 Id="rId3" Type="http://schemas.openxmlformats.org/officeDocument/2006/relationships/image" Target="../media/image13.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4.png"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image" Target="../media/image15.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image" Target="../media/image16.png"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20.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image" Target="../media/image17.png"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image" Target="../media/image18.webp"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9.png" /></Relationships>
</file>

<file path=ppt/slides/_rels/slide5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0.png"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 Id="rId3" Type="http://schemas.openxmlformats.org/officeDocument/2006/relationships/image" Target="../media/image21.png"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nocookie.com/watch?v=pQPv5oUfsbg" TargetMode="Externa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youtu.be/vt5X8zrHiSM?si=tDM75Th0pBtxsyRc" TargetMode="Externa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nocookie.com/watch?v=QPKKQnijnsM" TargetMode="Externa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2.jpg"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3.jpg" /></Relationships>
</file>

<file path=ppt/slides/_rels/slide84.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3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685800" y="2020490"/>
            <a:ext cx="7772400" cy="1102519"/>
          </a:xfrm>
        </p:spPr>
        <p:txBody>
          <a:bodyPr/>
          <a:lstStyle/>
          <a:p>
            <a:pPr lvl="0" indent="0" marL="0">
              <a:buNone/>
            </a:pPr>
            <a:r>
              <a:rPr/>
              <a:t>Economics and Political Economy</a:t>
            </a:r>
          </a:p>
        </p:txBody>
      </p:sp>
      <p:sp>
        <p:nvSpPr>
          <p:cNvPr id="3" name="Subtitle 2"/>
          <p:cNvSpPr>
            <a:spLocks noGrp="1"/>
          </p:cNvSpPr>
          <p:nvPr>
            <p:ph idx="1" type="subTitle"/>
          </p:nvPr>
        </p:nvSpPr>
        <p:spPr>
          <a:xfrm>
            <a:off x="1512000" y="3529538"/>
            <a:ext cx="6400800" cy="508533"/>
          </a:xfrm>
        </p:spPr>
        <p:txBody>
          <a:bodyPr/>
          <a:lstStyle/>
          <a:p>
            <a:pPr lvl="0" indent="0" marL="0">
              <a:buNone/>
            </a:pPr>
            <a:r>
              <a:rPr/>
              <a:t>Useful Economics</a:t>
            </a:r>
            <a:br/>
            <a:br/>
            <a:r>
              <a:rPr/>
              <a:t>Hamish Gamble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Hot Topics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BREAKING NEWS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Tumbles!</a:t>
            </a:r>
          </a:p>
        </p:txBody>
      </p:sp>
      <p:sp>
        <p:nvSpPr>
          <p:cNvPr id="3" name="Content Placeholder 2"/>
          <p:cNvSpPr>
            <a:spLocks noGrp="1"/>
          </p:cNvSpPr>
          <p:nvPr>
            <p:ph idx="1"/>
          </p:nvPr>
        </p:nvSpPr>
        <p:spPr/>
        <p:txBody>
          <a:bodyPr/>
          <a:lstStyle/>
          <a:p>
            <a:pPr lvl="0" indent="0" marL="0">
              <a:buNone/>
            </a:pPr>
            <a:r>
              <a:rPr>
                <a:hlinkClick r:id="rId2"/>
              </a:rPr>
              <a:t>https://youtu.be/mt2bVFkkMmQ</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Discussion</a:t>
            </a:r>
          </a:p>
        </p:txBody>
      </p:sp>
      <p:sp>
        <p:nvSpPr>
          <p:cNvPr id="3" name="Content Placeholder 2"/>
          <p:cNvSpPr>
            <a:spLocks noGrp="1"/>
          </p:cNvSpPr>
          <p:nvPr>
            <p:ph idx="1"/>
          </p:nvPr>
        </p:nvSpPr>
        <p:spPr/>
        <p:txBody>
          <a:bodyPr/>
          <a:lstStyle/>
          <a:p>
            <a:pPr lvl="0"/>
            <a:r>
              <a:rPr/>
              <a:t>Why do economists care about inflation?</a:t>
            </a:r>
          </a:p>
          <a:p>
            <a:pPr lvl="0"/>
            <a:r>
              <a:rPr/>
              <a:t>What is inflation measuring?</a:t>
            </a:r>
          </a:p>
          <a:p>
            <a:pPr lvl="0"/>
            <a:r>
              <a:rPr/>
              <a:t>What does a decrease in inflation mean?</a:t>
            </a:r>
          </a:p>
          <a:p>
            <a:pPr lvl="0"/>
            <a:r>
              <a:rPr/>
              <a:t>How does the video match your experience?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 Crisis!</a:t>
            </a:r>
          </a:p>
        </p:txBody>
      </p:sp>
      <p:sp>
        <p:nvSpPr>
          <p:cNvPr id="3" name="Content Placeholder 2"/>
          <p:cNvSpPr>
            <a:spLocks noGrp="1"/>
          </p:cNvSpPr>
          <p:nvPr>
            <p:ph idx="1"/>
          </p:nvPr>
        </p:nvSpPr>
        <p:spPr/>
        <p:txBody>
          <a:bodyPr/>
          <a:lstStyle/>
          <a:p>
            <a:pPr lvl="0" indent="0" marL="0">
              <a:buNone/>
            </a:pPr>
            <a:r>
              <a:rPr>
                <a:hlinkClick r:id="rId2"/>
              </a:rPr>
              <a:t>https://www.youtube-nocookie.com/watch?v=MVErL94YLGM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 Discussion</a:t>
            </a:r>
          </a:p>
        </p:txBody>
      </p:sp>
      <p:sp>
        <p:nvSpPr>
          <p:cNvPr id="3" name="Content Placeholder 2"/>
          <p:cNvSpPr>
            <a:spLocks noGrp="1"/>
          </p:cNvSpPr>
          <p:nvPr>
            <p:ph idx="1"/>
          </p:nvPr>
        </p:nvSpPr>
        <p:spPr/>
        <p:txBody>
          <a:bodyPr/>
          <a:lstStyle/>
          <a:p>
            <a:pPr lvl="0"/>
            <a:r>
              <a:rPr/>
              <a:t>Why do economists care about productivity?</a:t>
            </a:r>
          </a:p>
          <a:p>
            <a:pPr lvl="0"/>
            <a:r>
              <a:rPr/>
              <a:t>What is productivity measuring?</a:t>
            </a:r>
          </a:p>
          <a:p>
            <a:pPr lvl="0"/>
            <a:r>
              <a:rPr/>
              <a:t>Who benefits from increased productivity?</a:t>
            </a:r>
          </a:p>
          <a:p>
            <a:pPr lvl="0"/>
            <a:r>
              <a:rPr/>
              <a:t>What factors influence how productive you feel at work?</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Discussion: Economic Reports</a:t>
            </a:r>
          </a:p>
        </p:txBody>
      </p:sp>
      <p:sp>
        <p:nvSpPr>
          <p:cNvPr id="3" name="Content Placeholder 2"/>
          <p:cNvSpPr>
            <a:spLocks noGrp="1"/>
          </p:cNvSpPr>
          <p:nvPr>
            <p:ph idx="1"/>
          </p:nvPr>
        </p:nvSpPr>
        <p:spPr/>
        <p:txBody>
          <a:bodyPr/>
          <a:lstStyle/>
          <a:p>
            <a:pPr lvl="0" indent="-342900" marL="342900">
              <a:buAutoNum type="arabicPeriod"/>
            </a:pPr>
            <a:r>
              <a:rPr/>
              <a:t>What kind of language is used in economic reports on the news?</a:t>
            </a:r>
          </a:p>
          <a:p>
            <a:pPr lvl="0" indent="-342900" marL="342900">
              <a:buAutoNum type="arabicPeriod"/>
            </a:pPr>
            <a:r>
              <a:rPr/>
              <a:t>Why does the news include a finance report?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What Goes Unquestioned?</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No one could imagine any alternative to the status quo, and politicians and citizens alike were resigned to maintaining the pretense of a functioning society</a:t>
            </a:r>
          </a:p>
          <a:p>
            <a:pPr lvl="0" indent="0" marL="1270000">
              <a:buNone/>
            </a:pPr>
            <a:r>
              <a:rPr sz="2000" i="1"/>
              <a:t>Alexei Yurchack, Everything Was Forever, Until It Was No More: The Last Soviet Generation (2006)</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What Goes Unquestioned?</a:t>
            </a:r>
          </a:p>
        </p:txBody>
      </p:sp>
      <p:sp>
        <p:nvSpPr>
          <p:cNvPr id="3" name="Content Placeholder 2"/>
          <p:cNvSpPr>
            <a:spLocks noGrp="1"/>
          </p:cNvSpPr>
          <p:nvPr>
            <p:ph idx="1"/>
          </p:nvPr>
        </p:nvSpPr>
        <p:spPr/>
        <p:txBody>
          <a:bodyPr/>
          <a:lstStyle/>
          <a:p>
            <a:pPr lvl="0" indent="0" marL="0">
              <a:buNone/>
            </a:pPr>
            <a:r>
              <a:rPr>
                <a:hlinkClick r:id="rId2"/>
              </a:rPr>
              <a:t>https://www.youtube-nocookie.com/watch?v=KSS6wEb-fvA</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Capitalist Realism</a:t>
            </a:r>
          </a:p>
        </p:txBody>
      </p:sp>
      <p:sp>
        <p:nvSpPr>
          <p:cNvPr id="3" name="Content Placeholder 2"/>
          <p:cNvSpPr>
            <a:spLocks noGrp="1"/>
          </p:cNvSpPr>
          <p:nvPr>
            <p:ph idx="1"/>
          </p:nvPr>
        </p:nvSpPr>
        <p:spPr/>
        <p:txBody>
          <a:bodyPr/>
          <a:lstStyle/>
          <a:p>
            <a:pPr lvl="0"/>
            <a:r>
              <a:rPr/>
              <a:t>Capitalism is the only viable political and economic system.</a:t>
            </a:r>
          </a:p>
          <a:p>
            <a:pPr lvl="0"/>
            <a:r>
              <a:rPr/>
              <a:t>Contradictions, and crises in our economy can be solved only through capitalist solutions, i.e. taxes, regulation</a:t>
            </a:r>
          </a:p>
          <a:p>
            <a:pPr lvl="0"/>
            <a:r>
              <a:rPr/>
              <a:t>The actions of individuals can be explained by their individual wants, needs, and talents.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Implicit Acceptance</a:t>
            </a:r>
          </a:p>
        </p:txBody>
      </p:sp>
      <p:sp>
        <p:nvSpPr>
          <p:cNvPr id="3" name="Content Placeholder 2"/>
          <p:cNvSpPr>
            <a:spLocks noGrp="1"/>
          </p:cNvSpPr>
          <p:nvPr>
            <p:ph idx="1"/>
          </p:nvPr>
        </p:nvSpPr>
        <p:spPr/>
        <p:txBody>
          <a:bodyPr/>
          <a:lstStyle/>
          <a:p>
            <a:pPr lvl="0"/>
            <a:r>
              <a:rPr/>
              <a:t>There is an imbalance in power between workers and bosses.</a:t>
            </a:r>
          </a:p>
          <a:p>
            <a:pPr lvl="0"/>
            <a:r>
              <a:rPr/>
              <a:t>Efficient markets lead to optimal allocation of resources.</a:t>
            </a:r>
          </a:p>
          <a:p>
            <a:pPr lvl="0"/>
            <a:r>
              <a:rPr/>
              <a:t>Competition is an inevitable part of human society.</a:t>
            </a:r>
          </a:p>
          <a:p>
            <a:pPr lvl="0"/>
            <a:r>
              <a:rPr/>
              <a:t>Inequality is inevitable.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Chatting Economics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The purpose of studying economics is not to acquire a set of ready-made answers to economic questions, but to learn how to avoid being deceived by economists.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Inflation</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(or, the Consumer Price Index)</a:t>
            </a:r>
          </a:p>
        </p:txBody>
      </p:sp>
      <p:sp>
        <p:nvSpPr>
          <p:cNvPr id="3" name="Content Placeholder 2"/>
          <p:cNvSpPr>
            <a:spLocks noGrp="1"/>
          </p:cNvSpPr>
          <p:nvPr>
            <p:ph idx="1"/>
          </p:nvPr>
        </p:nvSpPr>
        <p:spPr/>
        <p:txBody>
          <a:bodyPr/>
          <a:lstStyle/>
          <a:p>
            <a:pPr lvl="0"/>
            <a:r>
              <a:rPr/>
              <a:t>The CPI is a measure of changes in the price of a “basket” of goods and services.</a:t>
            </a:r>
          </a:p>
          <a:p>
            <a:pPr lvl="0"/>
            <a:r>
              <a:rPr/>
              <a:t>The basket includes (among other things):</a:t>
            </a:r>
          </a:p>
          <a:p>
            <a:pPr lvl="1"/>
            <a:r>
              <a:rPr/>
              <a:t>Food and non-alcoholic beverages, alcohol and tobacco, and housing</a:t>
            </a:r>
          </a:p>
          <a:p>
            <a:pPr lvl="0"/>
            <a:r>
              <a:rPr/>
              <a:t>It represents the average inflation experience - and is </a:t>
            </a:r>
            <a:r>
              <a:rPr b="1"/>
              <a:t>not</a:t>
            </a:r>
            <a:r>
              <a:rPr/>
              <a:t> reflective of changes in cost of living.</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Reporting Inflation - Index</a:t>
            </a:r>
          </a:p>
        </p:txBody>
      </p:sp>
      <p:sp>
        <p:nvSpPr>
          <p:cNvPr id="3" name="Content Placeholder 2"/>
          <p:cNvSpPr>
            <a:spLocks noGrp="1"/>
          </p:cNvSpPr>
          <p:nvPr>
            <p:ph idx="1"/>
          </p:nvPr>
        </p:nvSpPr>
        <p:spPr/>
        <p:txBody>
          <a:bodyPr/>
          <a:lstStyle/>
          <a:p>
            <a:pPr lvl="0"/>
            <a:r>
              <a:rPr/>
              <a:t>CPI data is reported as an </a:t>
            </a:r>
            <a:r>
              <a:rPr b="1" i="1"/>
              <a:t>index</a:t>
            </a:r>
            <a:r>
              <a:rPr/>
              <a:t>, or as a % change compared to the previous quarter, or previous year.</a:t>
            </a:r>
          </a:p>
          <a:p>
            <a:pPr lvl="1"/>
            <a:r>
              <a:rPr/>
              <a:t>an </a:t>
            </a:r>
            <a:r>
              <a:rPr i="1"/>
              <a:t>index</a:t>
            </a:r>
            <a:r>
              <a:rPr/>
              <a:t> shows how prices have changed relative to a value of 100 in a reference period.</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Reporting Inflation - Percentage Change</a:t>
            </a:r>
          </a:p>
        </p:txBody>
      </p:sp>
      <p:sp>
        <p:nvSpPr>
          <p:cNvPr id="3" name="Content Placeholder 2"/>
          <p:cNvSpPr>
            <a:spLocks noGrp="1"/>
          </p:cNvSpPr>
          <p:nvPr>
            <p:ph idx="1"/>
          </p:nvPr>
        </p:nvSpPr>
        <p:spPr/>
        <p:txBody>
          <a:bodyPr/>
          <a:lstStyle/>
          <a:p>
            <a:pPr lvl="0"/>
            <a:r>
              <a:rPr/>
              <a:t>CPI data is reported as an index, or as a </a:t>
            </a:r>
            <a:r>
              <a:rPr b="1"/>
              <a:t>% change in since last month, last quarter, or last year.</a:t>
            </a:r>
          </a:p>
          <a:p>
            <a:pPr lvl="1"/>
            <a:r>
              <a:rPr/>
              <a:t>A percentage change measures the relative change in prices compared to another period.</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Percentage Change</a:t>
            </a:r>
          </a:p>
        </p:txBody>
      </p:sp>
      <p:pic>
        <p:nvPicPr>
          <p:cNvPr descr="du4-economics-political-economy-hamish-gamble_files/figure-pptx/inflation-pc-1.pn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Index</a:t>
            </a:r>
          </a:p>
        </p:txBody>
      </p:sp>
      <p:pic>
        <p:nvPicPr>
          <p:cNvPr descr="du4-economics-political-economy-hamish-gamble_files/figure-pptx/inflation-index-1.pn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By Type</a:t>
            </a:r>
          </a:p>
        </p:txBody>
      </p:sp>
      <p:pic>
        <p:nvPicPr>
          <p:cNvPr descr="du4-economics-political-economy-hamish-gamble_files/figure-pptx/unnamed-chunk-1-1.pn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Cost of Living</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4038600" cy="38608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buNone/>
                      </a:pPr>
                      <a:r>
                        <a:rPr b="1"/>
                        <a:t>Change in living costs by product category</a:t>
                      </a:r>
                    </a:p>
                  </a:txBody>
                  <a:tcPr/>
                </a:tc>
                <a:tc>
                  <a:txBody>
                    <a:bodyPr/>
                    <a:lstStyle/>
                    <a:p>
                      <a:endParaRPr/>
                    </a:p>
                  </a:txBody>
                  <a:tcPr/>
                </a:tc>
              </a:tr>
              <a:tr h="0">
                <a:tc>
                  <a:txBody>
                    <a:bodyPr/>
                    <a:lstStyle/>
                    <a:p>
                      <a:pPr lvl="0" indent="0" marL="0">
                        <a:buNone/>
                      </a:pPr>
                      <a:r>
                        <a:rPr/>
                        <a:t>% change between March 2026 and March 2025</a:t>
                      </a:r>
                    </a:p>
                  </a:txBody>
                </a:tc>
                <a:tc>
                  <a:txBody>
                    <a:bodyPr/>
                    <a:lstStyle/>
                    <a:p>
                      <a:endParaRPr/>
                    </a:p>
                  </a:txBody>
                </a:tc>
              </a:tr>
              <a:tr h="0">
                <a:tc>
                  <a:txBody>
                    <a:bodyPr/>
                    <a:lstStyle/>
                    <a:p>
                      <a:pPr lvl="0" indent="0" marL="0">
                        <a:buNone/>
                      </a:pPr>
                      <a:r>
                        <a:rPr/>
                        <a:t>Price Category</a:t>
                      </a:r>
                    </a:p>
                  </a:txBody>
                </a:tc>
                <a:tc>
                  <a:txBody>
                    <a:bodyPr/>
                    <a:lstStyle/>
                    <a:p>
                      <a:pPr lvl="0" indent="0" marL="0">
                        <a:buNone/>
                      </a:pPr>
                      <a:r>
                        <a:rPr/>
                        <a:t>% change</a:t>
                      </a:r>
                    </a:p>
                  </a:txBody>
                </a:tc>
              </a:tr>
              <a:tr h="0">
                <a:tc>
                  <a:txBody>
                    <a:bodyPr/>
                    <a:lstStyle/>
                    <a:p>
                      <a:pPr lvl="0" indent="0" marL="0">
                        <a:buNone/>
                      </a:pPr>
                      <a:r>
                        <a:rPr/>
                        <a:t>Housing</a:t>
                      </a:r>
                    </a:p>
                  </a:txBody>
                </a:tc>
                <a:tc>
                  <a:txBody>
                    <a:bodyPr/>
                    <a:lstStyle/>
                    <a:p>
                      <a:pPr lvl="0" indent="0" marL="0">
                        <a:buNone/>
                      </a:pPr>
                      <a:r>
                        <a:rPr/>
                        <a:t>8.3%</a:t>
                      </a:r>
                    </a:p>
                  </a:txBody>
                </a:tc>
              </a:tr>
              <a:tr h="0">
                <a:tc>
                  <a:txBody>
                    <a:bodyPr/>
                    <a:lstStyle/>
                    <a:p>
                      <a:pPr lvl="0" indent="0" marL="0">
                        <a:buNone/>
                      </a:pPr>
                      <a:r>
                        <a:rPr/>
                        <a:t>Clothing and footwear</a:t>
                      </a:r>
                    </a:p>
                  </a:txBody>
                </a:tc>
                <a:tc>
                  <a:txBody>
                    <a:bodyPr/>
                    <a:lstStyle/>
                    <a:p>
                      <a:pPr lvl="0" indent="0" marL="0">
                        <a:buNone/>
                      </a:pPr>
                      <a:r>
                        <a:rPr/>
                        <a:t>5.5%</a:t>
                      </a:r>
                    </a:p>
                  </a:txBody>
                </a:tc>
              </a:tr>
              <a:tr h="0">
                <a:tc>
                  <a:txBody>
                    <a:bodyPr/>
                    <a:lstStyle/>
                    <a:p>
                      <a:pPr lvl="0" indent="0" marL="0">
                        <a:buNone/>
                      </a:pPr>
                      <a:r>
                        <a:rPr/>
                        <a:t>Alcohol and tobacco</a:t>
                      </a:r>
                    </a:p>
                  </a:txBody>
                </a:tc>
                <a:tc>
                  <a:txBody>
                    <a:bodyPr/>
                    <a:lstStyle/>
                    <a:p>
                      <a:pPr lvl="0" indent="0" marL="0">
                        <a:buNone/>
                      </a:pPr>
                      <a:r>
                        <a:rPr/>
                        <a:t>4.4%</a:t>
                      </a:r>
                    </a:p>
                  </a:txBody>
                </a:tc>
              </a:tr>
              <a:tr h="0">
                <a:tc>
                  <a:txBody>
                    <a:bodyPr/>
                    <a:lstStyle/>
                    <a:p>
                      <a:pPr lvl="0" indent="0" marL="0">
                        <a:buNone/>
                      </a:pPr>
                      <a:r>
                        <a:rPr/>
                        <a:t>Recreation and culture</a:t>
                      </a:r>
                    </a:p>
                  </a:txBody>
                </a:tc>
                <a:tc>
                  <a:txBody>
                    <a:bodyPr/>
                    <a:lstStyle/>
                    <a:p>
                      <a:pPr lvl="0" indent="0" marL="0">
                        <a:buNone/>
                      </a:pPr>
                      <a:r>
                        <a:rPr/>
                        <a:t>3.6%</a:t>
                      </a:r>
                    </a:p>
                  </a:txBody>
                </a:tc>
              </a:tr>
              <a:tr h="0">
                <a:tc>
                  <a:txBody>
                    <a:bodyPr/>
                    <a:lstStyle/>
                    <a:p>
                      <a:pPr lvl="0" indent="0" marL="0">
                        <a:buNone/>
                      </a:pPr>
                      <a:r>
                        <a:rPr/>
                        <a:t>Education</a:t>
                      </a:r>
                    </a:p>
                  </a:txBody>
                </a:tc>
                <a:tc>
                  <a:txBody>
                    <a:bodyPr/>
                    <a:lstStyle/>
                    <a:p>
                      <a:pPr lvl="0" indent="0" marL="0">
                        <a:buNone/>
                      </a:pPr>
                      <a:r>
                        <a:rPr/>
                        <a:t>3.4%</a:t>
                      </a:r>
                    </a:p>
                  </a:txBody>
                </a:tc>
              </a:tr>
              <a:tr h="0">
                <a:tc>
                  <a:txBody>
                    <a:bodyPr/>
                    <a:lstStyle/>
                    <a:p>
                      <a:pPr lvl="0" indent="0" marL="0">
                        <a:buNone/>
                      </a:pPr>
                      <a:r>
                        <a:rPr/>
                        <a:t>Health</a:t>
                      </a:r>
                    </a:p>
                  </a:txBody>
                </a:tc>
                <a:tc>
                  <a:txBody>
                    <a:bodyPr/>
                    <a:lstStyle/>
                    <a:p>
                      <a:pPr lvl="0" indent="0" marL="0">
                        <a:buNone/>
                      </a:pPr>
                      <a:r>
                        <a:rPr/>
                        <a:t>3.3%</a:t>
                      </a:r>
                    </a:p>
                  </a:txBody>
                </a:tc>
              </a:tr>
              <a:tr h="0">
                <a:tc>
                  <a:txBody>
                    <a:bodyPr/>
                    <a:lstStyle/>
                    <a:p>
                      <a:pPr lvl="0" indent="0" marL="0">
                        <a:buNone/>
                      </a:pPr>
                      <a:r>
                        <a:rPr/>
                        <a:t>Wages</a:t>
                      </a:r>
                    </a:p>
                  </a:txBody>
                </a:tc>
                <a:tc>
                  <a:txBody>
                    <a:bodyPr/>
                    <a:lstStyle/>
                    <a:p>
                      <a:pPr lvl="0" indent="0" marL="0">
                        <a:buNone/>
                      </a:pPr>
                      <a:r>
                        <a:rPr/>
                        <a:t>3.2%</a:t>
                      </a:r>
                    </a:p>
                  </a:txBody>
                </a:tc>
              </a:tr>
              <a:tr h="0">
                <a:tc>
                  <a:txBody>
                    <a:bodyPr/>
                    <a:lstStyle/>
                    <a:p>
                      <a:pPr lvl="0" indent="0" marL="0">
                        <a:buNone/>
                      </a:pPr>
                      <a:r>
                        <a:rPr/>
                        <a:t>Food and non-alcoholic beverages</a:t>
                      </a:r>
                    </a:p>
                  </a:txBody>
                </a:tc>
                <a:tc>
                  <a:txBody>
                    <a:bodyPr/>
                    <a:lstStyle/>
                    <a:p>
                      <a:pPr lvl="0" indent="0" marL="0">
                        <a:buNone/>
                      </a:pPr>
                      <a:r>
                        <a:rPr/>
                        <a:t>3.1%</a:t>
                      </a:r>
                    </a:p>
                  </a:txBody>
                </a:tc>
              </a:tr>
              <a:tr h="0">
                <a:tc>
                  <a:txBody>
                    <a:bodyPr/>
                    <a:lstStyle/>
                    <a:p>
                      <a:pPr lvl="0" indent="0" marL="0">
                        <a:buNone/>
                      </a:pPr>
                      <a:r>
                        <a:rPr/>
                        <a:t>Transport</a:t>
                      </a:r>
                    </a:p>
                  </a:txBody>
                </a:tc>
                <a:tc>
                  <a:txBody>
                    <a:bodyPr/>
                    <a:lstStyle/>
                    <a:p>
                      <a:pPr lvl="0" indent="0" marL="0">
                        <a:buNone/>
                      </a:pPr>
                      <a:r>
                        <a:rPr/>
                        <a:t>3.0%</a:t>
                      </a:r>
                    </a:p>
                  </a:txBody>
                </a:tc>
              </a:tr>
              <a:tr h="0">
                <a:tc>
                  <a:txBody>
                    <a:bodyPr/>
                    <a:lstStyle/>
                    <a:p>
                      <a:pPr lvl="0" indent="0" marL="0">
                        <a:buNone/>
                      </a:pPr>
                      <a:r>
                        <a:rPr/>
                        <a:t>All groups</a:t>
                      </a:r>
                    </a:p>
                  </a:txBody>
                </a:tc>
                <a:tc>
                  <a:txBody>
                    <a:bodyPr/>
                    <a:lstStyle/>
                    <a:p>
                      <a:pPr lvl="0" indent="0" marL="0">
                        <a:buNone/>
                      </a:pPr>
                      <a:r>
                        <a:rPr/>
                        <a:t>2.6%</a:t>
                      </a:r>
                    </a:p>
                  </a:txBody>
                </a:tc>
              </a:tr>
              <a:tr h="0">
                <a:tc>
                  <a:txBody>
                    <a:bodyPr/>
                    <a:lstStyle/>
                    <a:p>
                      <a:pPr lvl="0" indent="0" marL="0">
                        <a:buNone/>
                      </a:pPr>
                      <a:r>
                        <a:rPr/>
                        <a:t>Furnishings, household equipment and services</a:t>
                      </a:r>
                    </a:p>
                  </a:txBody>
                </a:tc>
                <a:tc>
                  <a:txBody>
                    <a:bodyPr/>
                    <a:lstStyle/>
                    <a:p>
                      <a:pPr lvl="0" indent="0" marL="0">
                        <a:buNone/>
                      </a:pPr>
                      <a:r>
                        <a:rPr/>
                        <a:t>2.0%</a:t>
                      </a:r>
                    </a:p>
                  </a:txBody>
                </a:tc>
              </a:tr>
              <a:tr h="0">
                <a:tc>
                  <a:txBody>
                    <a:bodyPr/>
                    <a:lstStyle/>
                    <a:p>
                      <a:pPr lvl="0" indent="0" marL="0">
                        <a:buNone/>
                      </a:pPr>
                      <a:r>
                        <a:rPr/>
                        <a:t>Communication</a:t>
                      </a:r>
                    </a:p>
                  </a:txBody>
                </a:tc>
                <a:tc>
                  <a:txBody>
                    <a:bodyPr/>
                    <a:lstStyle/>
                    <a:p>
                      <a:pPr lvl="0" indent="0" marL="0">
                        <a:buNone/>
                      </a:pPr>
                      <a:r>
                        <a:rPr/>
                        <a:t>1.7%</a:t>
                      </a:r>
                    </a:p>
                  </a:txBody>
                </a:tc>
              </a:tr>
              <a:tr h="0">
                <a:tc>
                  <a:txBody>
                    <a:bodyPr/>
                    <a:lstStyle/>
                    <a:p>
                      <a:pPr lvl="0" indent="0" marL="0">
                        <a:buNone/>
                      </a:pPr>
                      <a:r>
                        <a:rPr/>
                        <a:t>Insurance and financial services</a:t>
                      </a:r>
                    </a:p>
                  </a:txBody>
                </a:tc>
                <a:tc>
                  <a:txBody>
                    <a:bodyPr/>
                    <a:lstStyle/>
                    <a:p>
                      <a:pPr lvl="0" indent="0" marL="0">
                        <a:buNone/>
                      </a:pPr>
                      <a:r>
                        <a:rPr/>
                        <a:t>−3.6%</a:t>
                      </a:r>
                    </a:p>
                  </a:txBody>
                </a:tc>
              </a:tr>
            </a:tbl>
          </a:graphicData>
        </a:graphic>
      </p:graphicFrame>
      <p:graphicFrame>
        <p:nvGraphicFramePr>
          <p:cNvPr id="6" name="Content Placeholder 5"/>
          <p:cNvGraphicFramePr>
            <a:graphicFrameLocks noGrp="1"/>
          </p:cNvGraphicFramePr>
          <p:nvPr>
            <p:ph idx="1"/>
          </p:nvPr>
        </p:nvGraphicFramePr>
        <p:xfrm>
          <a:off x="4648200" y="1193800"/>
          <a:ext cx="4038600" cy="38608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buNone/>
                      </a:pPr>
                      <a:r>
                        <a:rPr b="1"/>
                        <a:t>Change in living costs by product category</a:t>
                      </a:r>
                    </a:p>
                  </a:txBody>
                  <a:tcPr/>
                </a:tc>
                <a:tc>
                  <a:txBody>
                    <a:bodyPr/>
                    <a:lstStyle/>
                    <a:p>
                      <a:endParaRPr/>
                    </a:p>
                  </a:txBody>
                  <a:tcPr/>
                </a:tc>
              </a:tr>
              <a:tr h="0">
                <a:tc>
                  <a:txBody>
                    <a:bodyPr/>
                    <a:lstStyle/>
                    <a:p>
                      <a:pPr lvl="0" indent="0" marL="0">
                        <a:buNone/>
                      </a:pPr>
                      <a:r>
                        <a:rPr/>
                        <a:t>% change between March 2026 and March 2020</a:t>
                      </a:r>
                    </a:p>
                  </a:txBody>
                </a:tc>
                <a:tc>
                  <a:txBody>
                    <a:bodyPr/>
                    <a:lstStyle/>
                    <a:p>
                      <a:endParaRPr/>
                    </a:p>
                  </a:txBody>
                </a:tc>
              </a:tr>
              <a:tr h="0">
                <a:tc>
                  <a:txBody>
                    <a:bodyPr/>
                    <a:lstStyle/>
                    <a:p>
                      <a:pPr lvl="0" indent="0" marL="0">
                        <a:buNone/>
                      </a:pPr>
                      <a:r>
                        <a:rPr/>
                        <a:t>Price Category</a:t>
                      </a:r>
                    </a:p>
                  </a:txBody>
                </a:tc>
                <a:tc>
                  <a:txBody>
                    <a:bodyPr/>
                    <a:lstStyle/>
                    <a:p>
                      <a:pPr lvl="0" indent="0" marL="0">
                        <a:buNone/>
                      </a:pPr>
                      <a:r>
                        <a:rPr/>
                        <a:t>% change</a:t>
                      </a:r>
                    </a:p>
                  </a:txBody>
                </a:tc>
              </a:tr>
              <a:tr h="0">
                <a:tc>
                  <a:txBody>
                    <a:bodyPr/>
                    <a:lstStyle/>
                    <a:p>
                      <a:pPr lvl="0" indent="0" marL="0">
                        <a:buNone/>
                      </a:pPr>
                      <a:r>
                        <a:rPr/>
                        <a:t>Insurance and financial services</a:t>
                      </a:r>
                    </a:p>
                  </a:txBody>
                </a:tc>
                <a:tc>
                  <a:txBody>
                    <a:bodyPr/>
                    <a:lstStyle/>
                    <a:p>
                      <a:pPr lvl="0" indent="0" marL="0">
                        <a:buNone/>
                      </a:pPr>
                      <a:r>
                        <a:rPr/>
                        <a:t>72.3%</a:t>
                      </a:r>
                    </a:p>
                  </a:txBody>
                </a:tc>
              </a:tr>
              <a:tr h="0">
                <a:tc>
                  <a:txBody>
                    <a:bodyPr/>
                    <a:lstStyle/>
                    <a:p>
                      <a:pPr lvl="0" indent="0" marL="0">
                        <a:buNone/>
                      </a:pPr>
                      <a:r>
                        <a:rPr/>
                        <a:t>Alcohol and tobacco</a:t>
                      </a:r>
                    </a:p>
                  </a:txBody>
                </a:tc>
                <a:tc>
                  <a:txBody>
                    <a:bodyPr/>
                    <a:lstStyle/>
                    <a:p>
                      <a:pPr lvl="0" indent="0" marL="0">
                        <a:buNone/>
                      </a:pPr>
                      <a:r>
                        <a:rPr/>
                        <a:t>35.1%</a:t>
                      </a:r>
                    </a:p>
                  </a:txBody>
                </a:tc>
              </a:tr>
              <a:tr h="0">
                <a:tc>
                  <a:txBody>
                    <a:bodyPr/>
                    <a:lstStyle/>
                    <a:p>
                      <a:pPr lvl="0" indent="0" marL="0">
                        <a:buNone/>
                      </a:pPr>
                      <a:r>
                        <a:rPr/>
                        <a:t>All groups</a:t>
                      </a:r>
                    </a:p>
                  </a:txBody>
                </a:tc>
                <a:tc>
                  <a:txBody>
                    <a:bodyPr/>
                    <a:lstStyle/>
                    <a:p>
                      <a:pPr lvl="0" indent="0" marL="0">
                        <a:buNone/>
                      </a:pPr>
                      <a:r>
                        <a:rPr/>
                        <a:t>28.5%</a:t>
                      </a:r>
                    </a:p>
                  </a:txBody>
                </a:tc>
              </a:tr>
              <a:tr h="0">
                <a:tc>
                  <a:txBody>
                    <a:bodyPr/>
                    <a:lstStyle/>
                    <a:p>
                      <a:pPr lvl="0" indent="0" marL="0">
                        <a:buNone/>
                      </a:pPr>
                      <a:r>
                        <a:rPr/>
                        <a:t>Housing</a:t>
                      </a:r>
                    </a:p>
                  </a:txBody>
                </a:tc>
                <a:tc>
                  <a:txBody>
                    <a:bodyPr/>
                    <a:lstStyle/>
                    <a:p>
                      <a:pPr lvl="0" indent="0" marL="0">
                        <a:buNone/>
                      </a:pPr>
                      <a:r>
                        <a:rPr/>
                        <a:t>27.1%</a:t>
                      </a:r>
                    </a:p>
                  </a:txBody>
                </a:tc>
              </a:tr>
              <a:tr h="0">
                <a:tc>
                  <a:txBody>
                    <a:bodyPr/>
                    <a:lstStyle/>
                    <a:p>
                      <a:pPr lvl="0" indent="0" marL="0">
                        <a:buNone/>
                      </a:pPr>
                      <a:r>
                        <a:rPr/>
                        <a:t>Health</a:t>
                      </a:r>
                    </a:p>
                  </a:txBody>
                </a:tc>
                <a:tc>
                  <a:txBody>
                    <a:bodyPr/>
                    <a:lstStyle/>
                    <a:p>
                      <a:pPr lvl="0" indent="0" marL="0">
                        <a:buNone/>
                      </a:pPr>
                      <a:r>
                        <a:rPr/>
                        <a:t>27.0%</a:t>
                      </a:r>
                    </a:p>
                  </a:txBody>
                </a:tc>
              </a:tr>
              <a:tr h="0">
                <a:tc>
                  <a:txBody>
                    <a:bodyPr/>
                    <a:lstStyle/>
                    <a:p>
                      <a:pPr lvl="0" indent="0" marL="0">
                        <a:buNone/>
                      </a:pPr>
                      <a:r>
                        <a:rPr/>
                        <a:t>Education</a:t>
                      </a:r>
                    </a:p>
                  </a:txBody>
                </a:tc>
                <a:tc>
                  <a:txBody>
                    <a:bodyPr/>
                    <a:lstStyle/>
                    <a:p>
                      <a:pPr lvl="0" indent="0" marL="0">
                        <a:buNone/>
                      </a:pPr>
                      <a:r>
                        <a:rPr/>
                        <a:t>26.2%</a:t>
                      </a:r>
                    </a:p>
                  </a:txBody>
                </a:tc>
              </a:tr>
              <a:tr h="0">
                <a:tc>
                  <a:txBody>
                    <a:bodyPr/>
                    <a:lstStyle/>
                    <a:p>
                      <a:pPr lvl="0" indent="0" marL="0">
                        <a:buNone/>
                      </a:pPr>
                      <a:r>
                        <a:rPr/>
                        <a:t>Transport</a:t>
                      </a:r>
                    </a:p>
                  </a:txBody>
                </a:tc>
                <a:tc>
                  <a:txBody>
                    <a:bodyPr/>
                    <a:lstStyle/>
                    <a:p>
                      <a:pPr lvl="0" indent="0" marL="0">
                        <a:buNone/>
                      </a:pPr>
                      <a:r>
                        <a:rPr/>
                        <a:t>25.4%</a:t>
                      </a:r>
                    </a:p>
                  </a:txBody>
                </a:tc>
              </a:tr>
              <a:tr h="0">
                <a:tc>
                  <a:txBody>
                    <a:bodyPr/>
                    <a:lstStyle/>
                    <a:p>
                      <a:pPr lvl="0" indent="0" marL="0">
                        <a:buNone/>
                      </a:pPr>
                      <a:r>
                        <a:rPr/>
                        <a:t>Food and non-alcoholic beverages</a:t>
                      </a:r>
                    </a:p>
                  </a:txBody>
                </a:tc>
                <a:tc>
                  <a:txBody>
                    <a:bodyPr/>
                    <a:lstStyle/>
                    <a:p>
                      <a:pPr lvl="0" indent="0" marL="0">
                        <a:buNone/>
                      </a:pPr>
                      <a:r>
                        <a:rPr/>
                        <a:t>25.3%</a:t>
                      </a:r>
                    </a:p>
                  </a:txBody>
                </a:tc>
              </a:tr>
              <a:tr h="0">
                <a:tc>
                  <a:txBody>
                    <a:bodyPr/>
                    <a:lstStyle/>
                    <a:p>
                      <a:pPr lvl="0" indent="0" marL="0">
                        <a:buNone/>
                      </a:pPr>
                      <a:r>
                        <a:rPr/>
                        <a:t>Wages</a:t>
                      </a:r>
                    </a:p>
                  </a:txBody>
                </a:tc>
                <a:tc>
                  <a:txBody>
                    <a:bodyPr/>
                    <a:lstStyle/>
                    <a:p>
                      <a:pPr lvl="0" indent="0" marL="0">
                        <a:buNone/>
                      </a:pPr>
                      <a:r>
                        <a:rPr/>
                        <a:t>20.6%</a:t>
                      </a:r>
                    </a:p>
                  </a:txBody>
                </a:tc>
              </a:tr>
              <a:tr h="0">
                <a:tc>
                  <a:txBody>
                    <a:bodyPr/>
                    <a:lstStyle/>
                    <a:p>
                      <a:pPr lvl="0" indent="0" marL="0">
                        <a:buNone/>
                      </a:pPr>
                      <a:r>
                        <a:rPr/>
                        <a:t>Recreation and culture</a:t>
                      </a:r>
                    </a:p>
                  </a:txBody>
                </a:tc>
                <a:tc>
                  <a:txBody>
                    <a:bodyPr/>
                    <a:lstStyle/>
                    <a:p>
                      <a:pPr lvl="0" indent="0" marL="0">
                        <a:buNone/>
                      </a:pPr>
                      <a:r>
                        <a:rPr/>
                        <a:t>19.2%</a:t>
                      </a:r>
                    </a:p>
                  </a:txBody>
                </a:tc>
              </a:tr>
              <a:tr h="0">
                <a:tc>
                  <a:txBody>
                    <a:bodyPr/>
                    <a:lstStyle/>
                    <a:p>
                      <a:pPr lvl="0" indent="0" marL="0">
                        <a:buNone/>
                      </a:pPr>
                      <a:r>
                        <a:rPr/>
                        <a:t>Furnishings, household equipment and services</a:t>
                      </a:r>
                    </a:p>
                  </a:txBody>
                </a:tc>
                <a:tc>
                  <a:txBody>
                    <a:bodyPr/>
                    <a:lstStyle/>
                    <a:p>
                      <a:pPr lvl="0" indent="0" marL="0">
                        <a:buNone/>
                      </a:pPr>
                      <a:r>
                        <a:rPr/>
                        <a:t>17.9%</a:t>
                      </a:r>
                    </a:p>
                  </a:txBody>
                </a:tc>
              </a:tr>
              <a:tr h="0">
                <a:tc>
                  <a:txBody>
                    <a:bodyPr/>
                    <a:lstStyle/>
                    <a:p>
                      <a:pPr lvl="0" indent="0" marL="0">
                        <a:buNone/>
                      </a:pPr>
                      <a:r>
                        <a:rPr/>
                        <a:t>Clothing and footwear</a:t>
                      </a:r>
                    </a:p>
                  </a:txBody>
                </a:tc>
                <a:tc>
                  <a:txBody>
                    <a:bodyPr/>
                    <a:lstStyle/>
                    <a:p>
                      <a:pPr lvl="0" indent="0" marL="0">
                        <a:buNone/>
                      </a:pPr>
                      <a:r>
                        <a:rPr/>
                        <a:t>9.4%</a:t>
                      </a:r>
                    </a:p>
                  </a:txBody>
                </a:tc>
              </a:tr>
              <a:tr h="0">
                <a:tc>
                  <a:txBody>
                    <a:bodyPr/>
                    <a:lstStyle/>
                    <a:p>
                      <a:pPr lvl="0" indent="0" marL="0">
                        <a:buNone/>
                      </a:pPr>
                      <a:r>
                        <a:rPr/>
                        <a:t>Communication</a:t>
                      </a:r>
                    </a:p>
                  </a:txBody>
                </a:tc>
                <a:tc>
                  <a:txBody>
                    <a:bodyPr/>
                    <a:lstStyle/>
                    <a:p>
                      <a:pPr lvl="0" indent="0" marL="0">
                        <a:buNone/>
                      </a:pPr>
                      <a:r>
                        <a:rPr/>
                        <a:t>1.7%</a:t>
                      </a:r>
                    </a:p>
                  </a:txBody>
                </a:tc>
              </a:tr>
            </a:tbl>
          </a:graphicData>
        </a:graphic>
      </p:graphicFrame>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Wages</a:t>
            </a:r>
          </a:p>
        </p:txBody>
      </p:sp>
      <p:sp>
        <p:nvSpPr>
          <p:cNvPr id="3" name="Content Placeholder 2"/>
          <p:cNvSpPr>
            <a:spLocks noGrp="1"/>
          </p:cNvSpPr>
          <p:nvPr>
            <p:ph idx="1"/>
          </p:nvPr>
        </p:nvSpPr>
        <p:spPr/>
        <p:txBody>
          <a:bodyPr/>
          <a:lstStyle/>
          <a:p>
            <a:pPr lvl="0" indent="0" marL="0">
              <a:buNone/>
            </a:pPr>
            <a:r>
              <a:rPr>
                <a:hlinkClick r:id="rId2"/>
              </a:rPr>
              <a:t>https://www.youtube-nocookie.com/watch?v=g6-lciEvkpA</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Wages</a:t>
            </a:r>
          </a:p>
        </p:txBody>
      </p:sp>
      <p:pic>
        <p:nvPicPr>
          <p:cNvPr descr="du4-economics-political-economy-hamish-gamble_files/figure-pptx/unnamed-chunk-3-1.pn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Pay Increase</a:t>
            </a:r>
          </a:p>
        </p:txBody>
      </p:sp>
      <p:pic>
        <p:nvPicPr>
          <p:cNvPr descr="du4-economics-political-economy-hamish-gamble_files/figure-pptx/unnamed-chunk-4-1.pn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What Inflation Is Not</a:t>
            </a:r>
          </a:p>
        </p:txBody>
      </p:sp>
      <p:sp>
        <p:nvSpPr>
          <p:cNvPr id="3" name="Content Placeholder 2"/>
          <p:cNvSpPr>
            <a:spLocks noGrp="1"/>
          </p:cNvSpPr>
          <p:nvPr>
            <p:ph idx="1"/>
          </p:nvPr>
        </p:nvSpPr>
        <p:spPr/>
        <p:txBody>
          <a:bodyPr/>
          <a:lstStyle/>
          <a:p>
            <a:pPr lvl="0"/>
            <a:r>
              <a:rPr/>
              <a:t>Inflation is not a measure of the cost of living.</a:t>
            </a:r>
          </a:p>
          <a:p>
            <a:pPr lvl="0"/>
            <a:r>
              <a:rPr/>
              <a:t>Decreasing inflation does not mean prices have gone down.</a:t>
            </a:r>
          </a:p>
          <a:p>
            <a:pPr lvl="0"/>
            <a:r>
              <a:rPr/>
              <a:t>Inflation is not more important than any other economic indicator.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The AMWU and Wages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Increasing real wages is our core business.</a:t>
            </a:r>
          </a:p>
          <a:p>
            <a:pPr lvl="0"/>
            <a:r>
              <a:rPr/>
              <a:t>It is about improving living standards. And making sure people aren’t getting left behind, or exploited by their employer.</a:t>
            </a:r>
          </a:p>
          <a:p>
            <a:pPr lvl="0"/>
            <a:r>
              <a:rPr/>
              <a:t>Inflation has eroded real wage increases that we have collectively struggled for.</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Productivity</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a:t>
            </a:r>
          </a:p>
        </p:txBody>
      </p:sp>
      <p:sp>
        <p:nvSpPr>
          <p:cNvPr id="3" name="Content Placeholder 2"/>
          <p:cNvSpPr>
            <a:spLocks noGrp="1"/>
          </p:cNvSpPr>
          <p:nvPr>
            <p:ph idx="1"/>
          </p:nvPr>
        </p:nvSpPr>
        <p:spPr/>
        <p:txBody>
          <a:bodyPr/>
          <a:lstStyle/>
          <a:p>
            <a:pPr lvl="0" indent="0" marL="0">
              <a:buNone/>
            </a:pPr>
            <a:r>
              <a:rPr>
                <a:hlinkClick r:id="rId2"/>
              </a:rPr>
              <a:t>https://www.youtube-nocookie.com/watch?v=00npeUY_1Vg</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 (or, output per hour worked)</a:t>
            </a:r>
          </a:p>
        </p:txBody>
      </p:sp>
      <p:sp>
        <p:nvSpPr>
          <p:cNvPr id="3" name="Content Placeholder 2"/>
          <p:cNvSpPr>
            <a:spLocks noGrp="1"/>
          </p:cNvSpPr>
          <p:nvPr>
            <p:ph idx="1"/>
          </p:nvPr>
        </p:nvSpPr>
        <p:spPr/>
        <p:txBody>
          <a:bodyPr/>
          <a:lstStyle/>
          <a:p>
            <a:pPr lvl="0"/>
            <a:r>
              <a:rPr b="1"/>
              <a:t>Labour</a:t>
            </a:r>
            <a:r>
              <a:rPr/>
              <a:t> Productivity is a measure of Gross Domestic Product per hour worked.</a:t>
            </a:r>
          </a:p>
          <a:p>
            <a:pPr lvl="0"/>
            <a:r>
              <a:rPr/>
              <a:t>But there are other inputs into production besides labour, including capital</a:t>
            </a:r>
          </a:p>
          <a:p>
            <a:pPr lvl="0"/>
            <a:r>
              <a:rPr/>
              <a:t>Changes in output can occur even without changes to input</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Measuring Productivity</a:t>
            </a:r>
          </a:p>
        </p:txBody>
      </p:sp>
      <p:sp>
        <p:nvSpPr>
          <p:cNvPr id="3" name="Content Placeholder 2"/>
          <p:cNvSpPr>
            <a:spLocks noGrp="1"/>
          </p:cNvSpPr>
          <p:nvPr>
            <p:ph idx="1"/>
          </p:nvPr>
        </p:nvSpPr>
        <p:spPr/>
        <p:txBody>
          <a:bodyPr/>
          <a:lstStyle/>
          <a:p>
            <a:pPr lvl="0"/>
            <a:r>
              <a:rPr/>
              <a:t>It is relatively easy to measure and describe output per worker.</a:t>
            </a:r>
          </a:p>
          <a:p>
            <a:pPr lvl="0"/>
            <a:r>
              <a:rPr/>
              <a:t>Measuring output per unit of labour </a:t>
            </a:r>
            <a:r>
              <a:rPr b="1"/>
              <a:t>and</a:t>
            </a:r>
            <a:r>
              <a:rPr/>
              <a:t> capital is much more complicated, and questionable.</a:t>
            </a:r>
          </a:p>
          <a:p>
            <a:pPr lvl="1"/>
            <a:r>
              <a:rPr/>
              <a:t>What is a unit of labour-capital?</a:t>
            </a:r>
          </a:p>
          <a:p>
            <a:pPr lvl="0"/>
            <a:r>
              <a:rPr/>
              <a:t>You should be sceptical of people (especially economists) who talk about productivity in the non-market sector.</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 Trends</a:t>
            </a:r>
          </a:p>
        </p:txBody>
      </p:sp>
      <p:pic>
        <p:nvPicPr>
          <p:cNvPr descr="du4-economics-political-economy-hamish-gamble_files/figure-pptx/unnamed-chunk-5-1.pn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Productivity Trends</a:t>
            </a:r>
          </a:p>
        </p:txBody>
      </p:sp>
      <p:pic>
        <p:nvPicPr>
          <p:cNvPr descr="du4-economics-political-economy-hamish-gamble_files/figure-pptx/unnamed-chunk-6-1.pn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Hours Worked</a:t>
            </a:r>
          </a:p>
        </p:txBody>
      </p:sp>
      <p:pic>
        <p:nvPicPr>
          <p:cNvPr descr="du4-economics-political-economy-hamish-gamble_files/figure-pptx/unnamed-chunk-7-1.pn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GDP</a:t>
            </a:r>
          </a:p>
        </p:txBody>
      </p:sp>
      <p:pic>
        <p:nvPicPr>
          <p:cNvPr descr="du4-economics-political-economy-hamish-gamble_files/figure-pptx/unnamed-chunk-8-1.png" id="0" name="Picture 1"/>
          <p:cNvPicPr>
            <a:picLocks noGrp="1" noChangeAspect="1"/>
          </p:cNvPicPr>
          <p:nvPr/>
        </p:nvPicPr>
        <p:blipFill>
          <a:blip r:embed="rId2"/>
          <a:stretch>
            <a:fillRect/>
          </a:stretch>
        </p:blipFill>
        <p:spPr bwMode="auto">
          <a:xfrm>
            <a:off x="1193800" y="1587500"/>
            <a:ext cx="6756400" cy="3378200"/>
          </a:xfrm>
          <a:prstGeom prst="rect">
            <a:avLst/>
          </a:prstGeom>
          <a:noFill/>
          <a:ln w="9525">
            <a:noFill/>
            <a:headEnd/>
            <a:tailEnd/>
          </a:ln>
        </p:spPr>
      </p:pic>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Workers Share</a:t>
            </a:r>
          </a:p>
        </p:txBody>
      </p:sp>
      <p:sp>
        <p:nvSpPr>
          <p:cNvPr id="3" name="Content Placeholder 2"/>
          <p:cNvSpPr>
            <a:spLocks noGrp="1"/>
          </p:cNvSpPr>
          <p:nvPr>
            <p:ph idx="1"/>
          </p:nvPr>
        </p:nvSpPr>
        <p:spPr/>
        <p:txBody>
          <a:bodyPr/>
          <a:lstStyle/>
          <a:p>
            <a:pPr lvl="0"/>
            <a:r>
              <a:rPr/>
              <a:t>If productivity is a measure of output per hour, it would only be fair to compare that with how much compensation (in real terms) workers are getting per hour.</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Workers Share</a:t>
            </a:r>
          </a:p>
        </p:txBody>
      </p:sp>
      <p:pic>
        <p:nvPicPr>
          <p:cNvPr descr="du4-economics-political-economy-hamish-gamble_files/figure-pptx/unnamed-chunk-9-1.pn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Industry Productivity</a:t>
            </a:r>
          </a:p>
        </p:txBody>
      </p:sp>
      <p:pic>
        <p:nvPicPr>
          <p:cNvPr descr="du4-economics-political-economy-hamish-gamble_files/figure-pptx/unnamed-chunk-10-1.pn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What Productivity is Not</a:t>
            </a:r>
          </a:p>
        </p:txBody>
      </p:sp>
      <p:sp>
        <p:nvSpPr>
          <p:cNvPr id="3" name="Content Placeholder 2"/>
          <p:cNvSpPr>
            <a:spLocks noGrp="1"/>
          </p:cNvSpPr>
          <p:nvPr>
            <p:ph idx="1"/>
          </p:nvPr>
        </p:nvSpPr>
        <p:spPr/>
        <p:txBody>
          <a:bodyPr/>
          <a:lstStyle/>
          <a:p>
            <a:pPr lvl="0"/>
            <a:r>
              <a:rPr/>
              <a:t>The amount it costs to produce one unit of output</a:t>
            </a:r>
          </a:p>
          <a:p>
            <a:pPr lvl="0"/>
            <a:r>
              <a:rPr/>
              <a:t>Consistent across market and non-market sectors</a:t>
            </a:r>
          </a:p>
          <a:p>
            <a:pPr lvl="0"/>
            <a:r>
              <a:rPr/>
              <a:t>Tied to real wages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Housing</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House Prices and Affordability</a:t>
            </a:r>
          </a:p>
        </p:txBody>
      </p:sp>
      <p:sp>
        <p:nvSpPr>
          <p:cNvPr id="3" name="Content Placeholder 2"/>
          <p:cNvSpPr>
            <a:spLocks noGrp="1"/>
          </p:cNvSpPr>
          <p:nvPr>
            <p:ph idx="1"/>
          </p:nvPr>
        </p:nvSpPr>
        <p:spPr/>
        <p:txBody>
          <a:bodyPr/>
          <a:lstStyle/>
          <a:p>
            <a:pPr lvl="0"/>
            <a:r>
              <a:rPr/>
              <a:t>It is more difficult than ever for first home buyers.</a:t>
            </a:r>
          </a:p>
          <a:p>
            <a:pPr lvl="0"/>
            <a:r>
              <a:rPr/>
              <a:t>Household income has not grown as fast as house prices</a:t>
            </a:r>
          </a:p>
          <a:p>
            <a:pPr lvl="0"/>
            <a:r>
              <a:rPr/>
              <a:t>Saving for a deposit is also more difficult</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House Prices and Affordability - Historical</a:t>
            </a:r>
          </a:p>
        </p:txBody>
      </p:sp>
      <p:pic>
        <p:nvPicPr>
          <p:cNvPr descr="du4-economics-political-economy-hamish-gamble_files/figure-pptx/unnamed-chunk-12-1.pn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Economic Anxiety</a:t>
            </a:r>
          </a:p>
        </p:txBody>
      </p:sp>
      <p:sp>
        <p:nvSpPr>
          <p:cNvPr id="3" name="Content Placeholder 2"/>
          <p:cNvSpPr>
            <a:spLocks noGrp="1"/>
          </p:cNvSpPr>
          <p:nvPr>
            <p:ph idx="1"/>
          </p:nvPr>
        </p:nvSpPr>
        <p:spPr/>
        <p:txBody>
          <a:bodyPr/>
          <a:lstStyle/>
          <a:p>
            <a:pPr lvl="0"/>
            <a:r>
              <a:rPr/>
              <a:t>How do you feel about the “big picture” economy?</a:t>
            </a:r>
          </a:p>
          <a:p>
            <a:pPr lvl="0"/>
            <a:r>
              <a:rPr/>
              <a:t>How do you feel about your economic situation?</a:t>
            </a:r>
          </a:p>
          <a:p>
            <a:pPr lvl="0"/>
            <a:r>
              <a:rPr/>
              <a:t>How do your mates, neighbours, or colleagues feel?</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Tariffs</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Definition</a:t>
            </a:r>
          </a:p>
        </p:txBody>
      </p:sp>
      <p:sp>
        <p:nvSpPr>
          <p:cNvPr id="3" name="Content Placeholder 2"/>
          <p:cNvSpPr>
            <a:spLocks noGrp="1"/>
          </p:cNvSpPr>
          <p:nvPr>
            <p:ph idx="1"/>
          </p:nvPr>
        </p:nvSpPr>
        <p:spPr/>
        <p:txBody>
          <a:bodyPr/>
          <a:lstStyle/>
          <a:p>
            <a:pPr lvl="0"/>
            <a:r>
              <a:rPr/>
              <a:t>A tariff is essentially a tax charged on imported goods.</a:t>
            </a:r>
          </a:p>
          <a:p>
            <a:pPr lvl="0"/>
            <a:r>
              <a:rPr/>
              <a:t>The tariff is paid by the </a:t>
            </a:r>
            <a:r>
              <a:rPr i="1"/>
              <a:t>importer</a:t>
            </a:r>
            <a:r>
              <a:rPr/>
              <a:t>, not the exporter.</a:t>
            </a:r>
          </a:p>
          <a:p>
            <a:pPr lvl="0"/>
            <a:r>
              <a:rPr/>
              <a:t>Increased costs for the importer will be passed on to the final consumer.</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Tariffs in the US</a:t>
            </a:r>
          </a:p>
        </p:txBody>
      </p:sp>
      <p:sp>
        <p:nvSpPr>
          <p:cNvPr id="3" name="Content Placeholder 2"/>
          <p:cNvSpPr>
            <a:spLocks noGrp="1"/>
          </p:cNvSpPr>
          <p:nvPr>
            <p:ph idx="1"/>
          </p:nvPr>
        </p:nvSpPr>
        <p:spPr/>
        <p:txBody>
          <a:bodyPr/>
          <a:lstStyle/>
          <a:p>
            <a:pPr lvl="0" indent="0" marL="0">
              <a:buNone/>
            </a:pPr>
            <a:r>
              <a:rPr/>
              <a:t>The argument goes something like this:</a:t>
            </a:r>
          </a:p>
          <a:p>
            <a:pPr lvl="0"/>
            <a:r>
              <a:rPr/>
              <a:t>The US is ‘taken advantage of’ by countries who export more to the US than the import.</a:t>
            </a:r>
          </a:p>
          <a:p>
            <a:pPr lvl="0"/>
            <a:r>
              <a:rPr/>
              <a:t>Dependence on foreign goods undermines domestic industry.</a:t>
            </a:r>
          </a:p>
          <a:p>
            <a:pPr lvl="0"/>
            <a:r>
              <a:rPr/>
              <a:t>Putting up tariffs reduces demand for imports and increases demand for domestic production (through price changes)</a:t>
            </a:r>
          </a:p>
          <a:p>
            <a:pPr lvl="0"/>
            <a:r>
              <a:rPr/>
              <a:t>Increase demand restores America’s manufacturing base.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Tariffs to Protect Industry</a:t>
            </a:r>
          </a:p>
        </p:txBody>
      </p:sp>
      <p:sp>
        <p:nvSpPr>
          <p:cNvPr id="3" name="Content Placeholder 2"/>
          <p:cNvSpPr>
            <a:spLocks noGrp="1"/>
          </p:cNvSpPr>
          <p:nvPr>
            <p:ph idx="1"/>
          </p:nvPr>
        </p:nvSpPr>
        <p:spPr/>
        <p:txBody>
          <a:bodyPr/>
          <a:lstStyle/>
          <a:p>
            <a:pPr lvl="0" indent="0" marL="0">
              <a:buNone/>
            </a:pPr>
            <a:r>
              <a:rPr/>
              <a:t>Tariffs are not new.</a:t>
            </a:r>
          </a:p>
          <a:p>
            <a:pPr lvl="0"/>
            <a:r>
              <a:rPr/>
              <a:t>Protecting local industry has long been the policy of industrialising nations.</a:t>
            </a:r>
          </a:p>
          <a:p>
            <a:pPr lvl="0"/>
            <a:r>
              <a:rPr/>
              <a:t>Tariffs have been used to protect new industries in developing/industrialising countries.</a:t>
            </a:r>
          </a:p>
          <a:p>
            <a:pPr lvl="0"/>
            <a:r>
              <a:rPr/>
              <a:t>Britain relied on high tariffs to develop their industry. Once developed, tariffs were disavowed in favour of “free markets” and global trade.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Tariffs to Reindustrialise</a:t>
            </a:r>
          </a:p>
        </p:txBody>
      </p:sp>
      <p:sp>
        <p:nvSpPr>
          <p:cNvPr id="3" name="Content Placeholder 2"/>
          <p:cNvSpPr>
            <a:spLocks noGrp="1"/>
          </p:cNvSpPr>
          <p:nvPr>
            <p:ph idx="1"/>
          </p:nvPr>
        </p:nvSpPr>
        <p:spPr/>
        <p:txBody>
          <a:bodyPr/>
          <a:lstStyle/>
          <a:p>
            <a:pPr lvl="0"/>
            <a:r>
              <a:rPr/>
              <a:t>America can probably extract concessions from the vassal states like South Korea and Japan.</a:t>
            </a:r>
          </a:p>
          <a:p>
            <a:pPr lvl="0"/>
            <a:r>
              <a:rPr/>
              <a:t>But, the stated strategy is relying on automation, AI, and robotics to do the work - not people.</a:t>
            </a:r>
          </a:p>
          <a:p>
            <a:pPr lvl="0"/>
            <a:r>
              <a:rPr/>
              <a:t>Globalisation means value chains are now spread across the world, so domestic prices will increase.</a:t>
            </a:r>
          </a:p>
          <a:p>
            <a:pPr lvl="0"/>
            <a:r>
              <a:rPr/>
              <a:t>Without significant investment into domestic manufacturing, demand can’t actually be met by local industry.</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Tariffs to Protect Capital</a:t>
            </a:r>
          </a:p>
        </p:txBody>
      </p:sp>
      <p:sp>
        <p:nvSpPr>
          <p:cNvPr id="3" name="Content Placeholder 2"/>
          <p:cNvSpPr>
            <a:spLocks noGrp="1"/>
          </p:cNvSpPr>
          <p:nvPr>
            <p:ph idx="1"/>
          </p:nvPr>
        </p:nvSpPr>
        <p:spPr/>
        <p:txBody>
          <a:bodyPr/>
          <a:lstStyle/>
          <a:p>
            <a:pPr lvl="0"/>
            <a:r>
              <a:rPr/>
              <a:t>The rate of profit has a tendency to fall over time.</a:t>
            </a:r>
          </a:p>
          <a:p>
            <a:pPr lvl="0"/>
            <a:r>
              <a:rPr/>
              <a:t>Seeking constant productivity growth, capitalist investment focuses on machinery and technology at the expense of labour - reducing profit.</a:t>
            </a:r>
          </a:p>
          <a:p>
            <a:pPr lvl="0"/>
            <a:r>
              <a:rPr/>
              <a:t>US tariffs are intended to protect US capital from more productive or lower cost competitors, and to shift the burden of declining profitability off shore.</a:t>
            </a:r>
          </a:p>
          <a:p>
            <a:pPr lvl="0"/>
            <a:r>
              <a:rPr/>
              <a:t>This is a temporary solution.</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What About Australia</a:t>
            </a:r>
          </a:p>
        </p:txBody>
      </p:sp>
      <p:sp>
        <p:nvSpPr>
          <p:cNvPr id="3" name="Content Placeholder 2"/>
          <p:cNvSpPr>
            <a:spLocks noGrp="1"/>
          </p:cNvSpPr>
          <p:nvPr>
            <p:ph idx="1"/>
          </p:nvPr>
        </p:nvSpPr>
        <p:spPr/>
        <p:txBody>
          <a:bodyPr/>
          <a:lstStyle/>
          <a:p>
            <a:pPr lvl="0"/>
            <a:r>
              <a:rPr/>
              <a:t>Australia is a de-industrialised country.</a:t>
            </a:r>
          </a:p>
          <a:p>
            <a:pPr lvl="0"/>
            <a:r>
              <a:rPr/>
              <a:t>Policies like Future Made in Australia and the National Reconstruction Fund are intended to rebuild an industrial base</a:t>
            </a:r>
          </a:p>
          <a:p>
            <a:pPr lvl="0"/>
            <a:r>
              <a:rPr/>
              <a:t>How can we support these industries as they grow and become competitive?</a:t>
            </a:r>
          </a:p>
          <a:p>
            <a:pPr lvl="1"/>
            <a:r>
              <a:rPr/>
              <a:t>Anti-Dumping Commission to support </a:t>
            </a:r>
            <a:r>
              <a:rPr b="1"/>
              <a:t>fair</a:t>
            </a:r>
            <a:r>
              <a:rPr/>
              <a:t> trade</a:t>
            </a:r>
          </a:p>
          <a:p>
            <a:pPr lvl="1"/>
            <a:r>
              <a:rPr b="1" i="1"/>
              <a:t>targeted</a:t>
            </a:r>
            <a:r>
              <a:rPr/>
              <a:t> tariffs i.e. aluminium imports</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Industrial Capabilities</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What you make is what you know</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Industrial Capabilities</a:t>
            </a:r>
          </a:p>
        </p:txBody>
      </p:sp>
      <p:sp>
        <p:nvSpPr>
          <p:cNvPr id="3" name="Content Placeholder 2"/>
          <p:cNvSpPr>
            <a:spLocks noGrp="1"/>
          </p:cNvSpPr>
          <p:nvPr>
            <p:ph idx="1"/>
          </p:nvPr>
        </p:nvSpPr>
        <p:spPr/>
        <p:txBody>
          <a:bodyPr/>
          <a:lstStyle/>
          <a:p>
            <a:pPr lvl="0"/>
            <a:r>
              <a:rPr/>
              <a:t>Core concepts:</a:t>
            </a:r>
          </a:p>
          <a:p>
            <a:pPr lvl="1"/>
            <a:r>
              <a:rPr/>
              <a:t>a country makes (or does) what it knows</a:t>
            </a:r>
          </a:p>
          <a:p>
            <a:pPr lvl="1"/>
            <a:r>
              <a:rPr/>
              <a:t>products (or activities) represent combinations of knowledge</a:t>
            </a:r>
          </a:p>
          <a:p>
            <a:pPr lvl="0"/>
            <a:r>
              <a:rPr/>
              <a:t>Capabilities are like letters in Scrabble</a:t>
            </a:r>
          </a:p>
          <a:p>
            <a:pPr lvl="1"/>
            <a:r>
              <a:rPr/>
              <a:t>The more you have, the more words you can make</a:t>
            </a:r>
          </a:p>
          <a:p>
            <a:pPr lvl="1"/>
            <a:r>
              <a:rPr/>
              <a:t>Rare letters create words worth more points</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Products Embody Knowledge</a:t>
            </a:r>
          </a:p>
        </p:txBody>
      </p:sp>
      <p:pic>
        <p:nvPicPr>
          <p:cNvPr descr="img/red-apple.png" id="0" name="Picture 1"/>
          <p:cNvPicPr>
            <a:picLocks noGrp="1" noChangeAspect="1"/>
          </p:cNvPicPr>
          <p:nvPr/>
        </p:nvPicPr>
        <p:blipFill>
          <a:blip r:embed="rId2"/>
          <a:stretch>
            <a:fillRect/>
          </a:stretch>
        </p:blipFill>
        <p:spPr bwMode="auto">
          <a:xfrm>
            <a:off x="647700" y="1193800"/>
            <a:ext cx="3657600" cy="38608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An apple in the supermarket represents:</a:t>
            </a:r>
          </a:p>
          <a:p>
            <a:pPr lvl="0"/>
            <a:r>
              <a:rPr/>
              <a:t>Horticulture</a:t>
            </a:r>
          </a:p>
          <a:p>
            <a:pPr lvl="0"/>
            <a:r>
              <a:rPr/>
              <a:t>Pest control</a:t>
            </a:r>
          </a:p>
          <a:p>
            <a:pPr lvl="0"/>
            <a:r>
              <a:rPr/>
              <a:t>Refrigeration</a:t>
            </a:r>
          </a:p>
          <a:p>
            <a:pPr lvl="0"/>
            <a:r>
              <a:rPr/>
              <a:t>Logistics</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Products Embody Knowledge</a:t>
            </a:r>
          </a:p>
        </p:txBody>
      </p:sp>
      <p:pic>
        <p:nvPicPr>
          <p:cNvPr descr="img/Apple.png" id="0" name="Picture 1"/>
          <p:cNvPicPr>
            <a:picLocks noGrp="1" noChangeAspect="1"/>
          </p:cNvPicPr>
          <p:nvPr/>
        </p:nvPicPr>
        <p:blipFill>
          <a:blip r:embed="rId2"/>
          <a:stretch>
            <a:fillRect/>
          </a:stretch>
        </p:blipFill>
        <p:spPr bwMode="auto">
          <a:xfrm>
            <a:off x="546100" y="1193800"/>
            <a:ext cx="3860800" cy="38608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An iPhone represents:</a:t>
            </a:r>
          </a:p>
          <a:p>
            <a:pPr lvl="0"/>
            <a:r>
              <a:rPr/>
              <a:t>Semiconductors</a:t>
            </a:r>
          </a:p>
          <a:p>
            <a:pPr lvl="0"/>
            <a:r>
              <a:rPr/>
              <a:t>Software/Hardware Engineering</a:t>
            </a:r>
          </a:p>
          <a:p>
            <a:pPr lvl="0"/>
            <a:r>
              <a:rPr/>
              <a:t>Materials science</a:t>
            </a:r>
          </a:p>
          <a:p>
            <a:pPr lvl="0"/>
            <a:r>
              <a:rPr/>
              <a:t>Lenses</a:t>
            </a:r>
          </a:p>
          <a:p>
            <a:pPr lvl="0"/>
            <a:r>
              <a:rPr/>
              <a:t>Marketing</a:t>
            </a:r>
          </a:p>
          <a:p>
            <a:pPr lvl="0"/>
            <a:r>
              <a:rPr/>
              <a:t>Packaging</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Measuring Industrial Capabilities</a:t>
            </a:r>
          </a:p>
        </p:txBody>
      </p:sp>
      <p:sp>
        <p:nvSpPr>
          <p:cNvPr id="3" name="Content Placeholder 2"/>
          <p:cNvSpPr>
            <a:spLocks noGrp="1"/>
          </p:cNvSpPr>
          <p:nvPr>
            <p:ph idx="1"/>
          </p:nvPr>
        </p:nvSpPr>
        <p:spPr/>
        <p:txBody>
          <a:bodyPr/>
          <a:lstStyle/>
          <a:p>
            <a:pPr lvl="0"/>
            <a:r>
              <a:rPr/>
              <a:t>Export data reveals what a country makes</a:t>
            </a:r>
          </a:p>
          <a:p>
            <a:pPr lvl="0"/>
            <a:r>
              <a:rPr/>
              <a:t>Comparison between countries reveals which capabilities are common, and which are rare</a:t>
            </a:r>
          </a:p>
          <a:p>
            <a:pPr lvl="0"/>
            <a:r>
              <a:rPr/>
              <a:t>The presence of different capabilities in different countries allows a ranking called the Economic Complexity Index</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Why Does It Matter?</a:t>
            </a:r>
          </a:p>
        </p:txBody>
      </p:sp>
      <p:sp>
        <p:nvSpPr>
          <p:cNvPr id="3" name="Content Placeholder 2"/>
          <p:cNvSpPr>
            <a:spLocks noGrp="1"/>
          </p:cNvSpPr>
          <p:nvPr>
            <p:ph idx="1"/>
          </p:nvPr>
        </p:nvSpPr>
        <p:spPr/>
        <p:txBody>
          <a:bodyPr/>
          <a:lstStyle/>
          <a:p>
            <a:pPr lvl="0"/>
            <a:r>
              <a:rPr/>
              <a:t>The Economic Complexity Index is predictive of the direction of future economic growth.</a:t>
            </a:r>
          </a:p>
          <a:p>
            <a:pPr lvl="1"/>
            <a:r>
              <a:rPr/>
              <a:t>Countries with higher complexity are predicted to grow faster</a:t>
            </a:r>
          </a:p>
          <a:p>
            <a:pPr lvl="0"/>
            <a:r>
              <a:rPr/>
              <a:t>Useful tool to identify productive capabilities of a country.</a:t>
            </a:r>
          </a:p>
          <a:p>
            <a:pPr lvl="0"/>
            <a:r>
              <a:rPr/>
              <a:t>Can be used to identify future opportunities and direct strategy.</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Why Does It Matter to Australia?</a:t>
            </a:r>
          </a:p>
        </p:txBody>
      </p:sp>
      <p:pic>
        <p:nvPicPr>
          <p:cNvPr descr="du4-economics-political-economy-hamish-gamble_files/figure-pptx/unnamed-chunk-13-1.pn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Why Does it Matter to Western Australia?</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What Can Be Done?</a:t>
            </a:r>
          </a:p>
        </p:txBody>
      </p:sp>
      <p:sp>
        <p:nvSpPr>
          <p:cNvPr id="3" name="Content Placeholder 2"/>
          <p:cNvSpPr>
            <a:spLocks noGrp="1"/>
          </p:cNvSpPr>
          <p:nvPr>
            <p:ph idx="1"/>
          </p:nvPr>
        </p:nvSpPr>
        <p:spPr/>
        <p:txBody>
          <a:bodyPr/>
          <a:lstStyle/>
          <a:p>
            <a:pPr lvl="0"/>
            <a:r>
              <a:rPr/>
              <a:t>Recognise that there is a problem.</a:t>
            </a:r>
          </a:p>
          <a:p>
            <a:pPr lvl="0"/>
            <a:r>
              <a:rPr/>
              <a:t>The lack of sufficient existing capabilities requires explicit and direct industrial policy.</a:t>
            </a:r>
          </a:p>
          <a:p>
            <a:pPr lvl="0"/>
            <a:r>
              <a:rPr/>
              <a:t>Understand the connection between just transition, decarbonisation, and reindustrialisation.</a:t>
            </a:r>
          </a:p>
          <a:p>
            <a:pPr lvl="0"/>
            <a:r>
              <a:rPr/>
              <a:t>Develop a policy agenda which explicitly outlines existing and future opportunities, and how to get there.</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The AMWU and a Future Made in Australia</a:t>
            </a:r>
          </a:p>
        </p:txBody>
      </p:sp>
      <p:sp>
        <p:nvSpPr>
          <p:cNvPr id="3" name="Content Placeholder 2"/>
          <p:cNvSpPr>
            <a:spLocks noGrp="1"/>
          </p:cNvSpPr>
          <p:nvPr>
            <p:ph idx="1"/>
          </p:nvPr>
        </p:nvSpPr>
        <p:spPr/>
        <p:txBody>
          <a:bodyPr/>
          <a:lstStyle/>
          <a:p>
            <a:pPr lvl="0"/>
            <a:r>
              <a:rPr/>
              <a:t>The Future Made in Australia Act is a $22.7 billion investment into restoring an industrial base in Australia.</a:t>
            </a:r>
          </a:p>
          <a:p>
            <a:pPr lvl="0"/>
            <a:r>
              <a:rPr/>
              <a:t>FMIA, which is public money, must be used to create secure, high-quality jobs. Not subsidise worker exploitation.</a:t>
            </a:r>
          </a:p>
          <a:p>
            <a:pPr lvl="0"/>
            <a:r>
              <a:rPr/>
              <a:t>The AMWU is calling for the establishment of a manufacturing council, and tying strong conditions to businesses receiving public money</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Conditions for Employers</a:t>
            </a:r>
          </a:p>
        </p:txBody>
      </p:sp>
      <p:sp>
        <p:nvSpPr>
          <p:cNvPr id="3" name="Content Placeholder 2"/>
          <p:cNvSpPr>
            <a:spLocks noGrp="1"/>
          </p:cNvSpPr>
          <p:nvPr>
            <p:ph idx="1"/>
          </p:nvPr>
        </p:nvSpPr>
        <p:spPr/>
        <p:txBody>
          <a:bodyPr/>
          <a:lstStyle/>
          <a:p>
            <a:pPr lvl="0"/>
            <a:r>
              <a:rPr/>
              <a:t>Guarantee of secure jobs, fair wages, and safe conditions</a:t>
            </a:r>
          </a:p>
          <a:p>
            <a:pPr lvl="0"/>
            <a:r>
              <a:rPr/>
              <a:t>Collective bargaining as a requirement at workplaces who receive public money.</a:t>
            </a:r>
          </a:p>
          <a:p>
            <a:pPr lvl="0"/>
            <a:r>
              <a:rPr/>
              <a:t>Use the state’s power in procurement to support local industry through local content targets.</a:t>
            </a:r>
          </a:p>
          <a:p>
            <a:pPr lvl="0"/>
            <a:r>
              <a:rPr/>
              <a:t>Mandate apprentice participation</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Manufacturing Competitiveness Council</a:t>
            </a:r>
          </a:p>
        </p:txBody>
      </p:sp>
      <p:sp>
        <p:nvSpPr>
          <p:cNvPr id="3" name="Content Placeholder 2"/>
          <p:cNvSpPr>
            <a:spLocks noGrp="1"/>
          </p:cNvSpPr>
          <p:nvPr>
            <p:ph idx="1"/>
          </p:nvPr>
        </p:nvSpPr>
        <p:spPr/>
        <p:txBody>
          <a:bodyPr/>
          <a:lstStyle/>
          <a:p>
            <a:pPr lvl="0"/>
            <a:r>
              <a:rPr/>
              <a:t>Tripartite Manufacturing Competitiveness Council - with genuine union representation.</a:t>
            </a:r>
          </a:p>
          <a:p>
            <a:pPr lvl="0"/>
            <a:r>
              <a:rPr/>
              <a:t>Ensure that all decisions about capital investment, skills, and industry strategy are made with worker input.</a:t>
            </a:r>
          </a:p>
          <a:p>
            <a:pPr lvl="0"/>
            <a:r>
              <a:rPr/>
              <a:t>Establish and plan for the orderly transition of our economy - guided by human need, not market whims.</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Fair Trade</a:t>
            </a:r>
          </a:p>
        </p:txBody>
      </p:sp>
      <p:sp>
        <p:nvSpPr>
          <p:cNvPr id="3" name="Content Placeholder 2"/>
          <p:cNvSpPr>
            <a:spLocks noGrp="1"/>
          </p:cNvSpPr>
          <p:nvPr>
            <p:ph idx="1"/>
          </p:nvPr>
        </p:nvSpPr>
        <p:spPr/>
        <p:txBody>
          <a:bodyPr/>
          <a:lstStyle/>
          <a:p>
            <a:pPr lvl="0"/>
            <a:r>
              <a:rPr/>
              <a:t>Empower the Anti-Dumping Commission</a:t>
            </a:r>
          </a:p>
          <a:p>
            <a:pPr lvl="0"/>
            <a:r>
              <a:rPr/>
              <a:t>Unfair trade, particular dumping, has significant negative effects on local industry. Especially in a country that is seeking to re-industrialise.</a:t>
            </a:r>
          </a:p>
          <a:p>
            <a:pPr lvl="0"/>
            <a:r>
              <a:rPr/>
              <a:t>Establish an Independent Advocate for Fair Trade.</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Nationalising Strategic Infrastructure</a:t>
            </a:r>
          </a:p>
        </p:txBody>
      </p:sp>
      <p:sp>
        <p:nvSpPr>
          <p:cNvPr id="3" name="Content Placeholder 2"/>
          <p:cNvSpPr>
            <a:spLocks noGrp="1"/>
          </p:cNvSpPr>
          <p:nvPr>
            <p:ph idx="1"/>
          </p:nvPr>
        </p:nvSpPr>
        <p:spPr/>
        <p:txBody>
          <a:bodyPr/>
          <a:lstStyle/>
          <a:p>
            <a:pPr lvl="0"/>
            <a:r>
              <a:rPr/>
              <a:t>Infrastructure that is “too big to fail” or needed “in the national interest” can not be left in the hands of profit maximisers.</a:t>
            </a:r>
          </a:p>
          <a:p>
            <a:pPr lvl="0"/>
            <a:r>
              <a:rPr/>
              <a:t>Perpetual bailouts and subsidies</a:t>
            </a:r>
          </a:p>
          <a:p>
            <a:pPr lvl="0"/>
            <a:r>
              <a:rPr/>
              <a:t>Natioanalisation can help us to achieve our strategic goals.</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Political Economy</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It’s the economy, stupid!</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Economics</a:t>
            </a:r>
          </a:p>
        </p:txBody>
      </p:sp>
      <p:sp>
        <p:nvSpPr>
          <p:cNvPr id="3" name="Content Placeholder 2"/>
          <p:cNvSpPr>
            <a:spLocks noGrp="1"/>
          </p:cNvSpPr>
          <p:nvPr>
            <p:ph idx="1"/>
          </p:nvPr>
        </p:nvSpPr>
        <p:spPr/>
        <p:txBody>
          <a:bodyPr/>
          <a:lstStyle/>
          <a:p>
            <a:pPr lvl="0" indent="0" marL="0">
              <a:buNone/>
            </a:pPr>
            <a:r>
              <a:rPr>
                <a:hlinkClick r:id="rId2"/>
              </a:rPr>
              <a:t>https://www.youtube-nocookie.com/watch?v=pQPv5oUfsbg</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What is The Economy?</a:t>
            </a:r>
          </a:p>
        </p:txBody>
      </p:sp>
      <p:sp>
        <p:nvSpPr>
          <p:cNvPr id="3" name="Content Placeholder 2"/>
          <p:cNvSpPr>
            <a:spLocks noGrp="1"/>
          </p:cNvSpPr>
          <p:nvPr>
            <p:ph idx="1"/>
          </p:nvPr>
        </p:nvSpPr>
        <p:spPr/>
        <p:txBody>
          <a:bodyPr/>
          <a:lstStyle/>
          <a:p>
            <a:pPr lvl="0"/>
            <a:r>
              <a:rPr/>
              <a:t>Is the economy how much we produce in total?</a:t>
            </a:r>
          </a:p>
          <a:p>
            <a:pPr lvl="0"/>
            <a:r>
              <a:rPr/>
              <a:t>Is the economy how much we produce per person?</a:t>
            </a:r>
          </a:p>
          <a:p>
            <a:pPr lvl="0"/>
            <a:r>
              <a:rPr/>
              <a:t>Is the economy how well we meet the needs of society?</a:t>
            </a:r>
          </a:p>
          <a:p>
            <a:pPr lvl="0"/>
            <a:r>
              <a:rPr/>
              <a:t>Is the economy how well the stock market is performing?</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What are Economists?</a:t>
            </a:r>
          </a:p>
        </p:txBody>
      </p:sp>
      <p:sp>
        <p:nvSpPr>
          <p:cNvPr id="3" name="Content Placeholder 2"/>
          <p:cNvSpPr>
            <a:spLocks noGrp="1"/>
          </p:cNvSpPr>
          <p:nvPr>
            <p:ph idx="1"/>
          </p:nvPr>
        </p:nvSpPr>
        <p:spPr/>
        <p:txBody>
          <a:bodyPr/>
          <a:lstStyle/>
          <a:p>
            <a:pPr lvl="0"/>
            <a:r>
              <a:rPr/>
              <a:t>Too closely associated with business and finance</a:t>
            </a:r>
          </a:p>
          <a:p>
            <a:pPr lvl="0"/>
            <a:r>
              <a:rPr/>
              <a:t>Love to explain why you’re wrong</a:t>
            </a:r>
          </a:p>
          <a:p>
            <a:pPr lvl="0"/>
            <a:r>
              <a:rPr/>
              <a:t>Get paid too much to make predictions which don’t come true</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Political Economy</a:t>
            </a:r>
          </a:p>
        </p:txBody>
      </p:sp>
      <p:sp>
        <p:nvSpPr>
          <p:cNvPr id="3" name="Content Placeholder 2"/>
          <p:cNvSpPr>
            <a:spLocks noGrp="1"/>
          </p:cNvSpPr>
          <p:nvPr>
            <p:ph idx="1"/>
          </p:nvPr>
        </p:nvSpPr>
        <p:spPr/>
        <p:txBody>
          <a:bodyPr/>
          <a:lstStyle/>
          <a:p>
            <a:pPr lvl="0" indent="0" marL="0">
              <a:buNone/>
            </a:pPr>
            <a:r>
              <a:rPr/>
              <a:t>Despite what economists would have you believe:</a:t>
            </a:r>
          </a:p>
          <a:p>
            <a:pPr lvl="0"/>
            <a:r>
              <a:rPr/>
              <a:t>Economics is not an independent, neutral, or technical system</a:t>
            </a:r>
          </a:p>
          <a:p>
            <a:pPr lvl="0"/>
            <a:r>
              <a:rPr/>
              <a:t>Economics is inherently linked to political ideology.</a:t>
            </a:r>
          </a:p>
          <a:p>
            <a:pPr lvl="0"/>
            <a:r>
              <a:rPr/>
              <a:t>You can’t eat “headline inflation fell to 2.4%”</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Political Economy - Modern Economics</a:t>
            </a:r>
          </a:p>
        </p:txBody>
      </p:sp>
      <p:sp>
        <p:nvSpPr>
          <p:cNvPr id="3" name="Content Placeholder 2"/>
          <p:cNvSpPr>
            <a:spLocks noGrp="1"/>
          </p:cNvSpPr>
          <p:nvPr>
            <p:ph idx="1"/>
          </p:nvPr>
        </p:nvSpPr>
        <p:spPr/>
        <p:txBody>
          <a:bodyPr/>
          <a:lstStyle/>
          <a:p>
            <a:pPr lvl="0"/>
            <a:r>
              <a:rPr/>
              <a:t>“Classical” economics is associated with the development of capitalism and the industrial revolution in the late 1700 and early 1800s.</a:t>
            </a:r>
          </a:p>
          <a:p>
            <a:pPr lvl="0"/>
            <a:r>
              <a:rPr/>
              <a:t>Marxism was a response to the horrible working conditions under which labour was subjected during the industrial revolution - and the associated disparity between capital class and working class.</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Political Economy - Modern Economics</a:t>
            </a:r>
          </a:p>
        </p:txBody>
      </p:sp>
      <p:sp>
        <p:nvSpPr>
          <p:cNvPr id="3" name="Content Placeholder 2"/>
          <p:cNvSpPr>
            <a:spLocks noGrp="1"/>
          </p:cNvSpPr>
          <p:nvPr>
            <p:ph idx="1"/>
          </p:nvPr>
        </p:nvSpPr>
        <p:spPr/>
        <p:txBody>
          <a:bodyPr/>
          <a:lstStyle/>
          <a:p>
            <a:pPr lvl="0"/>
            <a:r>
              <a:rPr/>
              <a:t>Class analysis was neglected in the late 1800s and early 1900s in favour of analysis of individuals. This is “Neo Classical” economics, and is what they teach at University.</a:t>
            </a:r>
          </a:p>
          <a:p>
            <a:pPr lvl="0"/>
            <a:r>
              <a:rPr/>
              <a:t>When thinking of economics, remember that it is ideological:</a:t>
            </a:r>
          </a:p>
          <a:p>
            <a:pPr lvl="1"/>
            <a:r>
              <a:rPr/>
              <a:t>What kind of growth do we want?</a:t>
            </a:r>
          </a:p>
          <a:p>
            <a:pPr lvl="1"/>
            <a:r>
              <a:rPr/>
              <a:t>Efficiency for whom?</a:t>
            </a:r>
          </a:p>
          <a:p>
            <a:pPr lvl="1"/>
            <a:r>
              <a:rPr/>
              <a:t>Who should get the benefits of increased productivity?</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Work and Value</a:t>
            </a:r>
          </a:p>
        </p:txBody>
      </p:sp>
      <p:sp>
        <p:nvSpPr>
          <p:cNvPr id="3" name="Content Placeholder 2"/>
          <p:cNvSpPr>
            <a:spLocks noGrp="1"/>
          </p:cNvSpPr>
          <p:nvPr>
            <p:ph idx="1"/>
          </p:nvPr>
        </p:nvSpPr>
        <p:spPr/>
        <p:txBody>
          <a:bodyPr/>
          <a:lstStyle/>
          <a:p>
            <a:pPr lvl="0"/>
            <a:r>
              <a:rPr/>
              <a:t>Everything in the economy comes from some combination of work and the natural environment, but only work can “add value”</a:t>
            </a:r>
          </a:p>
          <a:p>
            <a:pPr lvl="0"/>
            <a:r>
              <a:rPr/>
              <a:t>There have been many attempts to define value - but clearly productive labour is the only source of it.</a:t>
            </a:r>
          </a:p>
          <a:p>
            <a:pPr lvl="0"/>
            <a:r>
              <a:rPr/>
              <a:t>Capital is not inherently ‘productive’, despite being paid profit.</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Class Consciousness and Solidarity</a:t>
            </a:r>
          </a:p>
        </p:txBody>
      </p:sp>
      <p:sp>
        <p:nvSpPr>
          <p:cNvPr id="3" name="Content Placeholder 2"/>
          <p:cNvSpPr>
            <a:spLocks noGrp="1"/>
          </p:cNvSpPr>
          <p:nvPr>
            <p:ph idx="1"/>
          </p:nvPr>
        </p:nvSpPr>
        <p:spPr/>
        <p:txBody>
          <a:bodyPr/>
          <a:lstStyle/>
          <a:p>
            <a:pPr lvl="0" indent="0" marL="0">
              <a:buNone/>
            </a:pPr>
            <a:r>
              <a:rPr>
                <a:hlinkClick r:id="rId2"/>
              </a:rPr>
              <a:t>https://youtu.be/vt5X8zrHiSM?si=tDM75Th0pBtxsyRc</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Class Consciousness and Solidarity</a:t>
            </a:r>
          </a:p>
        </p:txBody>
      </p:sp>
      <p:sp>
        <p:nvSpPr>
          <p:cNvPr id="3" name="Content Placeholder 2"/>
          <p:cNvSpPr>
            <a:spLocks noGrp="1"/>
          </p:cNvSpPr>
          <p:nvPr>
            <p:ph idx="1"/>
          </p:nvPr>
        </p:nvSpPr>
        <p:spPr/>
        <p:txBody>
          <a:bodyPr/>
          <a:lstStyle/>
          <a:p>
            <a:pPr lvl="0"/>
            <a:r>
              <a:rPr/>
              <a:t>Capitalists understand the importance of class solidarity.</a:t>
            </a:r>
          </a:p>
          <a:p>
            <a:pPr lvl="0"/>
            <a:r>
              <a:rPr/>
              <a:t>Identity politics, culture war, woke vs. anti-woke, etc. are tools used to keep the working class from building solidarity.</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Income Inequality</a:t>
            </a:r>
          </a:p>
        </p:txBody>
      </p:sp>
      <p:sp>
        <p:nvSpPr>
          <p:cNvPr id="3" name="Content Placeholder 2"/>
          <p:cNvSpPr>
            <a:spLocks noGrp="1"/>
          </p:cNvSpPr>
          <p:nvPr>
            <p:ph idx="1"/>
          </p:nvPr>
        </p:nvSpPr>
        <p:spPr/>
        <p:txBody>
          <a:bodyPr/>
          <a:lstStyle/>
          <a:p>
            <a:pPr lvl="0" indent="0" marL="0">
              <a:buNone/>
            </a:pPr>
            <a:r>
              <a:rPr>
                <a:hlinkClick r:id="rId2"/>
              </a:rPr>
              <a:t>https://www.youtube-nocookie.com/watch?v=QPKKQnijnsM</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Income Inequality</a:t>
            </a:r>
          </a:p>
        </p:txBody>
      </p:sp>
      <p:pic>
        <p:nvPicPr>
          <p:cNvPr descr="img/inequality1A.jpg" id="0" name="Picture 1"/>
          <p:cNvPicPr>
            <a:picLocks noGrp="1" noChangeAspect="1"/>
          </p:cNvPicPr>
          <p:nvPr/>
        </p:nvPicPr>
        <p:blipFill>
          <a:blip r:embed="rId2"/>
          <a:stretch>
            <a:fillRect/>
          </a:stretch>
        </p:blipFill>
        <p:spPr bwMode="auto">
          <a:xfrm>
            <a:off x="1536700" y="1587500"/>
            <a:ext cx="6070600" cy="3378200"/>
          </a:xfrm>
          <a:prstGeom prst="rect">
            <a:avLst/>
          </a:prstGeom>
          <a:noFill/>
          <a:ln w="9525">
            <a:noFill/>
            <a:headEnd/>
            <a:tailEnd/>
          </a:ln>
        </p:spPr>
      </p:pic>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Wealth Inequality</a:t>
            </a:r>
          </a:p>
        </p:txBody>
      </p:sp>
      <p:pic>
        <p:nvPicPr>
          <p:cNvPr descr="img/inequality2B.jpg" id="0" name="Picture 1"/>
          <p:cNvPicPr>
            <a:picLocks noGrp="1" noChangeAspect="1"/>
          </p:cNvPicPr>
          <p:nvPr/>
        </p:nvPicPr>
        <p:blipFill>
          <a:blip r:embed="rId2"/>
          <a:stretch>
            <a:fillRect/>
          </a:stretch>
        </p:blipFill>
        <p:spPr bwMode="auto">
          <a:xfrm>
            <a:off x="1409700" y="1587500"/>
            <a:ext cx="6311900" cy="3378200"/>
          </a:xfrm>
          <a:prstGeom prst="rect">
            <a:avLst/>
          </a:prstGeom>
          <a:noFill/>
          <a:ln w="9525">
            <a:noFill/>
            <a:headEnd/>
            <a:tailEnd/>
          </a:ln>
        </p:spPr>
      </p:pic>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What Is To Be Done?</a:t>
            </a:r>
          </a:p>
        </p:txBody>
      </p:sp>
    </p:spTree>
  </p:cSld>
</p:sld>
</file>

<file path=ppt/theme/theme1.xml><?xml version="1.0" encoding="utf-8"?>
<a:theme xmlns:a="http://schemas.openxmlformats.org/drawingml/2006/main" name="Office Theme">
  <a:themeElements>
    <a:clrScheme name="AMWU">
      <a:dk1>
        <a:sysClr val="windowText" lastClr="000000"/>
      </a:dk1>
      <a:lt1>
        <a:sysClr val="window" lastClr="FFFFFF"/>
      </a:lt1>
      <a:dk2>
        <a:srgbClr val="0E2841"/>
      </a:dk2>
      <a:lt2>
        <a:srgbClr val="E8E8E8"/>
      </a:lt2>
      <a:accent1>
        <a:srgbClr val="001D26"/>
      </a:accent1>
      <a:accent2>
        <a:srgbClr val="F15C30"/>
      </a:accent2>
      <a:accent3>
        <a:srgbClr val="094FA3"/>
      </a:accent3>
      <a:accent4>
        <a:srgbClr val="FEBE10"/>
      </a:accent4>
      <a:accent5>
        <a:srgbClr val="E4E4E4"/>
      </a:accent5>
      <a:accent6>
        <a:srgbClr val="231F20"/>
      </a:accent6>
      <a:hlink>
        <a:srgbClr val="094FA3"/>
      </a:hlink>
      <a:folHlink>
        <a:srgbClr val="F15C3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46</Words>
  <Application>Microsoft Office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Helvetica</vt:lpstr>
      <vt:lpstr>Stag</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Economics and Political Economy</dc:title>
  <dc:creator>Hamish Gamble</dc:creator>
  <cp:keywords/>
  <dcterms:created xsi:type="dcterms:W3CDTF">2026-06-09T06:04:14Z</dcterms:created>
  <dcterms:modified xsi:type="dcterms:W3CDTF">2026-06-09T06:04:14Z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
    <vt:lpwstr>National Research Centre, AMWU</vt:lpwstr>
  </property>
  <property fmtid="{D5CDD505-2E9C-101B-9397-08002B2CF9AE}" pid="3" name="authors">
    <vt:lpwstr/>
  </property>
  <property fmtid="{D5CDD505-2E9C-101B-9397-08002B2CF9AE}" pid="4" name="biblio-config">
    <vt:lpwstr>True</vt:lpwstr>
  </property>
  <property fmtid="{D5CDD505-2E9C-101B-9397-08002B2CF9AE}" pid="5" name="brand">
    <vt:lpwstr>_brand/_brand.yml</vt:lpwstr>
  </property>
  <property fmtid="{D5CDD505-2E9C-101B-9397-08002B2CF9AE}" pid="6" name="brand-mode">
    <vt:lpwstr>dark</vt:lpwstr>
  </property>
  <property fmtid="{D5CDD505-2E9C-101B-9397-08002B2CF9AE}" pid="7" name="by-author">
    <vt:lpwstr/>
  </property>
  <property fmtid="{D5CDD505-2E9C-101B-9397-08002B2CF9AE}" pid="8" name="editor">
    <vt:lpwstr>visual</vt:lpwstr>
  </property>
  <property fmtid="{D5CDD505-2E9C-101B-9397-08002B2CF9AE}" pid="9" name="engines">
    <vt:lpwstr/>
  </property>
  <property fmtid="{D5CDD505-2E9C-101B-9397-08002B2CF9AE}" pid="10" name="execute">
    <vt:lpwstr/>
  </property>
  <property fmtid="{D5CDD505-2E9C-101B-9397-08002B2CF9AE}" pid="11" name="header-includes">
    <vt:lpwstr/>
  </property>
  <property fmtid="{D5CDD505-2E9C-101B-9397-08002B2CF9AE}" pid="12" name="include-after">
    <vt:lpwstr/>
  </property>
  <property fmtid="{D5CDD505-2E9C-101B-9397-08002B2CF9AE}" pid="13" name="include-before">
    <vt:lpwstr/>
  </property>
  <property fmtid="{D5CDD505-2E9C-101B-9397-08002B2CF9AE}" pid="14" name="labels">
    <vt:lpwstr/>
  </property>
  <property fmtid="{D5CDD505-2E9C-101B-9397-08002B2CF9AE}" pid="15" name="subtitle">
    <vt:lpwstr>Useful Economics</vt:lpwstr>
  </property>
  <property fmtid="{D5CDD505-2E9C-101B-9397-08002B2CF9AE}" pid="16" name="toc-title">
    <vt:lpwstr>Table of contents</vt:lpwstr>
  </property>
</Properties>
</file>