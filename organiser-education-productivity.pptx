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first session in the NRC Legal, Political and Economic Education Series which we are developing. These sessions are designed to:</a:t>
            </a:r>
          </a:p>
          <a:p>
            <a:pPr lvl="0" indent="0" marL="0">
              <a:buNone/>
            </a:pPr>
          </a:p>
          <a:p>
            <a:pPr lvl="0"/>
            <a:r>
              <a:rPr/>
              <a:t>help build a culture of mindful militancy</a:t>
            </a:r>
          </a:p>
          <a:p>
            <a:pPr lvl="0" indent="0" marL="0">
              <a:buNone/>
            </a:pPr>
          </a:p>
          <a:p>
            <a:pPr lvl="0"/>
            <a:r>
              <a:rPr/>
              <a:t>have a shared understanding (as a union) on legal, political, and economic issues</a:t>
            </a:r>
          </a:p>
          <a:p>
            <a:pPr lvl="0" indent="0" marL="0">
              <a:buNone/>
            </a:pPr>
          </a:p>
          <a:p>
            <a:pPr lvl="0"/>
            <a:r>
              <a:rPr/>
              <a:t>provide consistency in training across delegates and organisers, to help with coaching and mentoring of delegates following DU4 and more broadly around knowledge and skill building.</a:t>
            </a:r>
          </a:p>
          <a:p>
            <a:pPr lvl="0" indent="0" marL="0">
              <a:buNone/>
            </a:pPr>
          </a:p>
          <a:p>
            <a:pPr lvl="0"/>
            <a:r>
              <a:rPr/>
              <a:t>provide some useful talking points in recruitment and organising conversations.</a:t>
            </a:r>
          </a:p>
          <a:p>
            <a:pPr lvl="0" indent="0" marL="0">
              <a:buNone/>
            </a:pPr>
          </a:p>
          <a:p>
            <a:pPr lvl="0"/>
            <a:r>
              <a:rPr/>
              <a:t>What comes next will be influenced by what you think you need/what you think will be useful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thing with productivity - who benefits?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things which primarily determine productivity are things in which the worker does not have much control.</a:t>
            </a:r>
          </a:p>
          <a:p>
            <a:pPr lvl="0" indent="0" marL="0">
              <a:buNone/>
            </a:pPr>
          </a:p>
          <a:p>
            <a:pPr lvl="0" indent="0" marL="0">
              <a:buNone/>
            </a:pPr>
            <a:r>
              <a:rPr/>
              <a:t>Physical capital, technology and innovation, and management practices are all decisions of the managerial class.</a:t>
            </a:r>
          </a:p>
          <a:p>
            <a:pPr lvl="0" indent="0" marL="0">
              <a:buNone/>
            </a:pPr>
          </a:p>
          <a:p>
            <a:pPr lvl="0" indent="0" marL="0">
              <a:buNone/>
            </a:pPr>
            <a:r>
              <a:rPr/>
              <a:t>Health comes down to many factors, including work health and safety, psychosocial hazards, but also being able to get sufficient rest between shifts, and sufficient time off for leisure. Ultimately this comes down to wages. If wages aren’t high enough, workers will look to overtime, taking extra shifts, and minimising leisure time - because they need to to survive.</a:t>
            </a:r>
          </a:p>
          <a:p>
            <a:pPr lvl="0" indent="0" marL="0">
              <a:buNone/>
            </a:pPr>
          </a:p>
          <a:p>
            <a:pPr lvl="0" indent="0" marL="0">
              <a:buNone/>
            </a:pPr>
            <a:r>
              <a:rPr/>
              <a:t>For skills there is also the issue of wages. Workforce development should be the role of management, not the role of the worker. Individual workers should not feel they have to take leave or paid training to support the boss generating more profit. Also the labour market in Australia is highly concentrated, and workers are underpaid relative to their skills - further disincentivising training. What’s the point in paying for your own training if it won’t get you a higher pay packet? Again - this is the individual improving productivity just to benefit the boss.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have a lot of levers at our disposal to improve productivity. Unfortunately (for the boss) most of these require them to either take a hit to their profit, or reinvest some of that profit into their business!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Talking points that you might find useful in starting a conversation in the workplace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an almost direct quote from Australian Chamber of Commerce and Industry chief executive Andrew McKellar in the AFR. https://www.afr.com/policy/economy/rba-says-australians-will-have-to-accept-lower-wages-growth-20251015-p5n2ms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6.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7.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8.sv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sv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10.sv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11.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Organiser Essentials</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Productivity</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Organiser Essentials</a:t>
            </a:r>
          </a:p>
        </p:txBody>
      </p:sp>
      <p:sp>
        <p:nvSpPr>
          <p:cNvPr id="3" name="Content Placeholder 2"/>
          <p:cNvSpPr>
            <a:spLocks noGrp="1"/>
          </p:cNvSpPr>
          <p:nvPr>
            <p:ph idx="1"/>
          </p:nvPr>
        </p:nvSpPr>
        <p:spPr/>
        <p:txBody>
          <a:bodyPr/>
          <a:lstStyle/>
          <a:p>
            <a:pPr lvl="0"/>
            <a:r>
              <a:rPr/>
              <a:t>These sessions are designed to help build a culture of mindful militancy.</a:t>
            </a:r>
          </a:p>
          <a:p>
            <a:pPr lvl="0"/>
            <a:r>
              <a:rPr/>
              <a:t>Tell us what you need.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Talking about Productivity</a:t>
            </a:r>
          </a:p>
        </p:txBody>
      </p:sp>
      <p:sp>
        <p:nvSpPr>
          <p:cNvPr id="3" name="Content Placeholder 2"/>
          <p:cNvSpPr>
            <a:spLocks noGrp="1"/>
          </p:cNvSpPr>
          <p:nvPr>
            <p:ph idx="1"/>
          </p:nvPr>
        </p:nvSpPr>
        <p:spPr/>
        <p:txBody>
          <a:bodyPr/>
          <a:lstStyle/>
          <a:p>
            <a:pPr lvl="0"/>
            <a:r>
              <a:rPr/>
              <a:t>Why do you need to understand productivity?</a:t>
            </a:r>
          </a:p>
          <a:p>
            <a:pPr lvl="0"/>
            <a:r>
              <a:rPr/>
              <a:t>What is productivity, and what is it not?</a:t>
            </a:r>
          </a:p>
          <a:p>
            <a:pPr lvl="0"/>
            <a:r>
              <a:rPr/>
              <a:t>What factors affect trends in productivity?</a:t>
            </a:r>
          </a:p>
          <a:p>
            <a:pPr lvl="0"/>
            <a:r>
              <a:rPr/>
              <a:t>Talking about productivity in the workplace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organiser-education-productivity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organiser-education-productivity_files/figure-pptx/unnamed-chunk-2-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organiser-education-productivity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organiser-education-productivity_files/figure-pptx/unnamed-chunk-4-1.sv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organiser-education-productivity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organiser-education-productivity_files/figure-pptx/unnamed-chunk-6-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and Management</a:t>
            </a:r>
          </a:p>
        </p:txBody>
      </p:sp>
      <p:sp>
        <p:nvSpPr>
          <p:cNvPr id="3" name="Content Placeholder 2"/>
          <p:cNvSpPr>
            <a:spLocks noGrp="1"/>
          </p:cNvSpPr>
          <p:nvPr>
            <p:ph idx="1"/>
          </p:nvPr>
        </p:nvSpPr>
        <p:spPr/>
        <p:txBody>
          <a:bodyPr/>
          <a:lstStyle/>
          <a:p>
            <a:pPr lvl="0" indent="0" marL="0">
              <a:buNone/>
            </a:pPr>
            <a:r>
              <a:rPr/>
              <a:t>Productivity is primarily determined by:</a:t>
            </a:r>
          </a:p>
          <a:p>
            <a:pPr lvl="0"/>
            <a:r>
              <a:rPr/>
              <a:t>Physical capital like tools, and machines</a:t>
            </a:r>
          </a:p>
          <a:p>
            <a:pPr lvl="0"/>
            <a:r>
              <a:rPr/>
              <a:t>Technology and innovation</a:t>
            </a:r>
          </a:p>
          <a:p>
            <a:pPr lvl="0"/>
            <a:r>
              <a:rPr/>
              <a:t>Management of resources</a:t>
            </a:r>
          </a:p>
          <a:p>
            <a:pPr lvl="0"/>
            <a:r>
              <a:rPr/>
              <a:t>The health and skills of workers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and Public Policy</a:t>
            </a:r>
          </a:p>
        </p:txBody>
      </p:sp>
      <p:sp>
        <p:nvSpPr>
          <p:cNvPr id="3" name="Content Placeholder 2"/>
          <p:cNvSpPr>
            <a:spLocks noGrp="1"/>
          </p:cNvSpPr>
          <p:nvPr>
            <p:ph idx="1"/>
          </p:nvPr>
        </p:nvSpPr>
        <p:spPr/>
        <p:txBody>
          <a:bodyPr/>
          <a:lstStyle/>
          <a:p>
            <a:pPr lvl="0" indent="0" marL="0">
              <a:buNone/>
            </a:pPr>
            <a:r>
              <a:rPr/>
              <a:t>What policy levers can be used to increase productivity?</a:t>
            </a:r>
          </a:p>
          <a:p>
            <a:pPr lvl="0"/>
            <a:r>
              <a:rPr/>
              <a:t>Worker health</a:t>
            </a:r>
          </a:p>
          <a:p>
            <a:pPr lvl="0"/>
            <a:r>
              <a:rPr/>
              <a:t>Skills</a:t>
            </a:r>
          </a:p>
          <a:p>
            <a:pPr lvl="0"/>
            <a:r>
              <a:rPr/>
              <a:t>Investment</a:t>
            </a:r>
          </a:p>
          <a:p>
            <a:pPr lvl="0"/>
            <a:r>
              <a:rPr/>
              <a:t>Environmental regulation</a:t>
            </a:r>
          </a:p>
          <a:p>
            <a:pPr lvl="0"/>
            <a:r>
              <a:rPr/>
              <a:t>Managerial practices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 in the Workplace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a:t>
            </a:r>
          </a:p>
        </p:txBody>
      </p:sp>
      <p:sp>
        <p:nvSpPr>
          <p:cNvPr id="3" name="Content Placeholder 2"/>
          <p:cNvSpPr>
            <a:spLocks noGrp="1"/>
          </p:cNvSpPr>
          <p:nvPr>
            <p:ph idx="1"/>
          </p:nvPr>
        </p:nvSpPr>
        <p:spPr/>
        <p:txBody>
          <a:bodyPr/>
          <a:lstStyle/>
          <a:p>
            <a:pPr lvl="0" indent="0" marL="0">
              <a:buNone/>
            </a:pPr>
            <a:r>
              <a:rPr/>
              <a:t>They say:</a:t>
            </a:r>
          </a:p>
          <a:p>
            <a:pPr lvl="0" indent="0" marL="1270000">
              <a:buNone/>
            </a:pPr>
            <a:r>
              <a:rPr sz="2000"/>
              <a:t>Unions need to moderate their wage claims, and offer measures to improve labour productivity.</a:t>
            </a:r>
          </a:p>
          <a:p>
            <a:pPr lvl="0"/>
            <a:r>
              <a:rPr/>
              <a:t>Who makes decisions that impact on labour productivity? Workers or Bosses?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Health</a:t>
            </a:r>
          </a:p>
        </p:txBody>
      </p:sp>
      <p:sp>
        <p:nvSpPr>
          <p:cNvPr id="3" name="Content Placeholder 2"/>
          <p:cNvSpPr>
            <a:spLocks noGrp="1"/>
          </p:cNvSpPr>
          <p:nvPr>
            <p:ph idx="1"/>
          </p:nvPr>
        </p:nvSpPr>
        <p:spPr/>
        <p:txBody>
          <a:bodyPr/>
          <a:lstStyle/>
          <a:p>
            <a:pPr lvl="0"/>
            <a:r>
              <a:rPr/>
              <a:t>Are workers earning enough to live without constant stress?</a:t>
            </a:r>
          </a:p>
          <a:p>
            <a:pPr lvl="0"/>
            <a:r>
              <a:rPr/>
              <a:t>Are workplace health and safety risks properly addressed?</a:t>
            </a:r>
          </a:p>
          <a:p>
            <a:pPr lvl="0"/>
            <a:r>
              <a:rPr/>
              <a:t>Do workers have sufficient time to rest and recover?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Skills</a:t>
            </a:r>
          </a:p>
        </p:txBody>
      </p:sp>
      <p:sp>
        <p:nvSpPr>
          <p:cNvPr id="3" name="Content Placeholder 2"/>
          <p:cNvSpPr>
            <a:spLocks noGrp="1"/>
          </p:cNvSpPr>
          <p:nvPr>
            <p:ph idx="1"/>
          </p:nvPr>
        </p:nvSpPr>
        <p:spPr/>
        <p:txBody>
          <a:bodyPr/>
          <a:lstStyle/>
          <a:p>
            <a:pPr lvl="0"/>
            <a:r>
              <a:rPr/>
              <a:t>Are workers given opportunities to develop their skills and advance their careers?</a:t>
            </a:r>
          </a:p>
          <a:p>
            <a:pPr lvl="0"/>
            <a:r>
              <a:rPr/>
              <a:t>Does the company cover training costs? Or offer time off?</a:t>
            </a:r>
          </a:p>
          <a:p>
            <a:pPr lvl="0"/>
            <a:r>
              <a:rPr/>
              <a:t>Are there incentives to train?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Investment</a:t>
            </a:r>
          </a:p>
        </p:txBody>
      </p:sp>
      <p:sp>
        <p:nvSpPr>
          <p:cNvPr id="3" name="Content Placeholder 2"/>
          <p:cNvSpPr>
            <a:spLocks noGrp="1"/>
          </p:cNvSpPr>
          <p:nvPr>
            <p:ph idx="1"/>
          </p:nvPr>
        </p:nvSpPr>
        <p:spPr/>
        <p:txBody>
          <a:bodyPr/>
          <a:lstStyle/>
          <a:p>
            <a:pPr lvl="0"/>
            <a:r>
              <a:rPr/>
              <a:t>Is the company investing in physical capital and research?</a:t>
            </a:r>
          </a:p>
          <a:p>
            <a:pPr lvl="0"/>
            <a:r>
              <a:rPr/>
              <a:t>Are workers provided with the tools and materials they need to be productive?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Management</a:t>
            </a:r>
          </a:p>
        </p:txBody>
      </p:sp>
      <p:sp>
        <p:nvSpPr>
          <p:cNvPr id="3" name="Content Placeholder 2"/>
          <p:cNvSpPr>
            <a:spLocks noGrp="1"/>
          </p:cNvSpPr>
          <p:nvPr>
            <p:ph idx="1"/>
          </p:nvPr>
        </p:nvSpPr>
        <p:spPr/>
        <p:txBody>
          <a:bodyPr/>
          <a:lstStyle/>
          <a:p>
            <a:pPr lvl="0"/>
            <a:r>
              <a:rPr/>
              <a:t>Is time wasted on non-value adding tasks?</a:t>
            </a:r>
          </a:p>
          <a:p>
            <a:pPr lvl="0"/>
            <a:r>
              <a:rPr/>
              <a:t>Can workers raise and resolve issues with management?</a:t>
            </a:r>
          </a:p>
          <a:p>
            <a:pPr lvl="0"/>
            <a:r>
              <a:rPr/>
              <a:t>Are workers deployed effectively?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a:t>
            </a:r>
          </a:p>
        </p:txBody>
      </p:sp>
      <p:sp>
        <p:nvSpPr>
          <p:cNvPr id="3" name="Content Placeholder 2"/>
          <p:cNvSpPr>
            <a:spLocks noGrp="1"/>
          </p:cNvSpPr>
          <p:nvPr>
            <p:ph idx="1"/>
          </p:nvPr>
        </p:nvSpPr>
        <p:spPr/>
        <p:txBody>
          <a:bodyPr/>
          <a:lstStyle/>
          <a:p>
            <a:pPr lvl="0"/>
            <a:r>
              <a:rPr/>
              <a:t>Productivity in the workplace is shaped by the choices companies make</a:t>
            </a:r>
          </a:p>
          <a:p>
            <a:pPr lvl="0"/>
            <a:r>
              <a:rPr/>
              <a:t>Companies can be profitable without being productive.</a:t>
            </a:r>
          </a:p>
          <a:p>
            <a:pPr lvl="0"/>
            <a:r>
              <a:rPr/>
              <a:t>Workers need to be able to discuss productivity openly so they can challenge misleading claims.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NRC is Here to Help</a:t>
            </a:r>
          </a:p>
        </p:txBody>
      </p:sp>
      <p:sp>
        <p:nvSpPr>
          <p:cNvPr id="3" name="Content Placeholder 2"/>
          <p:cNvSpPr>
            <a:spLocks noGrp="1"/>
          </p:cNvSpPr>
          <p:nvPr>
            <p:ph idx="1"/>
          </p:nvPr>
        </p:nvSpPr>
        <p:spPr/>
        <p:txBody>
          <a:bodyPr/>
          <a:lstStyle/>
          <a:p>
            <a:pPr lvl="0"/>
            <a:r>
              <a:rPr/>
              <a:t>Please reach out if you need any help</a:t>
            </a:r>
          </a:p>
          <a:p>
            <a:pPr lvl="0"/>
            <a:r>
              <a:rPr/>
              <a:t>Contact us on nrc@amwu.org.au</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Organiser Essentials</dc:title>
  <dc:creator>Hamish Gamble</dc:creator>
  <cp:keywords/>
  <dcterms:created xsi:type="dcterms:W3CDTF">2026-06-09T06:07:18Z</dcterms:created>
  <dcterms:modified xsi:type="dcterms:W3CDTF">2026-06-09T06:07:18Z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Productivity</vt:lpwstr>
  </property>
  <property fmtid="{D5CDD505-2E9C-101B-9397-08002B2CF9AE}" pid="15" name="toc-title">
    <vt:lpwstr>Table of contents</vt:lpwstr>
  </property>
</Properties>
</file>