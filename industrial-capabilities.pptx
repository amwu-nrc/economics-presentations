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Objects="1">
      <p:cViewPr varScale="1">
        <p:scale>
          <a:sx d="100" n="147"/>
          <a:sy d="100" n="147"/>
        </p:scale>
        <p:origin x="564" y="12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180000" cy="1800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notesMaster" Target="notesMasters/notesMaster1.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Australia’s ranking in 2024 was 74th- Sandwiched between Madagascar and Uruguay</a:t>
            </a:r>
          </a:p>
          <a:p>
            <a:pPr lvl="0" indent="0" marL="0">
              <a:buNone/>
            </a:pPr>
          </a:p>
          <a:p>
            <a:pPr lvl="0"/>
            <a:r>
              <a:rPr/>
              <a:t>Australia’s exports are concentrated in only a few products</a:t>
            </a:r>
          </a:p>
          <a:p>
            <a:pPr lvl="0" indent="0" marL="0">
              <a:buNone/>
            </a:pPr>
          </a:p>
          <a:p>
            <a:pPr lvl="0"/>
            <a:r>
              <a:rPr/>
              <a:t>Australia’s exports are lower in average complexity</a:t>
            </a:r>
          </a:p>
          <a:p>
            <a:pPr lvl="0" indent="0" marL="0">
              <a:buNone/>
            </a:pPr>
          </a:p>
          <a:p>
            <a:pPr lvl="0"/>
            <a:r>
              <a:rPr/>
              <a:t>Australia does not have the industrial capabilities of other developed countries.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problem:</a:t>
            </a:r>
          </a:p>
          <a:p>
            <a:pPr lvl="0" indent="0" marL="0">
              <a:buNone/>
            </a:pPr>
          </a:p>
          <a:p>
            <a:pPr lvl="0"/>
            <a:r>
              <a:rPr/>
              <a:t>is real, will not be solved by the market and will not be solved with small tweaks and adjustments.</a:t>
            </a:r>
          </a:p>
          <a:p>
            <a:pPr lvl="0" indent="0" marL="0">
              <a:buNone/>
            </a:pPr>
          </a:p>
          <a:p>
            <a:pPr lvl="0"/>
            <a:r>
              <a:rPr/>
              <a:t>just transition and decarbonisation is an opportunity to PLAN something, and then to DO something.</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 part of a Future Made in Australia, what do we want to see? What will we be campaigning for?</a:t>
            </a:r>
          </a:p>
          <a:p>
            <a:pPr lvl="0" indent="0" marL="0">
              <a:buNone/>
            </a:pPr>
          </a:p>
          <a:p>
            <a:pPr lvl="0"/>
            <a:r>
              <a:rPr/>
              <a:t>A Secure Australian Jobs Code</a:t>
            </a:r>
          </a:p>
          <a:p>
            <a:pPr lvl="0" indent="0" marL="0">
              <a:buNone/>
            </a:pPr>
          </a:p>
          <a:p>
            <a:pPr lvl="0"/>
            <a:r>
              <a:rPr/>
              <a:t>Establishing a Manufacturing Competitiveness Council</a:t>
            </a:r>
          </a:p>
          <a:p>
            <a:pPr lvl="0" indent="0" marL="0">
              <a:buNone/>
            </a:pPr>
          </a:p>
          <a:p>
            <a:pPr lvl="0"/>
            <a:r>
              <a:rPr/>
              <a:t>Demand local content</a:t>
            </a:r>
          </a:p>
          <a:p>
            <a:pPr lvl="0" indent="0" marL="0">
              <a:buNone/>
            </a:pPr>
          </a:p>
          <a:p>
            <a:pPr lvl="0"/>
            <a:r>
              <a:rPr/>
              <a:t>Mandate apprentice participation</a:t>
            </a:r>
          </a:p>
          <a:p>
            <a:pPr lvl="0" indent="0" marL="0">
              <a:buNone/>
            </a:pPr>
          </a:p>
          <a:p>
            <a:pPr lvl="0"/>
            <a:r>
              <a:rPr/>
              <a:t>Establish </a:t>
            </a:r>
            <a:r>
              <a:rPr b="1"/>
              <a:t>fair trade</a:t>
            </a:r>
            <a:r>
              <a:rPr/>
              <a:t> over free trade</a:t>
            </a:r>
          </a:p>
          <a:p>
            <a:pPr lvl="0" indent="0" marL="0">
              <a:buNone/>
            </a:pPr>
          </a:p>
          <a:p>
            <a:pPr lvl="0"/>
            <a:r>
              <a:rPr/>
              <a:t>Nationalise strategic infrastructure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about public money for a public good. Not subsidies to private capital to continue to exploit their workers. We are calling on the Labor government to mandate collective agreements for any businesses receiving public money, which reflect union rates of pay.</a:t>
            </a:r>
          </a:p>
          <a:p>
            <a:pPr lvl="0" indent="0" marL="0">
              <a:buNone/>
            </a:pPr>
          </a:p>
          <a:p>
            <a:pPr lvl="0" indent="0" marL="0">
              <a:buNone/>
            </a:pPr>
            <a:r>
              <a:rPr b="1"/>
              <a:t>Local Content</a:t>
            </a:r>
          </a:p>
          <a:p>
            <a:pPr lvl="0" indent="0" marL="0">
              <a:buNone/>
            </a:pPr>
          </a:p>
          <a:p>
            <a:pPr lvl="0"/>
            <a:r>
              <a:rPr/>
              <a:t>Procurement is one of the most powerful levers we have for rebuilding our industrial base.</a:t>
            </a:r>
          </a:p>
          <a:p>
            <a:pPr lvl="0" indent="0" marL="0">
              <a:buNone/>
            </a:pPr>
          </a:p>
          <a:p>
            <a:pPr lvl="0"/>
            <a:r>
              <a:rPr/>
              <a:t>Public money must explicitly support local industry.</a:t>
            </a:r>
          </a:p>
          <a:p>
            <a:pPr lvl="0" indent="0" marL="0">
              <a:buNone/>
            </a:pPr>
          </a:p>
          <a:p>
            <a:pPr lvl="0"/>
            <a:r>
              <a:rPr/>
              <a:t>How do we make them enforceable?</a:t>
            </a:r>
          </a:p>
          <a:p>
            <a:pPr lvl="0" indent="0" marL="0">
              <a:buNone/>
            </a:pPr>
          </a:p>
          <a:p>
            <a:pPr lvl="0"/>
            <a:r>
              <a:rPr/>
              <a:t>Local content, local content targets, and local industry participation. The government can provide certainty to businesses looking to expand to supply infrastructure to the energy transition.</a:t>
            </a:r>
          </a:p>
          <a:p>
            <a:pPr lvl="0" indent="0" marL="0">
              <a:buNone/>
            </a:pPr>
          </a:p>
          <a:p>
            <a:pPr lvl="0" indent="0" marL="0">
              <a:buNone/>
            </a:pPr>
            <a:r>
              <a:rPr b="1"/>
              <a:t>Skills and Apprentices</a:t>
            </a:r>
          </a:p>
          <a:p>
            <a:pPr lvl="0" indent="0" marL="0">
              <a:buNone/>
            </a:pPr>
          </a:p>
          <a:p>
            <a:pPr lvl="0"/>
            <a:r>
              <a:rPr/>
              <a:t>To rebuild our industrial base we need skilled manufacturing workers</a:t>
            </a:r>
          </a:p>
          <a:p>
            <a:pPr lvl="0" indent="0" marL="0">
              <a:buNone/>
            </a:pPr>
          </a:p>
          <a:p>
            <a:pPr lvl="0"/>
            <a:r>
              <a:rPr/>
              <a:t>Current apprentice requirements are toothless, letting employers off the hook</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goal of economic sovereignty cannot be achieved if the nation’s most vital infrastructure remains subject to the profit demands of private capital. Labor must move to nationalise strategic infrastructure essential to the Future Made in Australia Act agenda, particularly in the energy and green manufacturing sectors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020490"/>
            <a:ext cx="7772400" cy="1102519"/>
          </a:xfrm>
        </p:spPr>
        <p:txBody>
          <a:bodyPr/>
          <a:lstStyle>
            <a:lvl1pPr>
              <a:defRPr sz="4000" b="1" i="0" cap="none" baseline="0">
                <a:solidFill>
                  <a:schemeClr val="tx2"/>
                </a:solidFill>
                <a:latin typeface="Stag" panose="02000603060000020004" pitchFamily="2" charset="0"/>
              </a:defRPr>
            </a:lvl1pPr>
          </a:lstStyle>
          <a:p>
            <a:r>
              <a:rPr lang="en-US" dirty="0"/>
              <a:t>Click to edit master title style</a:t>
            </a:r>
          </a:p>
        </p:txBody>
      </p:sp>
      <p:sp>
        <p:nvSpPr>
          <p:cNvPr id="3" name="Subtitle 2"/>
          <p:cNvSpPr>
            <a:spLocks noGrp="1"/>
          </p:cNvSpPr>
          <p:nvPr>
            <p:ph type="subTitle" idx="1"/>
          </p:nvPr>
        </p:nvSpPr>
        <p:spPr>
          <a:xfrm>
            <a:off x="1512000" y="3529538"/>
            <a:ext cx="6400800" cy="508533"/>
          </a:xfrm>
        </p:spPr>
        <p:txBody>
          <a:bodyPr/>
          <a:lstStyle>
            <a:lvl1pPr marL="0" indent="0" algn="ctr">
              <a:buNone/>
              <a:defRPr sz="2200" b="1" i="0" cap="all" baseline="0">
                <a:solidFill>
                  <a:schemeClr val="tx2"/>
                </a:solidFill>
                <a:latin typeface="Helvetica"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pic>
        <p:nvPicPr>
          <p:cNvPr id="7" name="Picture 6" descr="A black and blue logo&#10;&#10;AI-generated content may be incorrect.">
            <a:extLst>
              <a:ext uri="{FF2B5EF4-FFF2-40B4-BE49-F238E27FC236}">
                <a16:creationId xmlns:a16="http://schemas.microsoft.com/office/drawing/2014/main" id="{FE5328CA-2CF8-7AA1-BFBF-639DE8A51604}"/>
              </a:ext>
            </a:extLst>
          </p:cNvPr>
          <p:cNvPicPr>
            <a:picLocks noChangeAspect="1"/>
          </p:cNvPicPr>
          <p:nvPr userDrawn="1"/>
        </p:nvPicPr>
        <p:blipFill>
          <a:blip r:embed="rId3"/>
          <a:srcRect l="1" t="17400" r="-676" b="16465"/>
          <a:stretch>
            <a:fillRect/>
          </a:stretch>
        </p:blipFill>
        <p:spPr>
          <a:xfrm>
            <a:off x="2412000" y="0"/>
            <a:ext cx="3780000" cy="1359694"/>
          </a:xfrm>
          <a:prstGeom prst="rect">
            <a:avLst/>
          </a:prstGeom>
        </p:spPr>
      </p:pic>
      <p:sp>
        <p:nvSpPr>
          <p:cNvPr id="4" name="AutoShape 2">
            <a:extLst>
              <a:ext uri="{FF2B5EF4-FFF2-40B4-BE49-F238E27FC236}">
                <a16:creationId xmlns:a16="http://schemas.microsoft.com/office/drawing/2014/main" id="{BA7A2B98-05DA-985B-02B4-7BF429D6FC88}"/>
              </a:ext>
            </a:extLst>
          </p:cNvPr>
          <p:cNvSpPr/>
          <p:nvPr userDrawn="1"/>
        </p:nvSpPr>
        <p:spPr>
          <a:xfrm rot="10800000">
            <a:off x="4102963" y="329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1587600"/>
            <a:ext cx="8229600" cy="3388923"/>
          </a:xfrm>
        </p:spPr>
        <p:txBody>
          <a:bodyPr>
            <a:normAutofit/>
          </a:bodyPr>
          <a:lstStyle>
            <a:lvl1pPr>
              <a:defRPr sz="1800"/>
            </a:lvl1pPr>
            <a:lvl2pPr>
              <a:defRPr sz="18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3" descr="A black and white logo&#10;&#10;AI-generated content may be incorrect.">
            <a:extLst>
              <a:ext uri="{FF2B5EF4-FFF2-40B4-BE49-F238E27FC236}">
                <a16:creationId xmlns:a16="http://schemas.microsoft.com/office/drawing/2014/main" id="{FE1CDE46-3A4A-2014-8F77-5556E9DC868E}"/>
              </a:ext>
            </a:extLst>
          </p:cNvPr>
          <p:cNvSpPr/>
          <p:nvPr userDrawn="1"/>
        </p:nvSpPr>
        <p:spPr>
          <a:xfrm>
            <a:off x="6942719" y="-242685"/>
            <a:ext cx="2110375" cy="116141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nchor="t"/>
          <a:lstStyle>
            <a:lvl1pPr algn="ctr">
              <a:defRPr sz="3000" b="1" i="0" cap="none" baseline="0"/>
            </a:lvl1pPr>
          </a:lstStyle>
          <a:p>
            <a:r>
              <a:rPr lang="en-US" dirty="0"/>
              <a:t>Click to edit Master title style</a:t>
            </a:r>
          </a:p>
        </p:txBody>
      </p:sp>
      <p:sp>
        <p:nvSpPr>
          <p:cNvPr id="3" name="Text Placeholder 2"/>
          <p:cNvSpPr>
            <a:spLocks noGrp="1"/>
          </p:cNvSpPr>
          <p:nvPr>
            <p:ph type="body" idx="1"/>
          </p:nvPr>
        </p:nvSpPr>
        <p:spPr>
          <a:xfrm>
            <a:off x="579303" y="2997122"/>
            <a:ext cx="7772400" cy="1125140"/>
          </a:xfrm>
        </p:spPr>
        <p:txBody>
          <a:bodyPr anchor="ctr"/>
          <a:lstStyle>
            <a:lvl1pPr marL="0" indent="0" algn="ctr">
              <a:buNone/>
              <a:defRPr sz="1500" b="1" i="0" cap="all" baseline="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7" name="AutoShape 2">
            <a:extLst>
              <a:ext uri="{FF2B5EF4-FFF2-40B4-BE49-F238E27FC236}">
                <a16:creationId xmlns:a16="http://schemas.microsoft.com/office/drawing/2014/main" id="{72358C08-E3A7-86ED-0094-0406B22E75B3}"/>
              </a:ext>
            </a:extLst>
          </p:cNvPr>
          <p:cNvSpPr/>
          <p:nvPr userDrawn="1"/>
        </p:nvSpPr>
        <p:spPr>
          <a:xfrm rot="10800000">
            <a:off x="4102963" y="257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457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4" name="Content Placeholder 3"/>
          <p:cNvSpPr>
            <a:spLocks noGrp="1"/>
          </p:cNvSpPr>
          <p:nvPr>
            <p:ph sz="half" idx="2"/>
          </p:nvPr>
        </p:nvSpPr>
        <p:spPr>
          <a:xfrm>
            <a:off x="458787" y="1170712"/>
            <a:ext cx="4040188" cy="38811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6" y="1170712"/>
            <a:ext cx="4041775" cy="38811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8603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737370"/>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8" r:id="rId10"/>
    <p:sldLayoutId id="2147483659" r:id="rId11"/>
  </p:sldLayoutIdLst>
  <p:txStyles>
    <p:titleStyle>
      <a:lvl1pPr algn="ctr" defTabSz="342900" eaLnBrk="1" hangingPunct="1" latinLnBrk="0" rtl="0">
        <a:spcBef>
          <a:spcPct val="0"/>
        </a:spcBef>
        <a:buNone/>
        <a:defRPr b="1" baseline="0" cap="all" i="0" kern="1200" sz="3300">
          <a:solidFill>
            <a:schemeClr val="tx2"/>
          </a:solidFill>
          <a:latin charset="0" panose="02000603060000020004" pitchFamily="2" typeface="Stag"/>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tx1"/>
          </a:solidFill>
          <a:latin charset="0" pitchFamily="2" typeface="Helvetica"/>
          <a:ea typeface="+mn-ea"/>
          <a:cs typeface="+mn-cs"/>
        </a:defRPr>
      </a:lvl1pPr>
      <a:lvl2pPr algn="l" defTabSz="342900" eaLnBrk="1" hangingPunct="1" indent="-342900" latinLnBrk="0" marL="685800" rtl="0">
        <a:spcBef>
          <a:spcPct val="20000"/>
        </a:spcBef>
        <a:buFont typeface="Arial"/>
        <a:buChar char="–"/>
        <a:defRPr baseline="0" kern="1200" sz="2100">
          <a:solidFill>
            <a:schemeClr val="tx1"/>
          </a:solidFill>
          <a:latin charset="0" pitchFamily="2" typeface="Helvetica"/>
          <a:ea typeface="+mn-ea"/>
          <a:cs typeface="+mn-cs"/>
        </a:defRPr>
      </a:lvl2pPr>
      <a:lvl3pPr algn="l" defTabSz="342900" eaLnBrk="1" hangingPunct="1" indent="-342900" latinLnBrk="0" marL="1028700" rtl="0">
        <a:spcBef>
          <a:spcPct val="20000"/>
        </a:spcBef>
        <a:buFont typeface="Arial"/>
        <a:buChar char="•"/>
        <a:defRPr baseline="0" kern="1200" sz="1800">
          <a:solidFill>
            <a:schemeClr val="tx1"/>
          </a:solidFill>
          <a:latin charset="0" pitchFamily="2" typeface="Helvetica"/>
          <a:ea typeface="+mn-ea"/>
          <a:cs typeface="+mn-cs"/>
        </a:defRPr>
      </a:lvl3pPr>
      <a:lvl4pPr algn="l" defTabSz="342900" eaLnBrk="1" hangingPunct="1" indent="-342900" latinLnBrk="0" marL="1371600" rtl="0">
        <a:spcBef>
          <a:spcPct val="20000"/>
        </a:spcBef>
        <a:buFont typeface="Arial"/>
        <a:buChar char="–"/>
        <a:defRPr baseline="0" kern="1200" sz="1500">
          <a:solidFill>
            <a:schemeClr val="tx1"/>
          </a:solidFill>
          <a:latin charset="0" pitchFamily="2" typeface="Helvetica"/>
          <a:ea typeface="+mn-ea"/>
          <a:cs typeface="+mn-cs"/>
        </a:defRPr>
      </a:lvl4pPr>
      <a:lvl5pPr algn="l" defTabSz="342900" eaLnBrk="1" hangingPunct="1" indent="-342900" latinLnBrk="0" marL="1714500" rtl="0">
        <a:spcBef>
          <a:spcPct val="20000"/>
        </a:spcBef>
        <a:buFont typeface="Arial"/>
        <a:buChar char="»"/>
        <a:defRPr baseline="0" kern="1200" sz="1500">
          <a:solidFill>
            <a:schemeClr val="tx1"/>
          </a:solidFill>
          <a:latin charset="0" pitchFamily="2" typeface="Helvetica"/>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8.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685800" y="2020490"/>
            <a:ext cx="7772400" cy="1102519"/>
          </a:xfrm>
        </p:spPr>
        <p:txBody>
          <a:bodyPr/>
          <a:lstStyle/>
          <a:p>
            <a:pPr lvl="0" indent="0" marL="0">
              <a:buNone/>
            </a:pPr>
            <a:r>
              <a:rPr/>
              <a:t>Industrial Capabilities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Industrial Capabilities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What you make is what you know</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Industrial Capabilities</a:t>
            </a:r>
          </a:p>
        </p:txBody>
      </p:sp>
      <p:sp>
        <p:nvSpPr>
          <p:cNvPr id="3" name="Content Placeholder 2"/>
          <p:cNvSpPr>
            <a:spLocks noGrp="1"/>
          </p:cNvSpPr>
          <p:nvPr>
            <p:ph idx="1"/>
          </p:nvPr>
        </p:nvSpPr>
        <p:spPr/>
        <p:txBody>
          <a:bodyPr/>
          <a:lstStyle/>
          <a:p>
            <a:pPr lvl="0"/>
            <a:r>
              <a:rPr/>
              <a:t>Core concepts:</a:t>
            </a:r>
          </a:p>
          <a:p>
            <a:pPr lvl="1"/>
            <a:r>
              <a:rPr/>
              <a:t>a country makes (or does) what it knows</a:t>
            </a:r>
          </a:p>
          <a:p>
            <a:pPr lvl="1"/>
            <a:r>
              <a:rPr/>
              <a:t>products (or activities) represent combinations of knowledge</a:t>
            </a:r>
          </a:p>
          <a:p>
            <a:pPr lvl="0"/>
            <a:r>
              <a:rPr/>
              <a:t>Capabilities are like letters in Scrabble</a:t>
            </a:r>
          </a:p>
          <a:p>
            <a:pPr lvl="1"/>
            <a:r>
              <a:rPr/>
              <a:t>The more you have, the more words you can make</a:t>
            </a:r>
          </a:p>
          <a:p>
            <a:pPr lvl="1"/>
            <a:r>
              <a:rPr/>
              <a:t>Rare letters create words worth more points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Products Embody Knowledge</a:t>
            </a:r>
          </a:p>
        </p:txBody>
      </p:sp>
      <p:pic>
        <p:nvPicPr>
          <p:cNvPr descr="img/red-apple.png" id="0" name="Picture 1"/>
          <p:cNvPicPr>
            <a:picLocks noGrp="1" noChangeAspect="1"/>
          </p:cNvPicPr>
          <p:nvPr/>
        </p:nvPicPr>
        <p:blipFill>
          <a:blip r:embed="rId2"/>
          <a:stretch>
            <a:fillRect/>
          </a:stretch>
        </p:blipFill>
        <p:spPr bwMode="auto">
          <a:xfrm>
            <a:off x="647700" y="1193800"/>
            <a:ext cx="3657600" cy="3860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An apple in the supermarket represents:</a:t>
            </a:r>
          </a:p>
          <a:p>
            <a:pPr lvl="0"/>
            <a:r>
              <a:rPr/>
              <a:t>Horticulture</a:t>
            </a:r>
          </a:p>
          <a:p>
            <a:pPr lvl="0"/>
            <a:r>
              <a:rPr/>
              <a:t>Pest control</a:t>
            </a:r>
          </a:p>
          <a:p>
            <a:pPr lvl="0"/>
            <a:r>
              <a:rPr/>
              <a:t>Refrigeration</a:t>
            </a:r>
          </a:p>
          <a:p>
            <a:pPr lvl="0"/>
            <a:r>
              <a:rPr/>
              <a:t>Logistics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Products Embody Knowledge</a:t>
            </a:r>
          </a:p>
        </p:txBody>
      </p:sp>
      <p:pic>
        <p:nvPicPr>
          <p:cNvPr descr="img/Apple.png" id="0" name="Picture 1"/>
          <p:cNvPicPr>
            <a:picLocks noGrp="1" noChangeAspect="1"/>
          </p:cNvPicPr>
          <p:nvPr/>
        </p:nvPicPr>
        <p:blipFill>
          <a:blip r:embed="rId2"/>
          <a:stretch>
            <a:fillRect/>
          </a:stretch>
        </p:blipFill>
        <p:spPr bwMode="auto">
          <a:xfrm>
            <a:off x="546100" y="1193800"/>
            <a:ext cx="3860800" cy="38608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An iPhone represents:</a:t>
            </a:r>
          </a:p>
          <a:p>
            <a:pPr lvl="0"/>
            <a:r>
              <a:rPr/>
              <a:t>Semiconductors</a:t>
            </a:r>
          </a:p>
          <a:p>
            <a:pPr lvl="0"/>
            <a:r>
              <a:rPr/>
              <a:t>Software/Hardware Engineering</a:t>
            </a:r>
          </a:p>
          <a:p>
            <a:pPr lvl="0"/>
            <a:r>
              <a:rPr/>
              <a:t>Materials science</a:t>
            </a:r>
          </a:p>
          <a:p>
            <a:pPr lvl="0"/>
            <a:r>
              <a:rPr/>
              <a:t>Lenses</a:t>
            </a:r>
          </a:p>
          <a:p>
            <a:pPr lvl="0"/>
            <a:r>
              <a:rPr/>
              <a:t>Marketing</a:t>
            </a:r>
          </a:p>
          <a:p>
            <a:pPr lvl="0"/>
            <a:r>
              <a:rPr/>
              <a:t>Packaging</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Measuring Industrial Capabilities</a:t>
            </a:r>
          </a:p>
        </p:txBody>
      </p:sp>
      <p:sp>
        <p:nvSpPr>
          <p:cNvPr id="3" name="Content Placeholder 2"/>
          <p:cNvSpPr>
            <a:spLocks noGrp="1"/>
          </p:cNvSpPr>
          <p:nvPr>
            <p:ph idx="1"/>
          </p:nvPr>
        </p:nvSpPr>
        <p:spPr/>
        <p:txBody>
          <a:bodyPr/>
          <a:lstStyle/>
          <a:p>
            <a:pPr lvl="0"/>
            <a:r>
              <a:rPr/>
              <a:t>Export data reveals what a country makes</a:t>
            </a:r>
          </a:p>
          <a:p>
            <a:pPr lvl="0"/>
            <a:r>
              <a:rPr/>
              <a:t>Comparison between countries reveals which capabilities are common, and which are rare</a:t>
            </a:r>
          </a:p>
          <a:p>
            <a:pPr lvl="0"/>
            <a:r>
              <a:rPr/>
              <a:t>The presence of different capabilities in different countries allows a ranking called the Economic Complexity Index</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Why Does It Matter?</a:t>
            </a:r>
          </a:p>
        </p:txBody>
      </p:sp>
      <p:sp>
        <p:nvSpPr>
          <p:cNvPr id="3" name="Content Placeholder 2"/>
          <p:cNvSpPr>
            <a:spLocks noGrp="1"/>
          </p:cNvSpPr>
          <p:nvPr>
            <p:ph idx="1"/>
          </p:nvPr>
        </p:nvSpPr>
        <p:spPr/>
        <p:txBody>
          <a:bodyPr/>
          <a:lstStyle/>
          <a:p>
            <a:pPr lvl="0"/>
            <a:r>
              <a:rPr/>
              <a:t>The Economic Complexity Index is predictive of the direction of future economic growth.</a:t>
            </a:r>
          </a:p>
          <a:p>
            <a:pPr lvl="1"/>
            <a:r>
              <a:rPr/>
              <a:t>Countries with higher complexity are predicted to grow faster</a:t>
            </a:r>
          </a:p>
          <a:p>
            <a:pPr lvl="0"/>
            <a:r>
              <a:rPr/>
              <a:t>Useful tool to identify productive capabilities of a country.</a:t>
            </a:r>
          </a:p>
          <a:p>
            <a:pPr lvl="0"/>
            <a:r>
              <a:rPr/>
              <a:t>Can be used to identify future opportunities and direct strategy.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Why Does It Matter to Australia?</a:t>
            </a:r>
          </a:p>
        </p:txBody>
      </p:sp>
      <p:pic>
        <p:nvPicPr>
          <p:cNvPr descr="industrial-capabilities_files/figure-pptx/unnamed-chunk-1-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Why Does it Matter to Western Australia?</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Can Be Done?</a:t>
            </a:r>
          </a:p>
        </p:txBody>
      </p:sp>
      <p:sp>
        <p:nvSpPr>
          <p:cNvPr id="3" name="Content Placeholder 2"/>
          <p:cNvSpPr>
            <a:spLocks noGrp="1"/>
          </p:cNvSpPr>
          <p:nvPr>
            <p:ph idx="1"/>
          </p:nvPr>
        </p:nvSpPr>
        <p:spPr/>
        <p:txBody>
          <a:bodyPr/>
          <a:lstStyle/>
          <a:p>
            <a:pPr lvl="0"/>
            <a:r>
              <a:rPr/>
              <a:t>Recognise that there is a problem.</a:t>
            </a:r>
          </a:p>
          <a:p>
            <a:pPr lvl="0"/>
            <a:r>
              <a:rPr/>
              <a:t>The lack of sufficient existing capabilities requires explicit and direct industrial policy.</a:t>
            </a:r>
          </a:p>
          <a:p>
            <a:pPr lvl="0"/>
            <a:r>
              <a:rPr/>
              <a:t>Understand the connection between just transition, decarbonisation, and reindustrialisation.</a:t>
            </a:r>
          </a:p>
          <a:p>
            <a:pPr lvl="0"/>
            <a:r>
              <a:rPr/>
              <a:t>Develop a policy agenda which explicitly outlines existing and future opportunities, and how to get there.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The AMWU and a Future Made in Australia</a:t>
            </a:r>
          </a:p>
        </p:txBody>
      </p:sp>
      <p:sp>
        <p:nvSpPr>
          <p:cNvPr id="3" name="Content Placeholder 2"/>
          <p:cNvSpPr>
            <a:spLocks noGrp="1"/>
          </p:cNvSpPr>
          <p:nvPr>
            <p:ph idx="1"/>
          </p:nvPr>
        </p:nvSpPr>
        <p:spPr/>
        <p:txBody>
          <a:bodyPr/>
          <a:lstStyle/>
          <a:p>
            <a:pPr lvl="0"/>
            <a:r>
              <a:rPr/>
              <a:t>The Future Made in Australia Act is a $22.7 billion investment into restoring an industrial base in Australia.</a:t>
            </a:r>
          </a:p>
          <a:p>
            <a:pPr lvl="0"/>
            <a:r>
              <a:rPr/>
              <a:t>FMIA, which is public money, must be used to create secure, high-quality jobs. Not subsidise worker exploitation.</a:t>
            </a:r>
          </a:p>
          <a:p>
            <a:pPr lvl="0"/>
            <a:r>
              <a:rPr/>
              <a:t>The AMWU is calling for the establishment of a manufacturing council, and tying strong conditions to businesses receiving public money</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Conditions for Employers</a:t>
            </a:r>
          </a:p>
        </p:txBody>
      </p:sp>
      <p:sp>
        <p:nvSpPr>
          <p:cNvPr id="3" name="Content Placeholder 2"/>
          <p:cNvSpPr>
            <a:spLocks noGrp="1"/>
          </p:cNvSpPr>
          <p:nvPr>
            <p:ph idx="1"/>
          </p:nvPr>
        </p:nvSpPr>
        <p:spPr/>
        <p:txBody>
          <a:bodyPr/>
          <a:lstStyle/>
          <a:p>
            <a:pPr lvl="0"/>
            <a:r>
              <a:rPr/>
              <a:t>Guarantee of secure jobs, fair wages, and safe conditions</a:t>
            </a:r>
          </a:p>
          <a:p>
            <a:pPr lvl="0"/>
            <a:r>
              <a:rPr/>
              <a:t>Collective bargaining as a requirement at workplaces who receive public money.</a:t>
            </a:r>
          </a:p>
          <a:p>
            <a:pPr lvl="0"/>
            <a:r>
              <a:rPr/>
              <a:t>Use the state’s power in procurement to support local industry through local content targets.</a:t>
            </a:r>
          </a:p>
          <a:p>
            <a:pPr lvl="0"/>
            <a:r>
              <a:rPr/>
              <a:t>Mandate apprentice participation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Manufacturing Competitiveness Council</a:t>
            </a:r>
          </a:p>
        </p:txBody>
      </p:sp>
      <p:sp>
        <p:nvSpPr>
          <p:cNvPr id="3" name="Content Placeholder 2"/>
          <p:cNvSpPr>
            <a:spLocks noGrp="1"/>
          </p:cNvSpPr>
          <p:nvPr>
            <p:ph idx="1"/>
          </p:nvPr>
        </p:nvSpPr>
        <p:spPr/>
        <p:txBody>
          <a:bodyPr/>
          <a:lstStyle/>
          <a:p>
            <a:pPr lvl="0"/>
            <a:r>
              <a:rPr/>
              <a:t>Tripartite Manufacturing Competitiveness Council - with genuine union representation.</a:t>
            </a:r>
          </a:p>
          <a:p>
            <a:pPr lvl="0"/>
            <a:r>
              <a:rPr/>
              <a:t>Ensure that all decisions about capital investment, skills, and industry strategy are made with worker input.</a:t>
            </a:r>
          </a:p>
          <a:p>
            <a:pPr lvl="0"/>
            <a:r>
              <a:rPr/>
              <a:t>Establish and plan for the orderly transition of our economy - guided by human need, not market whims.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Fair Trade</a:t>
            </a:r>
          </a:p>
        </p:txBody>
      </p:sp>
      <p:sp>
        <p:nvSpPr>
          <p:cNvPr id="3" name="Content Placeholder 2"/>
          <p:cNvSpPr>
            <a:spLocks noGrp="1"/>
          </p:cNvSpPr>
          <p:nvPr>
            <p:ph idx="1"/>
          </p:nvPr>
        </p:nvSpPr>
        <p:spPr/>
        <p:txBody>
          <a:bodyPr/>
          <a:lstStyle/>
          <a:p>
            <a:pPr lvl="0"/>
            <a:r>
              <a:rPr/>
              <a:t>Empower the Anti-Dumping Commission</a:t>
            </a:r>
          </a:p>
          <a:p>
            <a:pPr lvl="0"/>
            <a:r>
              <a:rPr/>
              <a:t>Unfair trade, particular dumping, has significant negative effects on local industry. Especially in a country that is seeking to re-industrialise.</a:t>
            </a:r>
          </a:p>
          <a:p>
            <a:pPr lvl="0"/>
            <a:r>
              <a:rPr/>
              <a:t>Establish an Independent Advocate for Fair Trade.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Nationalising Strategic Infrastructure</a:t>
            </a:r>
          </a:p>
        </p:txBody>
      </p:sp>
      <p:sp>
        <p:nvSpPr>
          <p:cNvPr id="3" name="Content Placeholder 2"/>
          <p:cNvSpPr>
            <a:spLocks noGrp="1"/>
          </p:cNvSpPr>
          <p:nvPr>
            <p:ph idx="1"/>
          </p:nvPr>
        </p:nvSpPr>
        <p:spPr/>
        <p:txBody>
          <a:bodyPr/>
          <a:lstStyle/>
          <a:p>
            <a:pPr lvl="0"/>
            <a:r>
              <a:rPr/>
              <a:t>Infrastructure that is “too big to fail” or needed “in the national interest” can not be left in the hands of profit maximisers.</a:t>
            </a:r>
          </a:p>
          <a:p>
            <a:pPr lvl="0"/>
            <a:r>
              <a:rPr/>
              <a:t>Perpetual bailouts and subsidies</a:t>
            </a:r>
          </a:p>
          <a:p>
            <a:pPr lvl="0"/>
            <a:r>
              <a:rPr/>
              <a:t>Natioanalisation can help us to achieve our strategic goals.</a:t>
            </a:r>
          </a:p>
        </p:txBody>
      </p:sp>
    </p:spTree>
  </p:cSld>
</p:sld>
</file>

<file path=ppt/theme/theme1.xml><?xml version="1.0" encoding="utf-8"?>
<a:theme xmlns:a="http://schemas.openxmlformats.org/drawingml/2006/main" name="Office Theme">
  <a:themeElements>
    <a:clrScheme name="AMWU">
      <a:dk1>
        <a:sysClr val="windowText" lastClr="000000"/>
      </a:dk1>
      <a:lt1>
        <a:sysClr val="window" lastClr="FFFFFF"/>
      </a:lt1>
      <a:dk2>
        <a:srgbClr val="0E2841"/>
      </a:dk2>
      <a:lt2>
        <a:srgbClr val="E8E8E8"/>
      </a:lt2>
      <a:accent1>
        <a:srgbClr val="001D26"/>
      </a:accent1>
      <a:accent2>
        <a:srgbClr val="F15C30"/>
      </a:accent2>
      <a:accent3>
        <a:srgbClr val="094FA3"/>
      </a:accent3>
      <a:accent4>
        <a:srgbClr val="FEBE10"/>
      </a:accent4>
      <a:accent5>
        <a:srgbClr val="E4E4E4"/>
      </a:accent5>
      <a:accent6>
        <a:srgbClr val="231F20"/>
      </a:accent6>
      <a:hlink>
        <a:srgbClr val="094FA3"/>
      </a:hlink>
      <a:folHlink>
        <a:srgbClr val="F15C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Helvetica</vt:lpstr>
      <vt:lpstr>Stag</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Capabilities</dc:title>
  <dc:creator/>
  <cp:keywords/>
  <dcterms:created xsi:type="dcterms:W3CDTF">2026-06-09T06:01:50Z</dcterms:created>
  <dcterms:modified xsi:type="dcterms:W3CDTF">2026-06-09T06:01:50Z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vt:lpwstr>
  </property>
  <property fmtid="{D5CDD505-2E9C-101B-9397-08002B2CF9AE}" pid="3" name="biblio-config">
    <vt:lpwstr>True</vt:lpwstr>
  </property>
  <property fmtid="{D5CDD505-2E9C-101B-9397-08002B2CF9AE}" pid="4" name="brand">
    <vt:lpwstr>_brand/brand.yml</vt:lpwstr>
  </property>
  <property fmtid="{D5CDD505-2E9C-101B-9397-08002B2CF9AE}" pid="5" name="editor">
    <vt:lpwstr>visual</vt:lpwstr>
  </property>
  <property fmtid="{D5CDD505-2E9C-101B-9397-08002B2CF9AE}" pid="6" name="engines">
    <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subtitle">
    <vt:lpwstr/>
  </property>
  <property fmtid="{D5CDD505-2E9C-101B-9397-08002B2CF9AE}" pid="13" name="toc-title">
    <vt:lpwstr>Table of contents</vt:lpwstr>
  </property>
</Properties>
</file>