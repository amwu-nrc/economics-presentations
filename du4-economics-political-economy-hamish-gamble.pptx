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webp" ContentType="image/webp"/>
  <Default Extension="jpg" ContentType="image/jpe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notesMaster" Target="notesMasters/notesMaster1.xml" /><Relationship Id="rId98" Type="http://schemas.openxmlformats.org/officeDocument/2006/relationships/viewProps" Target="viewProps.xml" /><Relationship Id="rId97" Type="http://schemas.openxmlformats.org/officeDocument/2006/relationships/presProps" Target="presProps.xml" /><Relationship Id="rId1" Type="http://schemas.openxmlformats.org/officeDocument/2006/relationships/slideMaster" Target="slideMasters/slideMaster1.xml" /><Relationship Id="rId100" Type="http://schemas.openxmlformats.org/officeDocument/2006/relationships/tableStyles" Target="tableStyles.xml" /><Relationship Id="rId9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Step through example in course notes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Australia, our economic system is called capitalism. The capitalist system is defined by:</a:t>
            </a:r>
          </a:p>
          <a:p>
            <a:pPr lvl="0" indent="0" marL="0">
              <a:buNone/>
            </a:pPr>
          </a:p>
          <a:p>
            <a:pPr lvl="0" indent="0" marL="0">
              <a:buNone/>
            </a:pPr>
            <a:r>
              <a:rPr b="1"/>
              <a:t>commodity production</a:t>
            </a:r>
          </a:p>
          <a:p>
            <a:pPr lvl="0" indent="0" marL="0">
              <a:buNone/>
            </a:pPr>
          </a:p>
          <a:p>
            <a:pPr lvl="0" indent="0" marL="0">
              <a:buNone/>
            </a:pPr>
            <a:r>
              <a:rPr/>
              <a:t>A commodity is something which satisfies human demand, and is not produced for personal consumption, but for </a:t>
            </a:r>
            <a:r>
              <a:rPr b="1"/>
              <a:t>exchange</a:t>
            </a:r>
            <a:r>
              <a:rPr/>
              <a:t>. Almost everything produced under capitalism is a commodity, and this includes the labour that we sell to the boss every day we go to work.</a:t>
            </a:r>
          </a:p>
          <a:p>
            <a:pPr lvl="0" indent="0" marL="0">
              <a:buNone/>
            </a:pPr>
          </a:p>
          <a:p>
            <a:pPr lvl="0" indent="0" marL="0">
              <a:buNone/>
            </a:pPr>
            <a:r>
              <a:rPr b="1"/>
              <a:t>private ownership of the means of production</a:t>
            </a:r>
          </a:p>
          <a:p>
            <a:pPr lvl="0" indent="0" marL="0">
              <a:buNone/>
            </a:pPr>
          </a:p>
          <a:p>
            <a:pPr lvl="0" indent="0" marL="0">
              <a:buNone/>
            </a:pPr>
            <a:r>
              <a:rPr/>
              <a:t>The </a:t>
            </a:r>
            <a:r>
              <a:rPr i="1"/>
              <a:t>means of production</a:t>
            </a:r>
            <a:r>
              <a:rPr/>
              <a:t>, such as land, tools, capital equipment, and a company itself are mostly privately owned in a capitalist economy. But not everyone has the same opportunity of ownership. Most workers do not own the company, the capital equipment, or even the product that they produce at work. And they are not in control of company or management decisions, or how to do the work.</a:t>
            </a:r>
          </a:p>
          <a:p>
            <a:pPr lvl="0" indent="0" marL="0">
              <a:buNone/>
            </a:pPr>
          </a:p>
          <a:p>
            <a:pPr lvl="0" indent="0" marL="0">
              <a:buNone/>
            </a:pPr>
            <a:r>
              <a:rPr b="1"/>
              <a:t>production for profit</a:t>
            </a:r>
          </a:p>
          <a:p>
            <a:pPr lvl="0" indent="0" marL="0">
              <a:buNone/>
            </a:pPr>
          </a:p>
          <a:p>
            <a:pPr lvl="0" indent="0" marL="0">
              <a:buNone/>
            </a:pPr>
            <a:r>
              <a:rPr/>
              <a:t>Production in a capitalist economy occurs because the capitalist (person or people who own the means of production) want to make profit. That is, they want to end up with more money than they start with.</a:t>
            </a:r>
          </a:p>
          <a:p>
            <a:pPr lvl="0" indent="0" marL="0">
              <a:buNone/>
            </a:pPr>
          </a:p>
          <a:p>
            <a:pPr lvl="0" indent="0" marL="0">
              <a:buNone/>
            </a:pPr>
            <a:r>
              <a:rPr b="1"/>
              <a:t>Prompt the following discussion:</a:t>
            </a:r>
            <a:r>
              <a:rPr/>
              <a:t> Who in your workplace belongs to which class?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Prompt the following discussion:</a:t>
            </a:r>
            <a:r>
              <a:rPr/>
              <a:t> Why do you go to work?</a:t>
            </a:r>
          </a:p>
          <a:p>
            <a:pPr lvl="0" indent="0" marL="0">
              <a:buNone/>
            </a:pPr>
          </a:p>
          <a:p>
            <a:pPr lvl="0" indent="0" marL="0">
              <a:buNone/>
            </a:pPr>
            <a:r>
              <a:rPr/>
              <a:t>For workers, it is pretty simple. We want money to buy something - a holiday, a new TV, a house etc. These are commodities that meet our needs and our wants. Workers sell their labour (which is a commodity) in exchange for money, which we exchange for the commotities that fulfil our needs and wants.</a:t>
            </a:r>
          </a:p>
          <a:p>
            <a:pPr lvl="0" indent="0" marL="0">
              <a:buNone/>
            </a:pPr>
          </a:p>
          <a:p>
            <a:pPr lvl="0" indent="0" marL="0">
              <a:buNone/>
            </a:pPr>
            <a:r>
              <a:rPr/>
              <a:t>The capitalist on the other hand wants to generate a profit. Profit means that they end up with more money than they started with. Imagine a capitalist who has $100 that they want to invest into a coffee shop. With their $100, they buy $50 worth of materials like milk and coffee beans, and $50 worth of equipment - a coffee machine. The capitalist hires a worker to make coffee, and promises to pay them a wage at the end of the day. At the end of the day there’s $150 in the cash register.</a:t>
            </a:r>
          </a:p>
          <a:p>
            <a:pPr lvl="0" indent="0" marL="0">
              <a:buNone/>
            </a:pPr>
          </a:p>
          <a:p>
            <a:pPr lvl="0" indent="-342900" marL="342900">
              <a:buAutoNum type="arabicPeriod"/>
            </a:pPr>
            <a:r>
              <a:rPr/>
              <a:t>Where did the extra money come from?</a:t>
            </a:r>
          </a:p>
          <a:p>
            <a:pPr lvl="0" indent="0" marL="0">
              <a:buNone/>
            </a:pPr>
          </a:p>
          <a:p>
            <a:pPr lvl="0" indent="-342900" marL="342900">
              <a:buAutoNum type="arabicPeriod"/>
            </a:pPr>
            <a:r>
              <a:rPr/>
              <a:t>What would be a fair amount to pay the barista for their work?</a:t>
            </a:r>
          </a:p>
          <a:p>
            <a:pPr lvl="0" indent="0" marL="0">
              <a:buNone/>
            </a:pPr>
          </a:p>
          <a:p>
            <a:pPr lvl="0" indent="-342900" marL="342900">
              <a:buAutoNum type="arabicPeriod"/>
            </a:pPr>
            <a:r>
              <a:rPr/>
              <a:t>What would be a fair amount for the capitlist to keep for themself?</a:t>
            </a:r>
          </a:p>
          <a:p>
            <a:pPr lvl="0" indent="0" marL="0">
              <a:buNone/>
            </a:pPr>
          </a:p>
          <a:p>
            <a:pPr lvl="0" indent="-342900" marL="342900">
              <a:buAutoNum type="arabicPeriod"/>
            </a:pPr>
            <a:r>
              <a:rPr/>
              <a:t>Given the conflict, how can we manage the distribution of the $50 between worker and capitalist?</a:t>
            </a:r>
          </a:p>
          <a:p>
            <a:pPr lvl="0" indent="0" marL="0">
              <a:buNone/>
            </a:pPr>
          </a:p>
          <a:p>
            <a:pPr lvl="0" indent="0" marL="0">
              <a:buNone/>
            </a:pPr>
            <a:r>
              <a:rPr/>
              <a:t>Ultimately, while the worker and the capitalist both want money - a shared interest, when we look at the motivations, we see that there is a conflict between the worker and the capitalist. And this conflict is built on the contradiction that it is workers who create value that is then stolen by the capitalist. The whole system is built on an exchange which is unfair. But what can you do about it? Without ownership of the inputs yourself, workers have to participate in the unequal exchange in order to be paid a wage to meet their needs.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 the housing market, house prices, and the changes made in relation to housing in the 2026 Budget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House prices have grown much faster than incomes in Australia. The median household income per year (before-tax) in September 2025 was estimated at about $105,000. Meanwhile, the median dwelling value was $860,000 and the median weekly rent was $670.</a:t>
            </a:r>
          </a:p>
          <a:p>
            <a:pPr lvl="0" indent="0" marL="0">
              <a:buNone/>
            </a:pPr>
          </a:p>
          <a:p>
            <a:pPr lvl="0" indent="0" marL="0">
              <a:buNone/>
            </a:pPr>
            <a:r>
              <a:rPr/>
              <a:t>The average time required to save up a 20% deposit for the average dwelling is 11 years. While saving for the deposit, you’re committing 33% of your income on rent. After securing a loan, you’re committing 45% of your income just to service the mortgage.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has the picture changed over time?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changes announced in the budget mostly apply only to new investments made after 1 July 2027. The additional year is intended to allow time to make decisions about what to do with existing assets.</a:t>
            </a:r>
          </a:p>
          <a:p>
            <a:pPr lvl="0" indent="0" marL="0">
              <a:buNone/>
            </a:pPr>
          </a:p>
          <a:p>
            <a:pPr lvl="0" indent="0" marL="0">
              <a:buNone/>
            </a:pPr>
            <a:r>
              <a:rPr/>
              <a:t>From a housing perspective, the key changes relate to negative gearing, and the capital gains tax discount - however these changes also apply across all asset classes which generate capital gains - including stocks, cryptocurrency, or other investments.</a:t>
            </a:r>
          </a:p>
          <a:p>
            <a:pPr lvl="0" indent="0" marL="0">
              <a:buNone/>
            </a:pPr>
          </a:p>
          <a:p>
            <a:pPr lvl="0" indent="0" marL="0">
              <a:buNone/>
            </a:pPr>
            <a:r>
              <a:rPr/>
              <a:t>For new properties which are purchased after the budget, investors will no longer be able to deduct losses from the operation of their investment property (negative gearing) from their income tax. Instead, losses can be carried forward and used to reduce the amount of capital gains tax paid when the investment property is sold.</a:t>
            </a:r>
          </a:p>
          <a:p>
            <a:pPr lvl="0" indent="0" marL="0">
              <a:buNone/>
            </a:pPr>
          </a:p>
          <a:p>
            <a:pPr lvl="0" indent="0" marL="0">
              <a:buNone/>
            </a:pPr>
            <a:r>
              <a:rPr/>
              <a:t>The 30% minimum tax rate on capital gains was introduced to prevent the scenario where you hold onto an asset while working, use negative gearing to reduce your taxable income, and then sell the property when your income is low, so that you’re in a lower income tax bracket.</a:t>
            </a:r>
          </a:p>
          <a:p>
            <a:pPr lvl="0" indent="0" marL="0">
              <a:buNone/>
            </a:pPr>
          </a:p>
          <a:p>
            <a:pPr lvl="0" indent="0" marL="0">
              <a:buNone/>
            </a:pPr>
            <a:r>
              <a:rPr/>
              <a:t>Cost based indexation basically means you only pay tax on the </a:t>
            </a:r>
            <a:r>
              <a:rPr i="1"/>
              <a:t>real</a:t>
            </a:r>
            <a:r>
              <a:rPr/>
              <a:t> (ie discount inflation) gain accrued. The change in tax arrangements DOES apply to existing investors, but only for the growth which occurs after 1 July 2027. That means if you already own a property, the tax on any gains accrued between purchase and 1 July 2027 is still subject to the 50% discount.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worker who earns $100,000 per year sells some capital asset (a house, shares, cryptocurrency) five years after purchase. They bought the asset for $100,000 and sold it for $200,000, earning a capital gain of $100,000.</a:t>
            </a:r>
          </a:p>
          <a:p>
            <a:pPr lvl="0" indent="0" marL="0">
              <a:buNone/>
            </a:pPr>
          </a:p>
          <a:p>
            <a:pPr lvl="0" indent="0" marL="0">
              <a:buNone/>
            </a:pPr>
            <a:r>
              <a:rPr/>
              <a:t>At tax time, he pays income tax on $100,000 (from working) and $50,000 (from capital gains), and gets the other $50,000 tax free.</a:t>
            </a:r>
          </a:p>
          <a:p>
            <a:pPr lvl="0" indent="0" marL="0">
              <a:buNone/>
            </a:pPr>
          </a:p>
          <a:p>
            <a:pPr lvl="0" indent="0" marL="0">
              <a:buNone/>
            </a:pPr>
            <a:r>
              <a:rPr/>
              <a:t>The tax on $150,000 income is $31,288 + 37 cents for every dollar over $135,000. The total tax bill is $36,838.</a:t>
            </a:r>
          </a:p>
          <a:p>
            <a:pPr lvl="0" indent="0" marL="0">
              <a:buNone/>
            </a:pPr>
          </a:p>
          <a:p>
            <a:pPr lvl="0" indent="0" marL="0">
              <a:buNone/>
            </a:pPr>
            <a:r>
              <a:rPr/>
              <a:t>What’s the effective tax rate on the capital gain?</a:t>
            </a:r>
          </a:p>
          <a:p>
            <a:pPr lvl="0" indent="0" marL="0">
              <a:buNone/>
            </a:pPr>
          </a:p>
          <a:p>
            <a:pPr lvl="0"/>
            <a:r>
              <a:rPr/>
              <a:t>First 50k tax free, second 50k is taxed between the 35 and 37 brackets.</a:t>
            </a:r>
          </a:p>
          <a:p>
            <a:pPr lvl="0" indent="0" marL="0">
              <a:buNone/>
            </a:pPr>
          </a:p>
          <a:p>
            <a:pPr lvl="0"/>
            <a:r>
              <a:rPr/>
              <a:t>0 + 35% of 35,000 + 37% of 15,000 = $14,300 or 14.3%</a:t>
            </a:r>
          </a:p>
          <a:p>
            <a:pPr lvl="0" indent="0" marL="0">
              <a:buNone/>
            </a:pPr>
          </a:p>
          <a:p>
            <a:pPr lvl="0" indent="0" marL="0">
              <a:buNone/>
            </a:pPr>
            <a:r>
              <a:rPr/>
              <a:t>What would the effective tax rate on $100,000 more labour income have been?</a:t>
            </a:r>
          </a:p>
          <a:p>
            <a:pPr lvl="0" indent="0" marL="0">
              <a:buNone/>
            </a:pPr>
          </a:p>
          <a:p>
            <a:pPr lvl="0"/>
            <a:r>
              <a:rPr/>
              <a:t>35% of 35,000 + 37% of 55,000+ 45% of 10,000 = $37,100 or 37%.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balance was too in favour of wealth over income. These changes try to restore the balance by increasing the rate of taxation on capital gains.</a:t>
            </a:r>
          </a:p>
          <a:p>
            <a:pPr lvl="0" indent="0" marL="0">
              <a:buNone/>
            </a:pPr>
          </a:p>
          <a:p>
            <a:pPr lvl="0" indent="0" marL="0">
              <a:buNone/>
            </a:pPr>
            <a:r>
              <a:rPr/>
              <a:t>Housing is a fundamental right and it should not have got this far.</a:t>
            </a:r>
          </a:p>
          <a:p>
            <a:pPr lvl="0" indent="0" marL="0">
              <a:buNone/>
            </a:pPr>
          </a:p>
          <a:p>
            <a:pPr lvl="0" indent="0" marL="0">
              <a:buNone/>
            </a:pPr>
            <a:r>
              <a:rPr/>
              <a:t>However - people invested in housing in particular because it was a viable way at generating wealth. Stagnant wage growth means that it’s harder to get by and harder to become financially independent just through working alone. The changes reduce the incentive to invest, but do not adequately increase the incentive to work. The $250 tax break in 2027 doesn’t really cut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While we’ve always had “an economy”, it is only since the industrial revolution that the economy has been structured in a way which would be called capitalism.</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a:p>
            <a:pPr lvl="0" indent="0" marL="0">
              <a:buNone/>
            </a:pPr>
          </a:p>
          <a:p>
            <a:pPr lvl="0" indent="0" marL="0">
              <a:buNone/>
            </a:pPr>
            <a:r>
              <a:rPr/>
              <a:t>Compare the labour theory of value, which is “objective”, with modern theories of value which are “subjective”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 And the modern capitalist outsources the work of being a boss to middle management. People whose job it is to direct workers in the benefit of capital.</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your superannuation fund, does not make you a member of the capitalist class. Because you are not in control of the decisions made.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Building class solidarity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a:p>
            <a:pPr lvl="0" indent="0" marL="0">
              <a:buNone/>
            </a:pPr>
          </a:p>
          <a:p>
            <a:pPr lvl="0" indent="0" marL="0">
              <a:buNone/>
            </a:pPr>
            <a:r>
              <a:rPr/>
              <a:t>What actions can you take back to your workplace? Based on what we’ve discussed today.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VErL94YLG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KSS6wEb-fvA"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0.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00npeUY_1Vg"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2.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17.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19.webp"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22.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pQPv5oUfsbg"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dsoEf8Yqe3I"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QPKKQnijnsM"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jp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jpg" /></Relationships>
</file>

<file path=ppt/slides/_rels/slide9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4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 and Political Economy</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Useful Economics</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Introduction to Economics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Economics?</a:t>
            </a:r>
          </a:p>
        </p:txBody>
      </p:sp>
      <p:sp>
        <p:nvSpPr>
          <p:cNvPr id="3" name="Content Placeholder 2"/>
          <p:cNvSpPr>
            <a:spLocks noGrp="1"/>
          </p:cNvSpPr>
          <p:nvPr>
            <p:ph idx="1"/>
          </p:nvPr>
        </p:nvSpPr>
        <p:spPr/>
        <p:txBody>
          <a:bodyPr/>
          <a:lstStyle/>
          <a:p>
            <a:pPr lvl="0"/>
            <a:r>
              <a:rPr/>
              <a:t>A modern economist will tell you that economics is “the study of resource allocation under scarcity”</a:t>
            </a:r>
          </a:p>
          <a:p>
            <a:pPr lvl="0"/>
            <a:r>
              <a:rPr/>
              <a:t>This definition </a:t>
            </a:r>
            <a:r>
              <a:rPr i="1"/>
              <a:t>deliberately</a:t>
            </a:r>
            <a:r>
              <a:rPr/>
              <a:t> hides the political dimension of economics.</a:t>
            </a:r>
          </a:p>
          <a:p>
            <a:pPr lvl="0"/>
            <a:r>
              <a:rPr/>
              <a:t>Political economy is about the relationship between political and economic systems.</a:t>
            </a:r>
          </a:p>
          <a:p>
            <a:pPr lvl="0"/>
            <a:r>
              <a:rPr/>
              <a:t>The economics of capitalism is reinforced and reflective of political power.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Labour Market Economics</a:t>
            </a:r>
          </a:p>
        </p:txBody>
      </p:sp>
      <p:sp>
        <p:nvSpPr>
          <p:cNvPr id="3" name="Content Placeholder 2"/>
          <p:cNvSpPr>
            <a:spLocks noGrp="1"/>
          </p:cNvSpPr>
          <p:nvPr>
            <p:ph idx="1"/>
          </p:nvPr>
        </p:nvSpPr>
        <p:spPr/>
        <p:txBody>
          <a:bodyPr/>
          <a:lstStyle/>
          <a:p>
            <a:pPr lvl="0"/>
            <a:r>
              <a:rPr/>
              <a:t>How does our economy work?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Economic System in Australia</a:t>
            </a:r>
          </a:p>
        </p:txBody>
      </p:sp>
      <p:sp>
        <p:nvSpPr>
          <p:cNvPr id="3" name="Content Placeholder 2"/>
          <p:cNvSpPr>
            <a:spLocks noGrp="1"/>
          </p:cNvSpPr>
          <p:nvPr>
            <p:ph idx="1"/>
          </p:nvPr>
        </p:nvSpPr>
        <p:spPr/>
        <p:txBody>
          <a:bodyPr/>
          <a:lstStyle/>
          <a:p>
            <a:pPr lvl="0"/>
            <a:r>
              <a:rPr/>
              <a:t>Australia’s economy is a capitalist economy.</a:t>
            </a:r>
          </a:p>
          <a:p>
            <a:pPr lvl="0"/>
            <a:r>
              <a:rPr/>
              <a:t>Production of commodities</a:t>
            </a:r>
          </a:p>
          <a:p>
            <a:pPr lvl="0"/>
            <a:r>
              <a:rPr/>
              <a:t>Private ownership of the means of production</a:t>
            </a:r>
          </a:p>
          <a:p>
            <a:pPr lvl="0"/>
            <a:r>
              <a:rPr/>
              <a:t>Production for profit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Production in Capitalism</a:t>
            </a:r>
          </a:p>
        </p:txBody>
      </p:sp>
      <p:sp>
        <p:nvSpPr>
          <p:cNvPr id="3" name="Content Placeholder 2"/>
          <p:cNvSpPr>
            <a:spLocks noGrp="1"/>
          </p:cNvSpPr>
          <p:nvPr>
            <p:ph idx="1"/>
          </p:nvPr>
        </p:nvSpPr>
        <p:spPr/>
        <p:txBody>
          <a:bodyPr/>
          <a:lstStyle/>
          <a:p>
            <a:pPr lvl="0"/>
            <a:r>
              <a:rPr/>
              <a:t>Production occurs in the context of class conflict.</a:t>
            </a:r>
          </a:p>
          <a:p>
            <a:pPr lvl="0"/>
            <a:r>
              <a:rPr/>
              <a:t>Both workers and capitalist want money.</a:t>
            </a:r>
          </a:p>
          <a:p>
            <a:pPr lvl="0"/>
            <a:r>
              <a:rPr/>
              <a:t>Are the reasons the same?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Hot Topics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you care about inflation?</a:t>
            </a:r>
          </a:p>
          <a:p>
            <a:pPr lvl="0"/>
            <a:r>
              <a:rPr/>
              <a:t>Why does your boss care about inflation?</a:t>
            </a:r>
          </a:p>
          <a:p>
            <a:pPr lvl="0"/>
            <a:r>
              <a:rPr/>
              <a:t>What is inflation measuring?</a:t>
            </a:r>
          </a:p>
          <a:p>
            <a:pPr lvl="0"/>
            <a:r>
              <a:rPr/>
              <a:t>Does the video reflect your experience of inflation?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https://www.youtube.com/watch?v=MVErL94YLGM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you care about productivity?</a:t>
            </a:r>
          </a:p>
          <a:p>
            <a:pPr lvl="0"/>
            <a:r>
              <a:rPr/>
              <a:t>Why does the boss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Describe how the finance section is reported on the news</a:t>
            </a:r>
          </a:p>
          <a:p>
            <a:pPr lvl="0" indent="-342900" marL="342900">
              <a:buAutoNum type="arabicPeriod"/>
            </a:pPr>
            <a:r>
              <a:rPr/>
              <a:t>Why does the news include a finance report?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Goes Unquestioned?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 one could imagine any alternative to the status quo, and politicians and citizens alike were resigned to maintaining the pretense of a functioning society.</a:t>
            </a:r>
          </a:p>
          <a:p>
            <a:pPr lvl="0" indent="0" marL="1270000">
              <a:buNone/>
            </a:pPr>
            <a:r>
              <a:rPr sz="2000" i="1"/>
              <a:t>Alexei Yurchack, Everything Was Forever, Until It Was No More: The Last Soviet Generation (2006)</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Goes Unquestioned?</a:t>
            </a:r>
          </a:p>
        </p:txBody>
      </p:sp>
      <p:sp>
        <p:nvSpPr>
          <p:cNvPr id="3" name="Content Placeholder 2"/>
          <p:cNvSpPr>
            <a:spLocks noGrp="1"/>
          </p:cNvSpPr>
          <p:nvPr>
            <p:ph idx="1"/>
          </p:nvPr>
        </p:nvSpPr>
        <p:spPr/>
        <p:txBody>
          <a:bodyPr/>
          <a:lstStyle/>
          <a:p>
            <a:pPr lvl="0" indent="0" marL="0">
              <a:buNone/>
            </a:pPr>
            <a:r>
              <a:rPr>
                <a:hlinkClick r:id="rId2"/>
              </a:rPr>
              <a:t>https://www.youtube-nocookie.com/watch?v=KSS6wEb-fvA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Capitalist Realism</a:t>
            </a:r>
          </a:p>
        </p:txBody>
      </p:sp>
      <p:sp>
        <p:nvSpPr>
          <p:cNvPr id="3" name="Content Placeholder 2"/>
          <p:cNvSpPr>
            <a:spLocks noGrp="1"/>
          </p:cNvSpPr>
          <p:nvPr>
            <p:ph idx="1"/>
          </p:nvPr>
        </p:nvSpPr>
        <p:spPr/>
        <p:txBody>
          <a:bodyPr/>
          <a:lstStyle/>
          <a:p>
            <a:pPr lvl="0"/>
            <a:r>
              <a:rPr/>
              <a:t>Capitalism is the only viable political and economic system.</a:t>
            </a:r>
          </a:p>
          <a:p>
            <a:pPr lvl="0"/>
            <a:r>
              <a:rPr/>
              <a:t>Contradictions, and crises in our economy can be solved only through capitalist solutions, i.e. taxes, regulation</a:t>
            </a:r>
          </a:p>
          <a:p>
            <a:pPr lvl="0"/>
            <a:r>
              <a:rPr/>
              <a:t>The actions of individuals can be explained by their individual wants, needs, and talents.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Implicit Acceptance</a:t>
            </a:r>
          </a:p>
        </p:txBody>
      </p:sp>
      <p:sp>
        <p:nvSpPr>
          <p:cNvPr id="3" name="Content Placeholder 2"/>
          <p:cNvSpPr>
            <a:spLocks noGrp="1"/>
          </p:cNvSpPr>
          <p:nvPr>
            <p:ph idx="1"/>
          </p:nvPr>
        </p:nvSpPr>
        <p:spPr/>
        <p:txBody>
          <a:bodyPr/>
          <a:lstStyle/>
          <a:p>
            <a:pPr lvl="0"/>
            <a:r>
              <a:rPr/>
              <a:t>There is an imbalance in power between workers and bosses.</a:t>
            </a:r>
          </a:p>
          <a:p>
            <a:pPr lvl="0"/>
            <a:r>
              <a:rPr/>
              <a:t>Efficient markets lead to optimal allocation of resources.</a:t>
            </a:r>
          </a:p>
          <a:p>
            <a:pPr lvl="0"/>
            <a:r>
              <a:rPr/>
              <a:t>Competition is an inevitable part of human society.</a:t>
            </a:r>
          </a:p>
          <a:p>
            <a:pPr lvl="0"/>
            <a:r>
              <a:rPr/>
              <a:t>Inequality is inevitable.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Chatting Economics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purpose of studying economics is not to acquire a set of ready-made answers to economic questions, but to learn how to avoid being deceived by economists.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u4-economics-political-economy-hamish-gamble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u4-economics-political-economy-hamish-gamble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u4-economics-political-economy-hamish-gamble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u4-economics-political-economy-hamish-gamble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u4-economics-political-economy-hamish-gamble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https://www.youtube.com/watch?v=00npeUY_1Vg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6-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u4-economics-political-economy-hamish-gamble_files/figure-pptx/unnamed-chunk-7-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u4-economics-political-economy-hamish-gamble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u4-economics-political-economy-hamish-gamble_files/figure-pptx/unnamed-chunk-9-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u4-economics-political-economy-hamish-gamble_files/figure-pptx/unnamed-chunk-10-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Housing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a:t>
            </a:r>
          </a:p>
        </p:txBody>
      </p:sp>
      <p:sp>
        <p:nvSpPr>
          <p:cNvPr id="3" name="Content Placeholder 2"/>
          <p:cNvSpPr>
            <a:spLocks noGrp="1"/>
          </p:cNvSpPr>
          <p:nvPr>
            <p:ph idx="1"/>
          </p:nvPr>
        </p:nvSpPr>
        <p:spPr/>
        <p:txBody>
          <a:bodyPr/>
          <a:lstStyle/>
          <a:p>
            <a:pPr lvl="0"/>
            <a:r>
              <a:rPr/>
              <a:t>It is more difficult than ever for first home buyers.</a:t>
            </a:r>
          </a:p>
          <a:p>
            <a:pPr lvl="0"/>
            <a:r>
              <a:rPr/>
              <a:t>Household income has not grown as fast as house prices</a:t>
            </a:r>
          </a:p>
          <a:p>
            <a:pPr lvl="0"/>
            <a:r>
              <a:rPr/>
              <a:t>Saving for a deposit is also more difficult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pic>
        <p:nvPicPr>
          <p:cNvPr descr="du4-economics-political-economy-hamish-gamble_files/figure-pptx/unnamed-chunk-12-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Year</a:t>
                      </a:r>
                    </a:p>
                  </a:txBody>
                  <a:tcPr/>
                </a:tc>
                <a:tc>
                  <a:txBody>
                    <a:bodyPr/>
                    <a:lstStyle/>
                    <a:p>
                      <a:pPr lvl="0" indent="0" marL="0">
                        <a:buNone/>
                      </a:pPr>
                      <a:r>
                        <a:rPr/>
                        <a:t>Average House Price ($)</a:t>
                      </a:r>
                    </a:p>
                  </a:txBody>
                  <a:tcPr/>
                </a:tc>
                <a:tc>
                  <a:txBody>
                    <a:bodyPr/>
                    <a:lstStyle/>
                    <a:p>
                      <a:pPr lvl="0" indent="0" marL="0">
                        <a:buNone/>
                      </a:pPr>
                      <a:r>
                        <a:rPr/>
                        <a:t>Average Per Capita Disposable Income ($)</a:t>
                      </a:r>
                    </a:p>
                  </a:txBody>
                  <a:tcPr/>
                </a:tc>
              </a:tr>
              <a:tr h="0">
                <a:tc>
                  <a:txBody>
                    <a:bodyPr/>
                    <a:lstStyle/>
                    <a:p>
                      <a:pPr lvl="0" indent="0" marL="0">
                        <a:buNone/>
                      </a:pPr>
                      <a:r>
                        <a:rPr/>
                        <a:t>1975</a:t>
                      </a:r>
                    </a:p>
                  </a:txBody>
                </a:tc>
                <a:tc>
                  <a:txBody>
                    <a:bodyPr/>
                    <a:lstStyle/>
                    <a:p>
                      <a:pPr lvl="0" indent="0" marL="0">
                        <a:buNone/>
                      </a:pPr>
                      <a:r>
                        <a:rPr/>
                        <a:t>$33,417</a:t>
                      </a:r>
                    </a:p>
                  </a:txBody>
                </a:tc>
                <a:tc>
                  <a:txBody>
                    <a:bodyPr/>
                    <a:lstStyle/>
                    <a:p>
                      <a:pPr lvl="0" indent="0" marL="0">
                        <a:buNone/>
                      </a:pPr>
                      <a:r>
                        <a:rPr/>
                        <a:t>$3,887</a:t>
                      </a:r>
                    </a:p>
                  </a:txBody>
                </a:tc>
              </a:tr>
              <a:tr h="0">
                <a:tc>
                  <a:txBody>
                    <a:bodyPr/>
                    <a:lstStyle/>
                    <a:p>
                      <a:pPr lvl="0" indent="0" marL="0">
                        <a:buNone/>
                      </a:pPr>
                      <a:r>
                        <a:rPr/>
                        <a:t>1985</a:t>
                      </a:r>
                    </a:p>
                  </a:txBody>
                </a:tc>
                <a:tc>
                  <a:txBody>
                    <a:bodyPr/>
                    <a:lstStyle/>
                    <a:p>
                      <a:pPr lvl="0" indent="0" marL="0">
                        <a:buNone/>
                      </a:pPr>
                      <a:r>
                        <a:rPr/>
                        <a:t>$83,905</a:t>
                      </a:r>
                    </a:p>
                  </a:txBody>
                </a:tc>
                <a:tc>
                  <a:txBody>
                    <a:bodyPr/>
                    <a:lstStyle/>
                    <a:p>
                      <a:pPr lvl="0" indent="0" marL="0">
                        <a:buNone/>
                      </a:pPr>
                      <a:r>
                        <a:rPr/>
                        <a:t>$10,508</a:t>
                      </a:r>
                    </a:p>
                  </a:txBody>
                </a:tc>
              </a:tr>
              <a:tr h="0">
                <a:tc>
                  <a:txBody>
                    <a:bodyPr/>
                    <a:lstStyle/>
                    <a:p>
                      <a:pPr lvl="0" indent="0" marL="0">
                        <a:buNone/>
                      </a:pPr>
                      <a:r>
                        <a:rPr/>
                        <a:t>1995</a:t>
                      </a:r>
                    </a:p>
                  </a:txBody>
                </a:tc>
                <a:tc>
                  <a:txBody>
                    <a:bodyPr/>
                    <a:lstStyle/>
                    <a:p>
                      <a:pPr lvl="0" indent="0" marL="0">
                        <a:buNone/>
                      </a:pPr>
                      <a:r>
                        <a:rPr/>
                        <a:t>$160,819</a:t>
                      </a:r>
                    </a:p>
                  </a:txBody>
                </a:tc>
                <a:tc>
                  <a:txBody>
                    <a:bodyPr/>
                    <a:lstStyle/>
                    <a:p>
                      <a:pPr lvl="0" indent="0" marL="0">
                        <a:buNone/>
                      </a:pPr>
                      <a:r>
                        <a:rPr/>
                        <a:t>$18,337</a:t>
                      </a:r>
                    </a:p>
                  </a:txBody>
                </a:tc>
              </a:tr>
              <a:tr h="0">
                <a:tc>
                  <a:txBody>
                    <a:bodyPr/>
                    <a:lstStyle/>
                    <a:p>
                      <a:pPr lvl="0" indent="0" marL="0">
                        <a:buNone/>
                      </a:pPr>
                      <a:r>
                        <a:rPr/>
                        <a:t>2005</a:t>
                      </a:r>
                    </a:p>
                  </a:txBody>
                </a:tc>
                <a:tc>
                  <a:txBody>
                    <a:bodyPr/>
                    <a:lstStyle/>
                    <a:p>
                      <a:pPr lvl="0" indent="0" marL="0">
                        <a:buNone/>
                      </a:pPr>
                      <a:r>
                        <a:rPr/>
                        <a:t>$354,508</a:t>
                      </a:r>
                    </a:p>
                  </a:txBody>
                </a:tc>
                <a:tc>
                  <a:txBody>
                    <a:bodyPr/>
                    <a:lstStyle/>
                    <a:p>
                      <a:pPr lvl="0" indent="0" marL="0">
                        <a:buNone/>
                      </a:pPr>
                      <a:r>
                        <a:rPr/>
                        <a:t>$29,420</a:t>
                      </a:r>
                    </a:p>
                  </a:txBody>
                </a:tc>
              </a:tr>
              <a:tr h="0">
                <a:tc>
                  <a:txBody>
                    <a:bodyPr/>
                    <a:lstStyle/>
                    <a:p>
                      <a:pPr lvl="0" indent="0" marL="0">
                        <a:buNone/>
                      </a:pPr>
                      <a:r>
                        <a:rPr/>
                        <a:t>2015</a:t>
                      </a:r>
                    </a:p>
                  </a:txBody>
                </a:tc>
                <a:tc>
                  <a:txBody>
                    <a:bodyPr/>
                    <a:lstStyle/>
                    <a:p>
                      <a:pPr lvl="0" indent="0" marL="0">
                        <a:buNone/>
                      </a:pPr>
                      <a:r>
                        <a:rPr/>
                        <a:t>$600,500</a:t>
                      </a:r>
                    </a:p>
                  </a:txBody>
                </a:tc>
                <a:tc>
                  <a:txBody>
                    <a:bodyPr/>
                    <a:lstStyle/>
                    <a:p>
                      <a:pPr lvl="0" indent="0" marL="0">
                        <a:buNone/>
                      </a:pPr>
                      <a:r>
                        <a:rPr/>
                        <a:t>$46,245</a:t>
                      </a:r>
                    </a:p>
                  </a:txBody>
                </a:tc>
              </a:tr>
              <a:tr h="0">
                <a:tc>
                  <a:txBody>
                    <a:bodyPr/>
                    <a:lstStyle/>
                    <a:p>
                      <a:pPr lvl="0" indent="0" marL="0">
                        <a:buNone/>
                      </a:pPr>
                      <a:r>
                        <a:rPr/>
                        <a:t>2025</a:t>
                      </a:r>
                    </a:p>
                  </a:txBody>
                </a:tc>
                <a:tc>
                  <a:txBody>
                    <a:bodyPr/>
                    <a:lstStyle/>
                    <a:p>
                      <a:pPr lvl="0" indent="0" marL="0">
                        <a:buNone/>
                      </a:pPr>
                      <a:r>
                        <a:rPr/>
                        <a:t>$1,044,350</a:t>
                      </a:r>
                    </a:p>
                  </a:txBody>
                </a:tc>
                <a:tc>
                  <a:txBody>
                    <a:bodyPr/>
                    <a:lstStyle/>
                    <a:p>
                      <a:pPr lvl="0" indent="0" marL="0">
                        <a:buNone/>
                      </a:pPr>
                      <a:r>
                        <a:rPr/>
                        <a:t>$62,771</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Investor Financing</a:t>
            </a:r>
          </a:p>
        </p:txBody>
      </p:sp>
      <p:pic>
        <p:nvPicPr>
          <p:cNvPr descr="du4-economics-political-economy-hamish-gamble_files/figure-pptx/unnamed-chunk-1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Budget Changes</a:t>
            </a:r>
          </a:p>
        </p:txBody>
      </p:sp>
      <p:sp>
        <p:nvSpPr>
          <p:cNvPr id="3" name="Content Placeholder 2"/>
          <p:cNvSpPr>
            <a:spLocks noGrp="1"/>
          </p:cNvSpPr>
          <p:nvPr>
            <p:ph idx="1"/>
          </p:nvPr>
        </p:nvSpPr>
        <p:spPr/>
        <p:txBody>
          <a:bodyPr/>
          <a:lstStyle/>
          <a:p>
            <a:pPr lvl="0"/>
            <a:r>
              <a:rPr/>
              <a:t>Negative gearing limited to new builds only from 1 July 2027.</a:t>
            </a:r>
          </a:p>
          <a:p>
            <a:pPr lvl="0"/>
            <a:r>
              <a:rPr/>
              <a:t>Losses accrued in running an investment property can no longer reduce your taxable income.</a:t>
            </a:r>
          </a:p>
          <a:p>
            <a:pPr lvl="0"/>
            <a:r>
              <a:rPr/>
              <a:t>A 30% minimum tax rate on capital gains is introduced.</a:t>
            </a:r>
          </a:p>
          <a:p>
            <a:pPr lvl="0"/>
            <a:r>
              <a:rPr/>
              <a:t>The Capital Gains Tax Discount is replaced with cost-based indexation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Example</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Capital Gain</a:t>
                      </a:r>
                    </a:p>
                  </a:txBody>
                  <a:tcPr/>
                </a:tc>
                <a:tc>
                  <a:txBody>
                    <a:bodyPr/>
                    <a:lstStyle/>
                    <a:p>
                      <a:pPr lvl="0" indent="0" marL="0">
                        <a:buNone/>
                      </a:pPr>
                      <a:r>
                        <a:rPr/>
                        <a:t>Tax Rate</a:t>
                      </a:r>
                    </a:p>
                  </a:txBody>
                  <a:tcPr/>
                </a:tc>
                <a:tc>
                  <a:txBody>
                    <a:bodyPr/>
                    <a:lstStyle/>
                    <a:p>
                      <a:pPr lvl="0" indent="0" marL="0">
                        <a:buNone/>
                      </a:pPr>
                      <a:r>
                        <a:rPr/>
                        <a:t>Notes</a:t>
                      </a:r>
                    </a:p>
                  </a:txBody>
                  <a:tcPr/>
                </a:tc>
              </a:tr>
              <a:tr h="0">
                <a:tc>
                  <a:txBody>
                    <a:bodyPr/>
                    <a:lstStyle/>
                    <a:p>
                      <a:pPr lvl="0" indent="0" marL="0">
                        <a:buNone/>
                      </a:pPr>
                      <a:r>
                        <a:rPr/>
                        <a:t>50,000</a:t>
                      </a:r>
                    </a:p>
                  </a:txBody>
                </a:tc>
                <a:tc>
                  <a:txBody>
                    <a:bodyPr/>
                    <a:lstStyle/>
                    <a:p>
                      <a:pPr lvl="0" indent="0" marL="0">
                        <a:buNone/>
                      </a:pPr>
                      <a:r>
                        <a:rPr/>
                        <a:t>0</a:t>
                      </a:r>
                    </a:p>
                  </a:txBody>
                </a:tc>
                <a:tc>
                  <a:txBody>
                    <a:bodyPr/>
                    <a:lstStyle/>
                    <a:p>
                      <a:pPr lvl="0" indent="0" marL="0">
                        <a:buNone/>
                      </a:pPr>
                      <a:r>
                        <a:rPr/>
                        <a:t>Not taxed due to CGT discount</a:t>
                      </a:r>
                    </a:p>
                  </a:txBody>
                </a:tc>
              </a:tr>
              <a:tr h="0">
                <a:tc>
                  <a:txBody>
                    <a:bodyPr/>
                    <a:lstStyle/>
                    <a:p>
                      <a:pPr lvl="0" indent="0" marL="0">
                        <a:buNone/>
                      </a:pPr>
                      <a:r>
                        <a:rPr/>
                        <a:t>35,000</a:t>
                      </a:r>
                    </a:p>
                  </a:txBody>
                </a:tc>
                <a:tc>
                  <a:txBody>
                    <a:bodyPr/>
                    <a:lstStyle/>
                    <a:p>
                      <a:pPr lvl="0" indent="0" marL="0">
                        <a:buNone/>
                      </a:pPr>
                      <a:r>
                        <a:rPr/>
                        <a:t>30%</a:t>
                      </a:r>
                    </a:p>
                  </a:txBody>
                </a:tc>
                <a:tc>
                  <a:txBody>
                    <a:bodyPr/>
                    <a:lstStyle/>
                    <a:p>
                      <a:pPr lvl="0" indent="0" marL="0">
                        <a:buNone/>
                      </a:pPr>
                      <a:r>
                        <a:rPr/>
                        <a:t>The first 35,000 of the remaining 50,000 is taxed in the 45,001-135,000 bracket</a:t>
                      </a:r>
                    </a:p>
                  </a:txBody>
                </a:tc>
              </a:tr>
              <a:tr h="0">
                <a:tc>
                  <a:txBody>
                    <a:bodyPr/>
                    <a:lstStyle/>
                    <a:p>
                      <a:pPr lvl="0" indent="0" marL="0">
                        <a:buNone/>
                      </a:pPr>
                      <a:r>
                        <a:rPr/>
                        <a:t>15,000</a:t>
                      </a:r>
                    </a:p>
                  </a:txBody>
                </a:tc>
                <a:tc>
                  <a:txBody>
                    <a:bodyPr/>
                    <a:lstStyle/>
                    <a:p>
                      <a:pPr lvl="0" indent="0" marL="0">
                        <a:buNone/>
                      </a:pPr>
                      <a:r>
                        <a:rPr/>
                        <a:t>37%</a:t>
                      </a:r>
                    </a:p>
                  </a:txBody>
                </a:tc>
                <a:tc>
                  <a:txBody>
                    <a:bodyPr/>
                    <a:lstStyle/>
                    <a:p>
                      <a:pPr lvl="0" indent="0" marL="0">
                        <a:buNone/>
                      </a:pPr>
                      <a:r>
                        <a:rPr/>
                        <a:t>The remaining 15,00 is taxed in the 135,001-190,000 tax bracket</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Likely Impact</a:t>
            </a:r>
          </a:p>
        </p:txBody>
      </p:sp>
      <p:sp>
        <p:nvSpPr>
          <p:cNvPr id="3" name="Content Placeholder 2"/>
          <p:cNvSpPr>
            <a:spLocks noGrp="1"/>
          </p:cNvSpPr>
          <p:nvPr>
            <p:ph idx="1"/>
          </p:nvPr>
        </p:nvSpPr>
        <p:spPr/>
        <p:txBody>
          <a:bodyPr/>
          <a:lstStyle/>
          <a:p>
            <a:pPr lvl="0"/>
            <a:r>
              <a:rPr/>
              <a:t>The estimated impact on house prices and supply is minimal.</a:t>
            </a:r>
          </a:p>
          <a:p>
            <a:pPr lvl="0"/>
            <a:r>
              <a:rPr/>
              <a:t>First home buyers should face less competition when purchasing established homes.</a:t>
            </a:r>
          </a:p>
          <a:p>
            <a:pPr lvl="0"/>
            <a:r>
              <a:rPr/>
              <a:t>Changes only partially address the reasons why property investment was so popular.</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u4-economics-political-economy-hamish-gamble_files/figure-pptx/unnamed-chunk-1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Victoria?</a:t>
            </a:r>
          </a:p>
        </p:txBody>
      </p:sp>
      <p:pic>
        <p:nvPicPr>
          <p:cNvPr descr="du4-economics-political-economy-hamish-gamble_files/figure-pptx/unnamed-chunk-1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Nationalisation can help us to achieve our strategic goals.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 Anxiety</a:t>
            </a:r>
          </a:p>
        </p:txBody>
      </p:sp>
      <p:sp>
        <p:nvSpPr>
          <p:cNvPr id="3" name="Content Placeholder 2"/>
          <p:cNvSpPr>
            <a:spLocks noGrp="1"/>
          </p:cNvSpPr>
          <p:nvPr>
            <p:ph idx="1"/>
          </p:nvPr>
        </p:nvSpPr>
        <p:spPr/>
        <p:txBody>
          <a:bodyPr/>
          <a:lstStyle/>
          <a:p>
            <a:pPr lvl="0" indent="0" marL="0">
              <a:buNone/>
            </a:pPr>
            <a:r>
              <a:rPr/>
              <a:t>Before we move onto the next section, I wanted to stop for a discussion about how you relate to the economy.</a:t>
            </a:r>
          </a:p>
          <a:p>
            <a:pPr lvl="0" indent="0" marL="0">
              <a:buNone/>
            </a:pPr>
            <a:r>
              <a:rPr/>
              <a:t>How do you feel about the “big picture” economy?</a:t>
            </a:r>
          </a:p>
          <a:p>
            <a:pPr lvl="0" indent="0" marL="0">
              <a:buNone/>
            </a:pPr>
            <a:r>
              <a:rPr/>
              <a:t>How do you feel about your economic situation?</a:t>
            </a:r>
          </a:p>
          <a:p>
            <a:pPr lvl="0" indent="0" marL="0">
              <a:buNone/>
            </a:pPr>
            <a:r>
              <a:rPr/>
              <a:t>How do your neighbours, mates, colleagues feel?</a:t>
            </a:r>
          </a:p>
          <a:p>
            <a:pPr lvl="0" indent="0" marL="0">
              <a:buNone/>
            </a:pPr>
            <a:r>
              <a:rPr/>
              <a:t>If you’re feeling anxious, I don’t blame you.</a:t>
            </a:r>
          </a:p>
          <a:p>
            <a:pPr lvl="0" indent="0" marL="0">
              <a:buNone/>
            </a:pPr>
            <a:r>
              <a:rPr/>
              <a:t>The world has become increasingly competitive, and isolated. The rise of neo-liberalism, the decline in the power of labour, and the increased concentration of wealth have been disastrous.</a:t>
            </a:r>
          </a:p>
          <a:p>
            <a:pPr lvl="0" indent="0" marL="0">
              <a:buNone/>
            </a:pPr>
            <a:r>
              <a:rPr/>
              <a:t>Workers are more precarious than ever:</a:t>
            </a:r>
          </a:p>
          <a:p>
            <a:pPr lvl="0"/>
            <a:r>
              <a:rPr/>
              <a:t>gig economy, 0-hour contract, no protection, a safety net that isn’t safe at all.</a:t>
            </a:r>
          </a:p>
          <a:p>
            <a:pPr lvl="0" indent="0" marL="0">
              <a:buNone/>
            </a:pPr>
            <a:r>
              <a:rPr/>
              <a:t>Workers are forced to pursue their personal monetary interest, because you need to to survive. This competition, and precarity, are used to keep employees divided, and to try and minimise solidarity between workers. And it’s been happening since the 1980s. It is scary to put your head above the parapet and ask for better conditions because there is so much to lose.</a:t>
            </a:r>
          </a:p>
          <a:p>
            <a:pPr lvl="0" indent="0" marL="0">
              <a:buNone/>
            </a:pPr>
            <a:r>
              <a:rPr/>
              <a:t>Solidarity is more important than ever. We are powerful as a collective.</a:t>
            </a:r>
          </a:p>
          <a:p>
            <a:pPr lvl="0"/>
            <a:r>
              <a:rPr/>
              <a:t>How do you feel about the “big picture” economy?</a:t>
            </a:r>
          </a:p>
          <a:p>
            <a:pPr lvl="0"/>
            <a:r>
              <a:rPr/>
              <a:t>How do you feel about your economic situation?</a:t>
            </a:r>
          </a:p>
          <a:p>
            <a:pPr lvl="0"/>
            <a:r>
              <a:rPr/>
              <a:t>How do your mates, neighbours, or colleagues feel?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https://www.youtube-nocookie.com/watch?v=pQPv5oUfsbg</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Classical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a:t>
            </a:r>
          </a:p>
          <a:p>
            <a:pPr lvl="0"/>
            <a:r>
              <a:rPr/>
              <a:t>When thinking of economics, remember that it is ideological:</a:t>
            </a:r>
          </a:p>
          <a:p>
            <a:pPr lvl="1"/>
            <a:r>
              <a:rPr/>
              <a:t>What kind of growth do we want?</a:t>
            </a:r>
          </a:p>
          <a:p>
            <a:pPr lvl="1"/>
            <a:r>
              <a:rPr/>
              <a:t>Who should get the benefits of increased productivity?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https://www.youtube.com/watch?v=dsoEf8Yqe3I</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a:t>
            </a:r>
          </a:p>
        </p:txBody>
      </p:sp>
      <p:sp>
        <p:nvSpPr>
          <p:cNvPr id="3" name="Content Placeholder 2"/>
          <p:cNvSpPr>
            <a:spLocks noGrp="1"/>
          </p:cNvSpPr>
          <p:nvPr>
            <p:ph idx="1"/>
          </p:nvPr>
        </p:nvSpPr>
        <p:spPr/>
        <p:txBody>
          <a:bodyPr/>
          <a:lstStyle/>
          <a:p>
            <a:pPr lvl="0"/>
            <a:r>
              <a:rPr/>
              <a:t>Capitalists understand the importance of class solidarity.</a:t>
            </a:r>
          </a:p>
          <a:p>
            <a:pPr lvl="0"/>
            <a:r>
              <a:rPr/>
              <a:t>The boss is our class </a:t>
            </a:r>
            <a:r>
              <a:rPr b="1"/>
              <a:t>enemy</a:t>
            </a:r>
            <a:r>
              <a:rPr/>
              <a:t>.</a:t>
            </a:r>
          </a:p>
          <a:p>
            <a:pPr lvl="0"/>
            <a:r>
              <a:rPr/>
              <a:t>When capitalism faces crisis, the playbook is always the same.</a:t>
            </a:r>
          </a:p>
          <a:p>
            <a:pPr lvl="1"/>
            <a:r>
              <a:rPr/>
              <a:t>The working class must be divided or the position of the boss is at risk.</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Solidarity</a:t>
            </a:r>
          </a:p>
        </p:txBody>
      </p:sp>
      <p:sp>
        <p:nvSpPr>
          <p:cNvPr id="3" name="Content Placeholder 2"/>
          <p:cNvSpPr>
            <a:spLocks noGrp="1"/>
          </p:cNvSpPr>
          <p:nvPr>
            <p:ph idx="1"/>
          </p:nvPr>
        </p:nvSpPr>
        <p:spPr/>
        <p:txBody>
          <a:bodyPr/>
          <a:lstStyle/>
          <a:p>
            <a:pPr lvl="0"/>
            <a:r>
              <a:rPr/>
              <a:t>As workers we have far more in common with each other, than we have with the boss. Even:</a:t>
            </a:r>
          </a:p>
          <a:p>
            <a:pPr lvl="0"/>
            <a:r>
              <a:rPr/>
              <a:t>The children mining cobalt in the Congo</a:t>
            </a:r>
          </a:p>
          <a:p>
            <a:pPr lvl="0"/>
            <a:r>
              <a:rPr/>
              <a:t>The workers in a call center in India</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https://www.youtube-nocookie.com/watch?v=QPKKQnijnsM</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and Political Economy</dc:title>
  <dc:creator>Hamish Gamble</dc:creator>
  <cp:keywords/>
  <dcterms:created xsi:type="dcterms:W3CDTF">2026-07-28T00:46:52Z</dcterms:created>
  <dcterms:modified xsi:type="dcterms:W3CDTF">2026-07-28T00:46:52Z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rand-mode">
    <vt:lpwstr>dark</vt:lpwstr>
  </property>
  <property fmtid="{D5CDD505-2E9C-101B-9397-08002B2CF9AE}" pid="7" name="by-author">
    <vt:lpwstr/>
  </property>
  <property fmtid="{D5CDD505-2E9C-101B-9397-08002B2CF9AE}" pid="8" name="editor">
    <vt:lpwstr>visual</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Useful Economics</vt:lpwstr>
  </property>
  <property fmtid="{D5CDD505-2E9C-101B-9397-08002B2CF9AE}" pid="16" name="toc-title">
    <vt:lpwstr>Table of contents</vt:lpwstr>
  </property>
</Properties>
</file>